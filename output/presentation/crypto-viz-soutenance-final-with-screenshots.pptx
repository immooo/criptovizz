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08a2cfbba940c7" /><Relationship Type="http://schemas.openxmlformats.org/officeDocument/2006/relationships/extended-properties" Target="/docProps/app.xml" Id="Ra4d0918df9234bdb" /><Relationship Type="http://schemas.openxmlformats.org/officeDocument/2006/relationships/officeDocument" Target="/ppt/presentation.xml" Id="R7124868b93d34a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a9fe0c885f4295"/>
  </p:sldMasterIdLst>
  <p:notesMasterIdLst>
    <p:notesMasterId xmlns:r="http://schemas.openxmlformats.org/officeDocument/2006/relationships" r:id="Re948eda9ecfb4814"/>
  </p:notesMasterIdLst>
  <p:sldIdLst>
    <p:sldId xmlns:r="http://schemas.openxmlformats.org/officeDocument/2006/relationships" id="256" r:id="R0f7a9c8f582d47ce"/>
    <p:sldId xmlns:r="http://schemas.openxmlformats.org/officeDocument/2006/relationships" id="257" r:id="Rc222a04c39054c2d"/>
    <p:sldId xmlns:r="http://schemas.openxmlformats.org/officeDocument/2006/relationships" id="258" r:id="R954bdb319f8e44e9"/>
    <p:sldId xmlns:r="http://schemas.openxmlformats.org/officeDocument/2006/relationships" id="259" r:id="R43ee9870e27b48d7"/>
    <p:sldId xmlns:r="http://schemas.openxmlformats.org/officeDocument/2006/relationships" id="260" r:id="R5ab4d52c98544fed"/>
    <p:sldId xmlns:r="http://schemas.openxmlformats.org/officeDocument/2006/relationships" id="261" r:id="R53e2a206b12d4a1b"/>
    <p:sldId xmlns:r="http://schemas.openxmlformats.org/officeDocument/2006/relationships" id="262" r:id="Re796cb5eff164625"/>
    <p:sldId xmlns:r="http://schemas.openxmlformats.org/officeDocument/2006/relationships" id="263" r:id="R7fb4cf710735414b"/>
    <p:sldId xmlns:r="http://schemas.openxmlformats.org/officeDocument/2006/relationships" id="264" r:id="Rd38971ff10534780"/>
    <p:sldId xmlns:r="http://schemas.openxmlformats.org/officeDocument/2006/relationships" id="265" r:id="R67b199997d08460f"/>
    <p:sldId xmlns:r="http://schemas.openxmlformats.org/officeDocument/2006/relationships" id="266" r:id="R39a0451941194463"/>
    <p:sldId xmlns:r="http://schemas.openxmlformats.org/officeDocument/2006/relationships" id="267" r:id="R2a9dbfc3d2c04b1b"/>
    <p:sldId xmlns:r="http://schemas.openxmlformats.org/officeDocument/2006/relationships" id="268" r:id="R27e5c5572c294d94"/>
    <p:sldId xmlns:r="http://schemas.openxmlformats.org/officeDocument/2006/relationships" id="269" r:id="Rc62ed5d5427b4e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56ee76a9d74814" /><Relationship Type="http://schemas.openxmlformats.org/officeDocument/2006/relationships/slideMaster" Target="/ppt/slideMasters/slideMaster1.xml" Id="Rcaa9fe0c885f4295" /><Relationship Type="http://schemas.openxmlformats.org/officeDocument/2006/relationships/notesMaster" Target="/ppt/notesMasters/notesMaster1.xml" Id="Re948eda9ecfb4814" /><Relationship Type="http://schemas.openxmlformats.org/officeDocument/2006/relationships/presProps" Target="/ppt/presProps.xml" Id="Red7e9e1d96294366" /><Relationship Type="http://schemas.openxmlformats.org/officeDocument/2006/relationships/tableStyles" Target="/ppt/tableStyles.xml" Id="Rba4f457ca0c04333" /><Relationship Type="http://schemas.openxmlformats.org/officeDocument/2006/relationships/slide" Target="/ppt/slides/slide1.xml" Id="R0f7a9c8f582d47ce" /><Relationship Type="http://schemas.openxmlformats.org/officeDocument/2006/relationships/slide" Target="/ppt/slides/slide2.xml" Id="Rc222a04c39054c2d" /><Relationship Type="http://schemas.openxmlformats.org/officeDocument/2006/relationships/slide" Target="/ppt/slides/slide3.xml" Id="R954bdb319f8e44e9" /><Relationship Type="http://schemas.openxmlformats.org/officeDocument/2006/relationships/slide" Target="/ppt/slides/slide4.xml" Id="R43ee9870e27b48d7" /><Relationship Type="http://schemas.openxmlformats.org/officeDocument/2006/relationships/slide" Target="/ppt/slides/slide5.xml" Id="R5ab4d52c98544fed" /><Relationship Type="http://schemas.openxmlformats.org/officeDocument/2006/relationships/slide" Target="/ppt/slides/slide6.xml" Id="R53e2a206b12d4a1b" /><Relationship Type="http://schemas.openxmlformats.org/officeDocument/2006/relationships/slide" Target="/ppt/slides/slide7.xml" Id="Re796cb5eff164625" /><Relationship Type="http://schemas.openxmlformats.org/officeDocument/2006/relationships/slide" Target="/ppt/slides/slide8.xml" Id="R7fb4cf710735414b" /><Relationship Type="http://schemas.openxmlformats.org/officeDocument/2006/relationships/slide" Target="/ppt/slides/slide9.xml" Id="Rd38971ff10534780" /><Relationship Type="http://schemas.openxmlformats.org/officeDocument/2006/relationships/slide" Target="/ppt/slides/slide10.xml" Id="R67b199997d08460f" /><Relationship Type="http://schemas.openxmlformats.org/officeDocument/2006/relationships/slide" Target="/ppt/slides/slide11.xml" Id="R39a0451941194463" /><Relationship Type="http://schemas.openxmlformats.org/officeDocument/2006/relationships/slide" Target="/ppt/slides/slide12.xml" Id="R2a9dbfc3d2c04b1b" /><Relationship Type="http://schemas.openxmlformats.org/officeDocument/2006/relationships/slide" Target="/ppt/slides/slide13.xml" Id="R27e5c5572c294d94" /><Relationship Type="http://schemas.openxmlformats.org/officeDocument/2006/relationships/slide" Target="/ppt/slides/slide14.xml" Id="Rc62ed5d5427b4e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a0068c42f946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eebd70cbc34c0a" /><Relationship Type="http://schemas.openxmlformats.org/officeDocument/2006/relationships/notesMaster" Target="/ppt/notesMasters/notesMaster1.xml" Id="R33fa515550854c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f4e86742f841df" /><Relationship Type="http://schemas.openxmlformats.org/officeDocument/2006/relationships/notesMaster" Target="/ppt/notesMasters/notesMaster1.xml" Id="Rdc798dc4ecf14c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1f4530d0754d3c" /><Relationship Type="http://schemas.openxmlformats.org/officeDocument/2006/relationships/notesMaster" Target="/ppt/notesMasters/notesMaster1.xml" Id="Rea5d27bdd6ea44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e9dd8363cf4a33" /><Relationship Type="http://schemas.openxmlformats.org/officeDocument/2006/relationships/notesMaster" Target="/ppt/notesMasters/notesMaster1.xml" Id="R422aecdfa6c346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4db5733e4a45dc" /><Relationship Type="http://schemas.openxmlformats.org/officeDocument/2006/relationships/notesMaster" Target="/ppt/notesMasters/notesMaster1.xml" Id="Re35f65696dc84b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fcc42aa6bd491e" /><Relationship Type="http://schemas.openxmlformats.org/officeDocument/2006/relationships/notesMaster" Target="/ppt/notesMasters/notesMaster1.xml" Id="Rbafdbd0ca8b342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828951a3a947f3" /><Relationship Type="http://schemas.openxmlformats.org/officeDocument/2006/relationships/notesMaster" Target="/ppt/notesMasters/notesMaster1.xml" Id="R2f3437832fd24c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291bb3c0c042a2" /><Relationship Type="http://schemas.openxmlformats.org/officeDocument/2006/relationships/notesMaster" Target="/ppt/notesMasters/notesMaster1.xml" Id="R25f562b2e27048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ae2bd61b2844d9" /><Relationship Type="http://schemas.openxmlformats.org/officeDocument/2006/relationships/notesMaster" Target="/ppt/notesMasters/notesMaster1.xml" Id="R1aaeb4df0b404b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83e4d01c4d45f8" /><Relationship Type="http://schemas.openxmlformats.org/officeDocument/2006/relationships/notesMaster" Target="/ppt/notesMasters/notesMaster1.xml" Id="R6d9a68abd0fc43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d13a708ec94f09" /><Relationship Type="http://schemas.openxmlformats.org/officeDocument/2006/relationships/notesMaster" Target="/ppt/notesMasters/notesMaster1.xml" Id="R75abee44992547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646051f50e4619" /><Relationship Type="http://schemas.openxmlformats.org/officeDocument/2006/relationships/notesMaster" Target="/ppt/notesMasters/notesMaster1.xml" Id="Rb5b5b0916f1145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899c600edf445f" /><Relationship Type="http://schemas.openxmlformats.org/officeDocument/2006/relationships/notesMaster" Target="/ppt/notesMasters/notesMaster1.xml" Id="Rfecccc3805e047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b2a4c6ebb942f9" /><Relationship Type="http://schemas.openxmlformats.org/officeDocument/2006/relationships/notesMaster" Target="/ppt/notesMasters/notesMaster1.xml" Id="R99f77cdb751743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0 min 40</a:t>
            </a:r>
          </a:p>
          <a:p xmlns:a="http://schemas.openxmlformats.org/drawingml/2006/main">
            <a:r>
              <a:t>Idée principale : Présenter le projet et sa finalité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Nommer la pipeline continue</a:t>
            </a:r>
          </a:p>
          <a:p xmlns:a="http://schemas.openxmlformats.org/drawingml/2006/main">
            <a:r>
              <a:t>- Annoncer la transformation d'actualités en indicateurs temporels</a:t>
            </a:r>
          </a:p>
          <a:p xmlns:a="http://schemas.openxmlformats.org/drawingml/2006/main">
            <a:r>
              <a:t>- Présenter une architecture volontairement simple et extensible</a:t>
            </a:r>
          </a:p>
          <a:p xmlns:a="http://schemas.openxmlformats.org/drawingml/2006/main">
            <a:r>
              <a:t>Termes précis : pipeline, continu, analytics</a:t>
            </a:r>
          </a:p>
          <a:p xmlns:a="http://schemas.openxmlformats.org/drawingml/2006/main">
            <a:r>
              <a:t>Erreur à éviter : Dire que le projet traite déjà des volumes massifs</a:t>
            </a:r>
          </a:p>
          <a:p xmlns:a="http://schemas.openxmlformats.org/drawingml/2006/main">
            <a:r>
              <a:t>Transition : Partons du problème auquel répond cette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20</a:t>
            </a:r>
          </a:p>
          <a:p xmlns:a="http://schemas.openxmlformats.org/drawingml/2006/main">
            <a:r>
              <a:t>Idée principale : Expliquer pourquoi une pipeline continue est utile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Les sources publient sans rythme fixe</a:t>
            </a:r>
          </a:p>
          <a:p xmlns:a="http://schemas.openxmlformats.org/drawingml/2006/main">
            <a:r>
              <a:t>- Le traitement doit découpler arrivée et calcul</a:t>
            </a:r>
          </a:p>
          <a:p xmlns:a="http://schemas.openxmlformats.org/drawingml/2006/main">
            <a:r>
              <a:t>- La visualisation doit conserver la dimension temporelle</a:t>
            </a:r>
          </a:p>
          <a:p xmlns:a="http://schemas.openxmlformats.org/drawingml/2006/main">
            <a:r>
              <a:t>Termes précis : flux, découplage, dimension temporelle</a:t>
            </a:r>
          </a:p>
          <a:p xmlns:a="http://schemas.openxmlformats.org/drawingml/2006/main">
            <a:r>
              <a:t>Erreur à éviter : Présenter RabbitMQ avant d'avoir posé le besoin</a:t>
            </a:r>
          </a:p>
          <a:p xmlns:a="http://schemas.openxmlformats.org/drawingml/2006/main">
            <a:r>
              <a:t>Transition : Ces contraintes deviennent trois objectifs vérifiables.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10</a:t>
            </a:r>
          </a:p>
          <a:p xmlns:a="http://schemas.openxmlformats.org/drawingml/2006/main">
            <a:r>
              <a:t>Idée principale : Relier directement le sujet aux composants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Le scraper répond à la collecte continue</a:t>
            </a:r>
          </a:p>
          <a:p xmlns:a="http://schemas.openxmlformats.org/drawingml/2006/main">
            <a:r>
              <a:t>- Analytics répond au traitement continu</a:t>
            </a:r>
          </a:p>
          <a:p xmlns:a="http://schemas.openxmlformats.org/drawingml/2006/main">
            <a:r>
              <a:t>- Grafana répond à la visualisation dynamique et temporelle</a:t>
            </a:r>
          </a:p>
          <a:p xmlns:a="http://schemas.openxmlformats.org/drawingml/2006/main">
            <a:r>
              <a:t>Termes précis : scraper, analytics, viewer</a:t>
            </a:r>
          </a:p>
          <a:p xmlns:a="http://schemas.openxmlformats.org/drawingml/2006/main">
            <a:r>
              <a:t>Erreur à éviter : Ajouter des objectifs absents du sujet</a:t>
            </a:r>
          </a:p>
          <a:p xmlns:a="http://schemas.openxmlformats.org/drawingml/2006/main">
            <a:r>
              <a:t>Transition : L'architecture suivante matérialise ces responsabilités.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2 min</a:t>
            </a:r>
          </a:p>
          <a:p xmlns:a="http://schemas.openxmlformats.org/drawingml/2006/main">
            <a:r>
              <a:t>Idée principale : Faire mémoriser la chaîne complète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Suivre un article de gauche à droite</a:t>
            </a:r>
          </a:p>
          <a:p xmlns:a="http://schemas.openxmlformats.org/drawingml/2006/main">
            <a:r>
              <a:t>- Distinguer les deux passages RabbitMQ</a:t>
            </a:r>
          </a:p>
          <a:p xmlns:a="http://schemas.openxmlformats.org/drawingml/2006/main">
            <a:r>
              <a:t>- Préciser que Storage se situe logiquement entre Analytics et MySQL</a:t>
            </a:r>
          </a:p>
          <a:p xmlns:a="http://schemas.openxmlformats.org/drawingml/2006/main">
            <a:r>
              <a:t>- Expliquer que Grafana lit MySQL sans consommer la queue</a:t>
            </a:r>
          </a:p>
          <a:p xmlns:a="http://schemas.openxmlformats.org/drawingml/2006/main">
            <a:r>
              <a:t>Termes précis : événement, queue, service, requête</a:t>
            </a:r>
          </a:p>
          <a:p xmlns:a="http://schemas.openxmlformats.org/drawingml/2006/main">
            <a:r>
              <a:t>Erreur à éviter : Oublier le Storage Worker</a:t>
            </a:r>
          </a:p>
          <a:p xmlns:a="http://schemas.openxmlformats.org/drawingml/2006/main">
            <a:r>
              <a:t>Transition : Commençons par la création du premier événement.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30</a:t>
            </a:r>
          </a:p>
          <a:p xmlns:a="http://schemas.openxmlformats.org/drawingml/2006/main">
            <a:r>
              <a:t>Idée principale : Expliquer la normalisation et la première production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Le scraper lit les deux URL configurables</a:t>
            </a:r>
          </a:p>
          <a:p xmlns:a="http://schemas.openxmlformats.org/drawingml/2006/main">
            <a:r>
              <a:t>- Il rejette les entrées sans URL ou titre</a:t>
            </a:r>
          </a:p>
          <a:p xmlns:a="http://schemas.openxmlformats.org/drawingml/2006/main">
            <a:r>
              <a:t>- Il génère un identifiant déterministe et publie un JSON persistant</a:t>
            </a:r>
          </a:p>
          <a:p xmlns:a="http://schemas.openxmlformats.org/drawingml/2006/main">
            <a:r>
              <a:t>Termes précis : polling, normalisation, SHA-256, JSON</a:t>
            </a:r>
          </a:p>
          <a:p xmlns:a="http://schemas.openxmlformats.org/drawingml/2006/main">
            <a:r>
              <a:t>Erreur à éviter : Confondre collecte et analyse</a:t>
            </a:r>
          </a:p>
          <a:p xmlns:a="http://schemas.openxmlformats.org/drawingml/2006/main">
            <a:r>
              <a:t>Transition : La queue permet ensuite d'absorber les écarts de vitesse.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2 min</a:t>
            </a:r>
          </a:p>
          <a:p xmlns:a="http://schemas.openxmlformats.org/drawingml/2006/main">
            <a:r>
              <a:t>Idée principale : Expliquer livraison, reprise et back-pressure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L'exchange direct par défaut route vers la queue nommée</a:t>
            </a:r>
          </a:p>
          <a:p xmlns:a="http://schemas.openxmlformats.org/drawingml/2006/main">
            <a:r>
              <a:t>- L'ACK arrive seulement après traitement réussi</a:t>
            </a:r>
          </a:p>
          <a:p xmlns:a="http://schemas.openxmlformats.org/drawingml/2006/main">
            <a:r>
              <a:t>- Une redélivraison reste possible, donc Storage doit être idempotent</a:t>
            </a:r>
          </a:p>
          <a:p xmlns:a="http://schemas.openxmlformats.org/drawingml/2006/main">
            <a:r>
              <a:t>- Prefetch borne le travail non confirmé</a:t>
            </a:r>
          </a:p>
          <a:p xmlns:a="http://schemas.openxmlformats.org/drawingml/2006/main">
            <a:r>
              <a:t>Termes précis : durable, persistent, ACK, NACK, prefetch</a:t>
            </a:r>
          </a:p>
          <a:p xmlns:a="http://schemas.openxmlformats.org/drawingml/2006/main">
            <a:r>
              <a:t>Erreur à éviter : Promettre exactement une fois</a:t>
            </a:r>
          </a:p>
          <a:p xmlns:a="http://schemas.openxmlformats.org/drawingml/2006/main">
            <a:r>
              <a:t>Transition : Le consumer suivant transforme l'article brut.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40</a:t>
            </a:r>
          </a:p>
          <a:p xmlns:a="http://schemas.openxmlformats.org/drawingml/2006/main">
            <a:r>
              <a:t>Idée principale : Décrire l'enrichissement sans sur-vendre le NLP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Analytics consomme puis republie</a:t>
            </a:r>
          </a:p>
          <a:p xmlns:a="http://schemas.openxmlformats.org/drawingml/2006/main">
            <a:r>
              <a:t>- Le lexique fournit un score déterministe</a:t>
            </a:r>
          </a:p>
          <a:p xmlns:a="http://schemas.openxmlformats.org/drawingml/2006/main">
            <a:r>
              <a:t>- Les thèmes viennent de mots-clés</a:t>
            </a:r>
          </a:p>
          <a:p xmlns:a="http://schemas.openxmlformats.org/drawingml/2006/main">
            <a:r>
              <a:t>- Une erreur valide provoque un reject, une erreur transitoire une requeue</a:t>
            </a:r>
          </a:p>
          <a:p xmlns:a="http://schemas.openxmlformats.org/drawingml/2006/main">
            <a:r>
              <a:t>Termes précis : enrichissement, score lexical, consumer-producer</a:t>
            </a:r>
          </a:p>
          <a:p xmlns:a="http://schemas.openxmlformats.org/drawingml/2006/main">
            <a:r>
              <a:t>Erreur à éviter : Parler de modèle d'intelligence artificielle entraîné</a:t>
            </a:r>
          </a:p>
          <a:p xmlns:a="http://schemas.openxmlformats.org/drawingml/2006/main">
            <a:r>
              <a:t>Transition : Les événements enrichis doivent maintenant être stockés sans doublon.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50</a:t>
            </a:r>
          </a:p>
          <a:p xmlns:a="http://schemas.openxmlformats.org/drawingml/2006/main">
            <a:r>
              <a:t>Idée principale : Expliquer pourquoi la redélivraison reste sûre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La clé primaire reprend le SHA-256 de l'URL</a:t>
            </a:r>
          </a:p>
          <a:p xmlns:a="http://schemas.openxmlformats.org/drawingml/2006/main">
            <a:r>
              <a:t>- INSERT IGNORE détecte un article déjà stocké</a:t>
            </a:r>
          </a:p>
          <a:p xmlns:a="http://schemas.openxmlformats.org/drawingml/2006/main">
            <a:r>
              <a:t>- Les agrégats ne progressent qu'après une nouvelle insertion</a:t>
            </a:r>
          </a:p>
          <a:p xmlns:a="http://schemas.openxmlformats.org/drawingml/2006/main">
            <a:r>
              <a:t>- Les indexes temporels servent les requêtes Grafana</a:t>
            </a:r>
          </a:p>
          <a:p xmlns:a="http://schemas.openxmlformats.org/drawingml/2006/main">
            <a:r>
              <a:t>Termes précis : transaction, clé primaire, index, incrémental, idempotence</a:t>
            </a:r>
          </a:p>
          <a:p xmlns:a="http://schemas.openxmlformats.org/drawingml/2006/main">
            <a:r>
              <a:t>Erreur à éviter : Dire que SHA-256 empêche RabbitMQ de redélivrer</a:t>
            </a:r>
          </a:p>
          <a:p xmlns:a="http://schemas.openxmlformats.org/drawingml/2006/main">
            <a:r>
              <a:t>Transition : Grafana peut alors lire des indicateurs déjà préparés.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30</a:t>
            </a:r>
          </a:p>
          <a:p xmlns:a="http://schemas.openxmlformats.org/drawingml/2006/main">
            <a:r>
              <a:t>Idée principale : Montrer comment Grafana sert la décision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Le datasource MySQL et le dashboard sont provisionnés depuis Git</a:t>
            </a:r>
          </a:p>
          <a:p xmlns:a="http://schemas.openxmlformats.org/drawingml/2006/main">
            <a:r>
              <a:t>- L'utilisateur change période et thème</a:t>
            </a:r>
          </a:p>
          <a:p xmlns:a="http://schemas.openxmlformats.org/drawingml/2006/main">
            <a:r>
              <a:t>- Les deux vues d'observabilité montrent débit et latence</a:t>
            </a:r>
          </a:p>
          <a:p xmlns:a="http://schemas.openxmlformats.org/drawingml/2006/main">
            <a:r>
              <a:t>- Grafana ne bloque pas l'ingestion s'il tombe</a:t>
            </a:r>
          </a:p>
          <a:p xmlns:a="http://schemas.openxmlformats.org/drawingml/2006/main">
            <a:r>
              <a:t>Termes précis : provisioning, time filter, refresh, observabilité</a:t>
            </a:r>
          </a:p>
          <a:p xmlns:a="http://schemas.openxmlformats.org/drawingml/2006/main">
            <a:r>
              <a:t>Erreur à éviter : Confondre temps réel strict et refresh de 30 secondes</a:t>
            </a:r>
          </a:p>
          <a:p xmlns:a="http://schemas.openxmlformats.org/drawingml/2006/main">
            <a:r>
              <a:t>Transition : Ces choix permettent une orientation Big Data mesurée.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2 min</a:t>
            </a:r>
          </a:p>
          <a:p xmlns:a="http://schemas.openxmlformats.org/drawingml/2006/main">
            <a:r>
              <a:t>Idée principale : Défendre une orientation Big Data crédible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Relier chaque notion à un mécanisme présent dans le code</a:t>
            </a:r>
          </a:p>
          <a:p xmlns:a="http://schemas.openxmlformats.org/drawingml/2006/main">
            <a:r>
              <a:t>- Reconnaître que le volume actuel reste faible</a:t>
            </a:r>
          </a:p>
          <a:p xmlns:a="http://schemas.openxmlformats.org/drawingml/2006/main">
            <a:r>
              <a:t>- Présenter la montée en charge comme une capacité architecturale</a:t>
            </a:r>
          </a:p>
          <a:p xmlns:a="http://schemas.openxmlformats.org/drawingml/2006/main">
            <a:r>
              <a:t>- Éviter de réduire Big Data au seul volume</a:t>
            </a:r>
          </a:p>
          <a:p xmlns:a="http://schemas.openxmlformats.org/drawingml/2006/main">
            <a:r>
              <a:t>Termes précis : velocity, variety, veracity, streaming, scalabilité</a:t>
            </a:r>
          </a:p>
          <a:p xmlns:a="http://schemas.openxmlformats.org/drawingml/2006/main">
            <a:r>
              <a:t>Erreur à éviter : Prétendre que deux RSS représentent un volume massif</a:t>
            </a:r>
          </a:p>
          <a:p xmlns:a="http://schemas.openxmlformats.org/drawingml/2006/main">
            <a:r>
              <a:t>Transition : Une architecture extensible doit aussi reconnaître ses pannes et ses limites.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40</a:t>
            </a:r>
          </a:p>
          <a:p xmlns:a="http://schemas.openxmlformats.org/drawingml/2006/main">
            <a:r>
              <a:t>Idée principale : Montrer la résilience présente et ses frontières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Les workers retentent les connexions</a:t>
            </a:r>
          </a:p>
          <a:p xmlns:a="http://schemas.openxmlformats.org/drawingml/2006/main">
            <a:r>
              <a:t>- Les volumes conservent les données au redémarrage</a:t>
            </a:r>
          </a:p>
          <a:p xmlns:a="http://schemas.openxmlformats.org/drawingml/2006/main">
            <a:r>
              <a:t>- RabbitMQ et MySQL restent des SPOF locaux</a:t>
            </a:r>
          </a:p>
          <a:p xmlns:a="http://schemas.openxmlformats.org/drawingml/2006/main">
            <a:r>
              <a:t>- Une DLQ éviterait les boucles infinies sur certains messages</a:t>
            </a:r>
          </a:p>
          <a:p xmlns:a="http://schemas.openxmlformats.org/drawingml/2006/main">
            <a:r>
              <a:t>Termes précis : résilience, healthcheck, SPOF, DLQ</a:t>
            </a:r>
          </a:p>
          <a:p xmlns:a="http://schemas.openxmlformats.org/drawingml/2006/main">
            <a:r>
              <a:t>Erreur à éviter : Assimiler restart policy à haute disponibilité</a:t>
            </a:r>
          </a:p>
          <a:p xmlns:a="http://schemas.openxmlformats.org/drawingml/2006/main">
            <a:r>
              <a:t>Transition : La démonstration suivante donne des preuves observables.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3 min 30</a:t>
            </a:r>
          </a:p>
          <a:p xmlns:a="http://schemas.openxmlformats.org/drawingml/2006/main">
            <a:r>
              <a:t>Idée principale : Prouver le fonctionnement sans dépendre entièrement du live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Montrer six conteneurs actifs</a:t>
            </a:r>
          </a:p>
          <a:p xmlns:a="http://schemas.openxmlformats.org/drawingml/2006/main">
            <a:r>
              <a:t>- Ouvrir RabbitMQ rapidement</a:t>
            </a:r>
          </a:p>
          <a:p xmlns:a="http://schemas.openxmlformats.org/drawingml/2006/main">
            <a:r>
              <a:t>- Commenter les sources et la table pipeline_hourly</a:t>
            </a:r>
          </a:p>
          <a:p xmlns:a="http://schemas.openxmlformats.org/drawingml/2006/main">
            <a:r>
              <a:t>- Dans Grafana, modifier la période et lire débit puis latence</a:t>
            </a:r>
          </a:p>
          <a:p xmlns:a="http://schemas.openxmlformats.org/drawingml/2006/main">
            <a:r>
              <a:t>Termes précis : consumer count, throughput, latency</a:t>
            </a:r>
          </a:p>
          <a:p xmlns:a="http://schemas.openxmlformats.org/drawingml/2006/main">
            <a:r>
              <a:t>Erreur à éviter : Attendre une nouvelle actualité devant le jury</a:t>
            </a:r>
          </a:p>
          <a:p xmlns:a="http://schemas.openxmlformats.org/drawingml/2006/main">
            <a:r>
              <a:t>Transition : Les résultats valident le socle et indiquent les prochaines priorités.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1 min 20</a:t>
            </a:r>
          </a:p>
          <a:p xmlns:a="http://schemas.openxmlformats.org/drawingml/2006/main">
            <a:r>
              <a:t>Idée principale : Présenter des améliorations déclenchées par des besoins mesurés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Prioriser DLQ et tests de charge</a:t>
            </a:r>
          </a:p>
          <a:p xmlns:a="http://schemas.openxmlformats.org/drawingml/2006/main">
            <a:r>
              <a:t>- Scaler d'abord les workers existants</a:t>
            </a:r>
          </a:p>
          <a:p xmlns:a="http://schemas.openxmlformats.org/drawingml/2006/main">
            <a:r>
              <a:t>- Choisir Kafka seulement si débit, réplication ou replay le justifient</a:t>
            </a:r>
          </a:p>
          <a:p xmlns:a="http://schemas.openxmlformats.org/drawingml/2006/main">
            <a:r>
              <a:t>- Évaluer un stockage distribué après mesure</a:t>
            </a:r>
          </a:p>
          <a:p xmlns:a="http://schemas.openxmlformats.org/drawingml/2006/main">
            <a:r>
              <a:t>Termes précis : DLQ, partitionnement, replay, orchestration</a:t>
            </a:r>
          </a:p>
          <a:p xmlns:a="http://schemas.openxmlformats.org/drawingml/2006/main">
            <a:r>
              <a:t>Erreur à éviter : Proposer Kafka comme amélioration automatique</a:t>
            </a:r>
          </a:p>
          <a:p xmlns:a="http://schemas.openxmlformats.org/drawingml/2006/main">
            <a:r>
              <a:t>Transition : Ces évolutions partent d'un socle déjà conforme au besoin.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cible : 0 min 50</a:t>
            </a:r>
          </a:p>
          <a:p xmlns:a="http://schemas.openxmlformats.org/drawingml/2006/main">
            <a:r>
              <a:t>Idée principale : Refermer sur la valeur et la crédibilité technique</a:t>
            </a:r>
          </a:p>
          <a:p xmlns:a="http://schemas.openxmlformats.org/drawingml/2006/main">
            <a:r>
              <a:t>À dire :</a:t>
            </a:r>
          </a:p>
          <a:p xmlns:a="http://schemas.openxmlformats.org/drawingml/2006/main">
            <a:r>
              <a:t>- Rappeler collecte, analyse et visualisation</a:t>
            </a:r>
          </a:p>
          <a:p xmlns:a="http://schemas.openxmlformats.org/drawingml/2006/main">
            <a:r>
              <a:t>- Souligner découplage, idempotence et observabilité</a:t>
            </a:r>
          </a:p>
          <a:p xmlns:a="http://schemas.openxmlformats.org/drawingml/2006/main">
            <a:r>
              <a:t>- Reconnaître le petit volume tout en défendant l'extensibilité</a:t>
            </a:r>
          </a:p>
          <a:p xmlns:a="http://schemas.openxmlformats.org/drawingml/2006/main">
            <a:r>
              <a:t>Termes précis : pipeline, idempotence, observabilité</a:t>
            </a:r>
          </a:p>
          <a:p xmlns:a="http://schemas.openxmlformats.org/drawingml/2006/main">
            <a:r>
              <a:t>Erreur à éviter : Ajouter de nouveaux détails techniques en conclusion</a:t>
            </a:r>
          </a:p>
          <a:p xmlns:a="http://schemas.openxmlformats.org/drawingml/2006/main">
            <a:r>
              <a:t>Transition : Je suis prêt à répondre à vos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8e0f3e3fae46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fd44c96a5b4efc" /><Relationship Type="http://schemas.openxmlformats.org/officeDocument/2006/relationships/slideLayout" Target="/ppt/slideLayouts/slideLayout1.xml" Id="Ra1abfb899a8c4a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abfb899a8c4a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bd2586c5f4f2d" /><Relationship Type="http://schemas.openxmlformats.org/officeDocument/2006/relationships/notesSlide" Target="/ppt/notesSlides/notesSlide1.xml" Id="R6f33f0e979304f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28db6693a4f8f" /><Relationship Type="http://schemas.openxmlformats.org/officeDocument/2006/relationships/notesSlide" Target="/ppt/notesSlides/notesSlide2.xml" Id="Refad49d2ba614a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8d092428f4011" /><Relationship Type="http://schemas.openxmlformats.org/officeDocument/2006/relationships/notesSlide" Target="/ppt/notesSlides/notesSlide3.xml" Id="R766ea0b35f1f48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ecc275a944080" /><Relationship Type="http://schemas.openxmlformats.org/officeDocument/2006/relationships/notesSlide" Target="/ppt/notesSlides/notesSlide4.xml" Id="Re6e423fdead648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fde643d0a42be" /><Relationship Type="http://schemas.openxmlformats.org/officeDocument/2006/relationships/notesSlide" Target="/ppt/notesSlides/notesSlide5.xml" Id="R3fe19263a25e40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8b2d8a40f41ec" /><Relationship Type="http://schemas.openxmlformats.org/officeDocument/2006/relationships/image" Target="/ppt/media/image.png" Id="Rbd0fb72a35834b7a" /><Relationship Type="http://schemas.openxmlformats.org/officeDocument/2006/relationships/notesSlide" Target="/ppt/notesSlides/notesSlide6.xml" Id="Rcbe755686fa14f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65d07d9a64142" /><Relationship Type="http://schemas.openxmlformats.org/officeDocument/2006/relationships/notesSlide" Target="/ppt/notesSlides/notesSlide7.xml" Id="R37c129547d7140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3d48fdb92463d" /><Relationship Type="http://schemas.openxmlformats.org/officeDocument/2006/relationships/notesSlide" Target="/ppt/notesSlides/notesSlide8.xml" Id="R9922807d287e48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d98c14ae14a5e" /><Relationship Type="http://schemas.openxmlformats.org/officeDocument/2006/relationships/notesSlide" Target="/ppt/notesSlides/notesSlide9.xml" Id="R1cbafea95da949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d8cb3bb194b32" /><Relationship Type="http://schemas.openxmlformats.org/officeDocument/2006/relationships/notesSlide" Target="/ppt/notesSlides/notesSlide10.xml" Id="R3b6624d0bf2c4c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3daad78b84bdc" /><Relationship Type="http://schemas.openxmlformats.org/officeDocument/2006/relationships/notesSlide" Target="/ppt/notesSlides/notesSlide11.xml" Id="R6dada739d2f04a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4c6330aea4342" /><Relationship Type="http://schemas.openxmlformats.org/officeDocument/2006/relationships/image" Target="/ppt/media/image2.png" Id="R4f12c83a6faa4a30" /><Relationship Type="http://schemas.openxmlformats.org/officeDocument/2006/relationships/notesSlide" Target="/ppt/notesSlides/notesSlide12.xml" Id="Rf37ce5a48cb645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6234fa6c34c84" /><Relationship Type="http://schemas.openxmlformats.org/officeDocument/2006/relationships/notesSlide" Target="/ppt/notesSlides/notesSlide13.xml" Id="Radc7cd98b9c244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db9f6a5834eb6" /><Relationship Type="http://schemas.openxmlformats.org/officeDocument/2006/relationships/notesSlide" Target="/ppt/notesSlides/notesSlide14.xml" Id="R857319743f2747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1D2C8-C699-4148-A8AA-84C7B2B6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PROJET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A760D-4456-4116-88D2-A58A115C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Crypto Viz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06CEB-0BBF-440F-82E6-221A4CC3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ED3C6"/>
                </a:solidFill>
                <a:latin typeface="Arial"/>
                <a:ea typeface="Arial"/>
                <a:cs typeface="Arial"/>
              </a:rPr>
              <a:t>Pipeline continu d'actualités crypto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774A2-E472-4086-8AD5-9735301D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Collecter, analyser et visualiser dans le temps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C5F9D-3E5A-43B7-877D-FD39509F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438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D74BE-CCD3-417F-B68F-CEA3C05E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Soutenance · septembre 2026</a:t>
            </a:r>
          </a:p>
        </p:txBody>
      </p:sp>
    </p:spTree>
    <p:extLst>
      <p:ext uri="{BB962C8B-B14F-4D97-AF65-F5344CB8AC3E}">
        <p14:creationId xmlns:p14="http://schemas.microsoft.com/office/powerpoint/2010/main" val="11837700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10164-8032-4C9F-8C07-5BCCF2DC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Le problème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1FD03-C40A-4B9B-AD9B-5F27E206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1F221-872F-4B03-B0F0-AFB283CB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1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Un flux d'actualités change en permanence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55A59-8328-428A-93DA-F597673D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Une consultation manuelle arrive trop tard et ne permet pas de suivre une tendance.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10CD1-2096-45B8-8359-145E3080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81125"/>
            <a:ext cx="4476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E203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BF14D-0E39-4C17-BD59-50004CA3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ENTRÉE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9ADAB-894B-4FA8-9313-837B929F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Articles dispersés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E4BFC-388A-4D26-9152-D201D1BF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BESOIN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CD317-A058-4428-9949-BD784729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Indicateurs actualisés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5D189-4E9F-4025-9DE9-D6D3742A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52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6B75"/>
                </a:solidFill>
                <a:latin typeface="Arial"/>
                <a:ea typeface="Arial"/>
                <a:cs typeface="Arial"/>
              </a:rPr>
              <a:t>CONTRAINTE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C5D56-F4CD-44D1-931D-4E414FB9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Données et pannes continues</a:t>
            </a:r>
          </a:p>
        </p:txBody>
      </p:sp>
    </p:spTree>
    <p:extLst>
      <p:ext uri="{BB962C8B-B14F-4D97-AF65-F5344CB8AC3E}">
        <p14:creationId xmlns:p14="http://schemas.microsoft.com/office/powerpoint/2010/main" val="5732379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FDF23-DBC1-4E7C-BB4D-57BD4A22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Trois objectifs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ED7B6-A059-442D-AB97-D3083732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25433-A9BB-4B67-BE21-0757B104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93645-2108-4167-9581-73B154FD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28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Collecte continue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12119-301A-4F9A-BCFD-4D948813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859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Deux flux RSS normalisés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9E2C1-5AB5-4691-B981-2FF0BED3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46917-B891-4F27-BC8C-6EC3B3F4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85B2B-EC5C-47FD-B680-AF8DD94A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09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Analyse en ligne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A7042-BCC2-4F57-8C8E-D15E447C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670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Sentiment, thèmes, agrégats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94A3E-1DCC-46A9-B132-E2349DD9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7CA19-6589-4D28-B823-9A8EEE2F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38B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38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7B041-2F20-409E-98D4-DDDE2824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Vue dynamique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5AB38-34D5-4F63-9B8E-CB84D760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482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Filtres temporels, refresh 30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D0E27-CF57-4458-AEED-E0FB0B1B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686295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91E9D6-034C-4B9D-8618-5961EF05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Architecture générale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B38C7-718C-45CB-9E11-31EE858D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19A04-DA5D-43B1-9B44-C10C9A72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A2C9C-EAB6-4B3D-9C21-5309A1F6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265E8-AC40-4536-AE27-79AFA416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E73A3-44A6-495F-9A83-BFD85D37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2 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5577A-253C-46EE-B099-C36D2D7C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050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FF89C-53F2-4EA9-8099-556619C2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27B35-EE7A-44EB-B6D4-53269673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C7B01-BD91-4E53-B034-0EC13A2B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Scraper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D6624-07F8-4194-BEBC-EEDEDD42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producer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076A5-529B-43DD-8E69-08183887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050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B3A71-AE5C-4135-B528-1A42FAA8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2E7D2-F9BA-4E61-9207-A01093F8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07787-528C-4EA3-A235-6BD575F1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RabbitMQ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00D46-4CBD-4EE1-A4FA-C7D8FAB9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raw_news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ED5BA-13EB-41A1-BB39-F4A9EC0F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3D1D89-4294-4FEE-8E59-A98FBA9E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7E611E-28D8-4525-8DA0-B0CEA741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11DC4A-52D2-4BE3-B75D-AEF3C188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CB7CB6-A14A-4C22-BDB8-B81F1129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687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consumer + producer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E286DE-86E4-468D-84B5-22C74D09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050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09ED68-FAD1-476C-8FC5-92457E0E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1D75C4-43C8-4094-82F2-CBF8A36A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261D31-5D26-47F7-BD44-85EA2257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RabbitMQ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3094D1-5460-4E5F-9C4B-B6E205DA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enriched_news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AEDB12-BAC8-4F9A-AD2C-20D0B696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050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1ABF5D-26E2-4FDA-9A79-1F6B5CFE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CB9959-50F5-4800-AF63-44C26684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A2A29D-3B3A-4FD0-9619-FBE76B61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BD902E-43DB-4883-A838-02847948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consumer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590131-8CDE-4450-BCCC-D5AEFC8E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2F701D-0E64-40FA-B37C-319DAEC7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98B7A8-A194-49D8-9E8B-88E4903C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DD7173-F023-43C9-A06B-695EEAA5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6850FA-1790-4D12-B65A-ABB3A931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3 tables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22606D-3A72-4197-8AF4-5CE8D704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3050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E6B758-C02C-403E-A671-ACAF7E5E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95500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D5229A-AD21-4D6C-BCB1-29531567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95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2B0154-4909-4E84-8A43-1DC61DCB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22193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Grafana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8CE10E-4899-4C66-8978-190A1A33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57175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6 vues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733CF8-FE7E-4707-BF47-86A3818D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86125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Deux queues séparent ingestion, traitement et stockage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5ECC8D-99C2-49B5-97AC-BA4DB74E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Chaque service Docker porte une responsabilité et communique par événements ou requêtes.</a:t>
            </a:r>
          </a:p>
        </p:txBody>
      </p:sp>
    </p:spTree>
    <p:extLst>
      <p:ext uri="{BB962C8B-B14F-4D97-AF65-F5344CB8AC3E}">
        <p14:creationId xmlns:p14="http://schemas.microsoft.com/office/powerpoint/2010/main" val="10234068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6EC6FD-5A4D-428D-BB7C-78CE9A64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Ingestion des actualités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755A3-BFBC-4A47-BFE9-E5FAD015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9B48D-6E58-4B01-B01E-BE4BDEF5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9FC7E-0BC4-4980-AEEA-C4BE55CD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5DD22-8C81-4506-81F5-601069B8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CoinDesk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D00A0-8E62-4DF8-9410-292C0986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9547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RSS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B3334-6A73-4B23-B994-6962D96F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56AE5-3565-49E5-B64D-45D7B80D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B7267-20C2-436A-8072-FEF8865F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Cointelegraph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CDFEE-79A0-4064-A1B5-D0FDDB8C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RSS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5499C-7CAE-42C7-BAC5-8F794BC7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C7695-A3CB-4198-A057-534EC339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47875"/>
            <a:ext cx="2952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DC998-11BD-43F3-B32F-F308CE88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478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A89570-0A69-42F5-B9FE-8B97A2FB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621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Python scraper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FAD60-BBF9-4750-BC0B-BF90C6ED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146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polling toutes les 60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016E4-7DDF-470A-A2F6-9E37BAEA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90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790E8C-C6EB-44A3-9FC4-1212DE95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FE6F57-465D-4E79-AD03-1E7AE96F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F736D-4609-45C6-95E8-21E7575A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62175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raw_news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245D97-E038-493A-93BA-805715EB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14600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JSON normalisé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224E48-356D-44BF-8FC2-98BAB8F5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14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article_id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220CD-10D0-41EA-8D7B-05D5E1B5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14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source, title, summary, url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CD4D01-E4C4-416F-985E-AAB8AA8B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1148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published_at, collected_at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7BC1AC-DCDD-49B5-A498-AC1B5EC9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0125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SHA-256(URL) rend l'identifiant stable entre deux collectes</a:t>
            </a:r>
          </a:p>
        </p:txBody>
      </p:sp>
    </p:spTree>
    <p:extLst>
      <p:ext uri="{BB962C8B-B14F-4D97-AF65-F5344CB8AC3E}">
        <p14:creationId xmlns:p14="http://schemas.microsoft.com/office/powerpoint/2010/main" val="9545031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B0E31-4EB9-4939-A39C-238F9560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RabbitMQ et livraison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2ECDE-FB08-465B-84A1-C5FB5F8A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D67A1-8564-46E2-B438-5B42A6E4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Producteur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710A6-6D81-48BE-A94B-28565DAC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811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8E9E8-62ED-4D2D-9008-7214EA93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Queue durable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1986A-5D09-4D62-8076-056E1DD1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811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0F014-1D48-48E1-91E1-B0FD7CCF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Consommateur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6F2FC-7377-4080-A574-3B541423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5720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767D5-0CAB-4857-B335-BD10584A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67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FIABILITÉ ET PRESSION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26861-FF4F-4AD0-9368-C0BB92D5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3810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06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Message persistant</a:t>
            </a:r>
          </a:p>
          <a:p xmlns:a="http://schemas.openxmlformats.org/drawingml/2006/main">
            <a:pPr algn="l"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ACK après succès</a:t>
            </a:r>
          </a:p>
          <a:p xmlns:a="http://schemas.openxmlformats.org/drawingml/2006/main">
            <a:pPr algn="l"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NACK + requeue sur erreur transitoire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Prefetch = 50 : la queue absorbe un pic de débit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fb72a35834b7a"/>
          <a:stretch xmlns:a="http://schemas.openxmlformats.org/drawingml/2006/main"/>
        </p:blipFill>
        <p:spPr>
          <a:xfrm xmlns:a="http://schemas.openxmlformats.org/drawingml/2006/main">
            <a:off x="5991225" y="2238375"/>
            <a:ext cx="4876800" cy="3048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6C9A5-5A36-40CF-A5FC-9EE3229E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Capture réelle : RabbitMQ Management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7521E-2B0B-4DBF-9E85-5F75C8EE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7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6B75"/>
                </a:solidFill>
                <a:latin typeface="Arial"/>
                <a:ea typeface="Arial"/>
                <a:cs typeface="Arial"/>
              </a:rPr>
              <a:t>Garantie visée : au moins une livraison</a:t>
            </a:r>
          </a:p>
        </p:txBody>
      </p:sp>
    </p:spTree>
    <p:extLst>
      <p:ext uri="{BB962C8B-B14F-4D97-AF65-F5344CB8AC3E}">
        <p14:creationId xmlns:p14="http://schemas.microsoft.com/office/powerpoint/2010/main" val="4209237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119D39-0B0A-446D-82BF-4687B1DC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Analytics Builder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54834-0163-4065-A0D6-7A1406B0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2E283-FC1A-42FB-B262-7AF3C4A7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2571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AF327-DE58-45A1-8685-C0F4FD91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22312-6167-4B16-BA46-9B42AC57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098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raw_news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66D7A-0FDA-42F4-8E2E-4B6A005E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6222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titre + résumé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5944F-D7E5-4817-8387-F2814AF5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050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BD6B7-EC85-4449-B7FE-598F323F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95500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DF502-D2B8-4F9C-8EBB-A1B72AC0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955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35409-6764-446F-A5B5-8BF58BFB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2098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Analyse lexicale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00829-B28A-40F9-AE65-83D94DBF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62225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score et thèmes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93EA4-0BEB-49E2-9E41-300CE281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050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49AD9-0852-48F6-A1FB-AE1CEEDA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2667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767BD-6EFA-4481-A245-F06AE6EA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4640B-C731-45EA-9575-2F7B0E08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098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enriched_news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893C0-EBCF-4382-B970-57EF3D9C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562225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JSON enrichi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570A6A-06CF-4076-878C-F8A2D85C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714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Sentiment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D007B-A844-4B63-A4F1-41CF32B3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95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-1 à +1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89EC0E-68C6-495F-8AC3-75E5258E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14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Thèmes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7B916-FC5B-49CB-96E8-8F21DC5C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95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BTC, ETH, DeFi, sécurité…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30AA67-7E60-41EF-B6C0-8E4C97A6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Choix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BD96F-CFD1-44F5-9A71-22B7E10B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rapide et explicable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6988EF-63D3-4F2A-8F72-E9E80159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95875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B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6B75"/>
                </a:solidFill>
                <a:latin typeface="Arial"/>
                <a:ea typeface="Arial"/>
                <a:cs typeface="Arial"/>
              </a:rPr>
              <a:t>Limite : sarcasme et contexte complexe</a:t>
            </a:r>
          </a:p>
        </p:txBody>
      </p:sp>
    </p:spTree>
    <p:extLst>
      <p:ext uri="{BB962C8B-B14F-4D97-AF65-F5344CB8AC3E}">
        <p14:creationId xmlns:p14="http://schemas.microsoft.com/office/powerpoint/2010/main" val="1017031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B46E59-AE67-4DE3-87C2-94170A91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Stockage et agrégations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2096D-6C84-4ECB-A848-410A90F2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569D0-2833-4EA1-81EF-FE679CC1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A3BDD-53F4-4D9D-B4AA-02F0664C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66FBD-7082-4799-AD64-FFAC9B61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90675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Storage Worker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B33FA-6636-4844-A442-B8ED8CF5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consumer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904BB-614D-4FA7-BBBD-F060B902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6859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13B48-DDDC-4ACB-8CBA-BBF25E2E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76375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253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7EF12-273B-45C4-93F1-899D0034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763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DFA07-CD4F-4D8B-BA41-A9D4E00A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90675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78C4C-51F3-45CC-AC90-E01BB922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431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transaction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2339D-FF79-4F96-99EC-0DAB38B3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news_articles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CCDA1-8BC3-4218-88DA-AF2E3C21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article brut + 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91251-983E-4214-9A91-3A0B5677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analytics_hourly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E98C6-BEBC-4E42-9F6B-7BE93543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671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volumes et sentiments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D42F3-4AEB-41AF-B2CD-37D25166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pipeline_hourly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E908A6-1DE3-464B-8909-D33CE4DE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débit et latence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5AFFF9-C154-4FD3-BBE2-50841822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9875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41DDF-DB1F-4001-BDD6-47F16022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ANTI-DOUBLON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CE018-2C80-4D6E-A71A-F5A5F339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190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958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PRIMARY KEY</a:t>
            </a:r>
          </a:p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+ INSERT IGNORE</a:t>
            </a:r>
          </a:p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+ agrégat après insertion</a:t>
            </a:r>
          </a:p>
        </p:txBody>
      </p:sp>
    </p:spTree>
    <p:extLst>
      <p:ext uri="{BB962C8B-B14F-4D97-AF65-F5344CB8AC3E}">
        <p14:creationId xmlns:p14="http://schemas.microsoft.com/office/powerpoint/2010/main" val="18239151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BAEB3-D5E8-4035-8C2E-14CE5C8D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Visualisation temporelle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74203-867D-4687-AE9F-7D7F26C6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C97EF-13F0-441A-9A2F-8AE94DF7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AF061-813C-43CA-A8EA-38BFA1D7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76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panneaux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105D3-6987-4758-9684-CF7DED04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2875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438B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438BFF"/>
                </a:solidFill>
                <a:latin typeface="Arial"/>
                <a:ea typeface="Arial"/>
                <a:cs typeface="Arial"/>
              </a:rPr>
              <a:t>30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0E787-5839-4123-859E-BEDB1E48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rafraîchissement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29912-F62D-45A0-BF5A-E6B0D3DC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24 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06512-3FF2-4DA5-B088-017667C9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1925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période par défaut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F6A23-DFC9-49AF-BAB7-767DA16B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Volume par thème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B91D9-87B7-4AC3-A886-B31758FD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Sentiment moyen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471D5-6111-4A51-89E4-A17668D5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Distribution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DCF7C-B5AB-4057-BAAB-7F16001A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Derniers articles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52DE6-507F-4197-93EF-68AF47A9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Débit par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90C36-8CC3-43FF-8447-0493B74C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Latence par source</a:t>
            </a:r>
          </a:p>
        </p:txBody>
      </p:sp>
    </p:spTree>
    <p:extLst>
      <p:ext uri="{BB962C8B-B14F-4D97-AF65-F5344CB8AC3E}">
        <p14:creationId xmlns:p14="http://schemas.microsoft.com/office/powerpoint/2010/main" val="1007430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7052CB-C82B-44C4-BD68-1DA82559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Orientation Big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613CB-BAF8-4980-8D7D-D6965A01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60DB5-7368-494D-BB8D-82859808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VELOCITY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9E22F-F98F-4B90-8F7D-D20D3FF1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52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9F57B-051E-45A3-BDC0-BA3B44AC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6682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Ingestion continue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30565-DB30-495F-ACC8-A2230AA8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VARIETY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849D9-1114-4C94-B381-5456159C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336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F7100-19D6-4E2E-BB3C-25C73FB1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Deux sources RSS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ADA38-D4F1-4E0A-BE88-9441B193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38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38BFF"/>
                </a:solidFill>
                <a:latin typeface="Arial"/>
                <a:ea typeface="Arial"/>
                <a:cs typeface="Arial"/>
              </a:rPr>
              <a:t>VERACITY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97B27-B571-4CE1-BD7F-2B7785AC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146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B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18EC0-230D-4128-AD96-34EFEDFB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2892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Normalisation + déduplication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5B89E-7220-41CB-8DDB-6F1223F2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SCALABILITÉ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C0A17-00E2-48C7-AF84-CB8798E0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957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3B67B-BDC7-4A9E-B0A7-CFA8AD87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0997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Consumers concurrents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04072-2A48-4135-B278-3D6335CB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OBSERVABILITÉ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B544E-0036-4A45-BADB-BF940604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767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8A17E-5D4F-4F3A-A97D-C033E4D7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9102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Débit + latence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A742BB-0DEE-495D-B5CF-461C06C8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287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2A1D2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28165E-4EE6-45A4-8808-22043DAF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Volume limité en démonstration. Architecture conçue pour monter en charge</a:t>
            </a:r>
          </a:p>
        </p:txBody>
      </p:sp>
    </p:spTree>
    <p:extLst>
      <p:ext uri="{BB962C8B-B14F-4D97-AF65-F5344CB8AC3E}">
        <p14:creationId xmlns:p14="http://schemas.microsoft.com/office/powerpoint/2010/main" val="905968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BF06E-3750-4EC5-8653-C787B005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Résilience et limites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E50F4-AF2A-4183-BD2D-536D2C2D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DE272-8FEA-49C8-B73E-699ECEFD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DÉJÀ PRÉSENT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9FD2B-65EB-484B-B9D0-4328C399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85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À RENFORCER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74820-615E-438F-A612-AB17CEF6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Reconnexion RabbitMQ / MySQL</a:t>
            </a:r>
          </a:p>
          <a:p xmlns:a="http://schemas.openxmlformats.org/drawingml/2006/main">
            <a:pPr algn="l"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ACK après succès</a:t>
            </a:r>
          </a:p>
          <a:p xmlns:a="http://schemas.openxmlformats.org/drawingml/2006/main">
            <a:pPr algn="l"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Messages persistants</a:t>
            </a:r>
          </a:p>
          <a:p xmlns:a="http://schemas.openxmlformats.org/drawingml/2006/main">
            <a:pPr algn="l"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Healthchecks</a:t>
            </a:r>
          </a:p>
          <a:p xmlns:a="http://schemas.openxmlformats.org/drawingml/2006/main">
            <a:pPr algn="l"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Volumes Docker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72CAE-6144-4E03-AE6C-29D42A6C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Dead-letter queue</a:t>
            </a:r>
          </a:p>
          <a:p xmlns:a="http://schemas.openxmlformats.org/drawingml/2006/main">
            <a:pPr algn="l"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Cluster RabbitMQ</a:t>
            </a:r>
          </a:p>
          <a:p xmlns:a="http://schemas.openxmlformats.org/drawingml/2006/main">
            <a:pPr algn="l"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Réplication MySQL</a:t>
            </a:r>
          </a:p>
          <a:p xmlns:a="http://schemas.openxmlformats.org/drawingml/2006/main">
            <a:pPr algn="l"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Métriques centralisées</a:t>
            </a:r>
          </a:p>
          <a:p xmlns:a="http://schemas.openxmlformats.org/drawingml/2006/main">
            <a:pPr algn="l"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EF6FF"/>
                </a:solidFill>
                <a:latin typeface="Arial"/>
                <a:ea typeface="Arial"/>
                <a:cs typeface="Arial"/>
              </a:rPr>
              <a:t>Tests de charge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0926E-D3A4-4B5C-9B0D-FA400415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6B7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6B75"/>
                </a:solidFill>
                <a:latin typeface="Arial"/>
                <a:ea typeface="Arial"/>
                <a:cs typeface="Arial"/>
              </a:rPr>
              <a:t>SPOF actuels : RabbitMQ et MySQL</a:t>
            </a:r>
          </a:p>
        </p:txBody>
      </p:sp>
    </p:spTree>
    <p:extLst>
      <p:ext uri="{BB962C8B-B14F-4D97-AF65-F5344CB8AC3E}">
        <p14:creationId xmlns:p14="http://schemas.microsoft.com/office/powerpoint/2010/main" val="11774186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B386F0-927D-4ADE-95AF-72A53FCE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Démonstration en 4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15762-5780-46F7-BE98-B32D1BA5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E2404-CC96-41C7-B63C-D939F7F8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E2132-2B27-46E3-A745-BDDCEF35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ED301-BBD0-423A-9A5D-91B8AA2E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8130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docker compose 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C5E58-A704-470B-9A7C-E4B10A93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668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87396-A70B-4C93-AEB4-8D422C48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71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D660A-9756-4E5E-B006-C0231C62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Queues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5E3B1-A106-431A-BD9B-FA62E3C4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consumers et messages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93226-AABA-41F7-B716-5EC45209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6668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7A5E3-622A-46EA-B3C6-61D161AA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2D9FB-8C0E-4008-A36D-7A403038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33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Données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531C3-9F43-40A4-8A15-200DC6CB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sources et agrégats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61F04-F054-4647-8267-942CA594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6F879-52D2-4A00-B1FA-2C02D11B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71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F569B-081F-4B1B-B013-018B9666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17EF8-7082-4E4B-BB9C-EA7307D3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période, débit, latence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2c83a6faa4a30"/>
          <a:srcRect xmlns:a="http://schemas.openxmlformats.org/drawingml/2006/main" l="0" t="27333" r="0" b="27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09750" y="3762375"/>
            <a:ext cx="8572500" cy="2428875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17CA6F-32D9-40EE-8F53-60F23BAA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238875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Capture réelle : raw_news et enriched_news actives</a:t>
            </a:r>
          </a:p>
        </p:txBody>
      </p:sp>
    </p:spTree>
    <p:extLst>
      <p:ext uri="{BB962C8B-B14F-4D97-AF65-F5344CB8AC3E}">
        <p14:creationId xmlns:p14="http://schemas.microsoft.com/office/powerpoint/2010/main" val="15978360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D8393-9E82-45DD-9A04-3B88D292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Évolutions prioritaires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E1D47-63AA-408F-8F02-7BCB4E16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FAB24-0F61-43D8-B376-D2916F9D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COURT TERME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D85F2-8958-4F9E-BBCE-848EA6E7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FBE59-F531-42FC-A75E-9C0B5712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DLQ + alertes</a:t>
            </a:r>
          </a:p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Tests de charge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8A397-4696-4947-A477-9CF342E2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8B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38BFF"/>
                </a:solidFill>
                <a:latin typeface="Arial"/>
                <a:ea typeface="Arial"/>
                <a:cs typeface="Arial"/>
              </a:rPr>
              <a:t>VOLUME SUPÉRIEUR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CA320-B3D1-446A-857D-4C08E7B5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9E4DA-9BFF-4849-A2F5-7A480830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33625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Workers orchestrés</a:t>
            </a:r>
          </a:p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Partitionnement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4F4A6-8A88-4ADE-B4A7-F7CE7CB4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76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TRÈS GRANDE ÉCHELLE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D8D39-0902-4064-A36A-1C2B05C6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8D4CB-7D5A-4EE1-AC03-A726037B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Kafka si replay requis</a:t>
            </a:r>
          </a:p>
          <a:p xmlns:a="http://schemas.openxmlformats.org/drawingml/2006/main">
            <a:pPr algn="l">
              <a:defRPr sz="18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Stockage analytique distribué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A6B14-4562-4A1A-9FF7-847483E6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CB1C5"/>
                </a:solidFill>
                <a:latin typeface="Arial"/>
                <a:ea typeface="Arial"/>
                <a:cs typeface="Arial"/>
              </a:rPr>
              <a:t>Le choix dépend d'une mesure réelle du volume, du débit et de la rétention.</a:t>
            </a:r>
          </a:p>
        </p:txBody>
      </p:sp>
    </p:spTree>
    <p:extLst>
      <p:ext uri="{BB962C8B-B14F-4D97-AF65-F5344CB8AC3E}">
        <p14:creationId xmlns:p14="http://schemas.microsoft.com/office/powerpoint/2010/main" val="12810267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5F6B9-E597-4EC9-83F2-C0EC19C1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797A5-4DDC-4658-80B1-FA219F44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0317F-31A7-4F78-935C-19134F50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875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Une actualité devient un indicateur exploitable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F181E-6BB1-4A5C-88B9-FDAA66F2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57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Collecte continue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08C19-8CD7-461A-AF0E-C9BFD9E8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ED3C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ED3C6"/>
                </a:solidFill>
                <a:latin typeface="Arial"/>
                <a:ea typeface="Arial"/>
                <a:cs typeface="Arial"/>
              </a:rPr>
              <a:t>Traitement découplé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7C4CC-BCC6-48B7-BF9C-720F01AA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38B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38BFF"/>
                </a:solidFill>
                <a:latin typeface="Arial"/>
                <a:ea typeface="Arial"/>
                <a:cs typeface="Arial"/>
              </a:rPr>
              <a:t>Vue temporelle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9F927-A867-41AD-96D9-0EC5A559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62375"/>
            <a:ext cx="942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C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CDE11-1917-470E-A867-4B17DB5B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EF6FF"/>
                </a:solidFill>
                <a:latin typeface="Arial"/>
                <a:ea typeface="Arial"/>
                <a:cs typeface="Arial"/>
              </a:rPr>
              <a:t>Simple pour la démonstration, mesurable pour évoluer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931AF-75E8-423B-832D-0F223FD1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768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CB1C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CB1C5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5533741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2026-09-04T16:00:21.3730000Z</dcterms:created>
  <dcterms:modified xsi:type="dcterms:W3CDTF">2026-09-04T16:00:21.3730000Z</dcterms:modified>
</coreProperties>
</file>