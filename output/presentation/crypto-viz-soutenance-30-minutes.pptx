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031303f8744b17" /><Relationship Type="http://schemas.openxmlformats.org/officeDocument/2006/relationships/extended-properties" Target="/docProps/app.xml" Id="R9317fbd36ef24264" /><Relationship Type="http://schemas.openxmlformats.org/officeDocument/2006/relationships/officeDocument" Target="/ppt/presentation.xml" Id="Rcc5f6dccbc6a4e47" /></Relationships>
</file>

<file path=ppt/presentation.xml><?xml version="1.0" encoding="utf-8"?>
<p:presentation xmlns:p="http://schemas.openxmlformats.org/presentationml/2006/main">
  <p:sldMasterIdLst>
    <p:sldMasterId xmlns:r="http://schemas.openxmlformats.org/officeDocument/2006/relationships" id="2147483648" r:id="Rc51ccf7303844bfa"/>
  </p:sldMasterIdLst>
  <p:notesMasterIdLst>
    <p:notesMasterId xmlns:r="http://schemas.openxmlformats.org/officeDocument/2006/relationships" r:id="R40112f23a55f4df4"/>
  </p:notesMasterIdLst>
  <p:sldIdLst>
    <p:sldId xmlns:r="http://schemas.openxmlformats.org/officeDocument/2006/relationships" id="256" r:id="R2dc0f61e75aa4799"/>
    <p:sldId xmlns:r="http://schemas.openxmlformats.org/officeDocument/2006/relationships" id="257" r:id="Rb5a964b42ee74740"/>
    <p:sldId xmlns:r="http://schemas.openxmlformats.org/officeDocument/2006/relationships" id="258" r:id="R73c408e85ee24346"/>
    <p:sldId xmlns:r="http://schemas.openxmlformats.org/officeDocument/2006/relationships" id="259" r:id="R30f16dab9bd7472a"/>
    <p:sldId xmlns:r="http://schemas.openxmlformats.org/officeDocument/2006/relationships" id="260" r:id="R733f90aaa1b546f8"/>
    <p:sldId xmlns:r="http://schemas.openxmlformats.org/officeDocument/2006/relationships" id="261" r:id="Refe7b212514947f5"/>
    <p:sldId xmlns:r="http://schemas.openxmlformats.org/officeDocument/2006/relationships" id="262" r:id="Rbb79400b65544d31"/>
    <p:sldId xmlns:r="http://schemas.openxmlformats.org/officeDocument/2006/relationships" id="263" r:id="R72b5e32d74b54e5f"/>
    <p:sldId xmlns:r="http://schemas.openxmlformats.org/officeDocument/2006/relationships" id="264" r:id="Rf6e6970e481b482b"/>
    <p:sldId xmlns:r="http://schemas.openxmlformats.org/officeDocument/2006/relationships" id="265" r:id="Rc59678eaae354fd5"/>
    <p:sldId xmlns:r="http://schemas.openxmlformats.org/officeDocument/2006/relationships" id="266" r:id="Raf5e0cb7e8f04d1a"/>
    <p:sldId xmlns:r="http://schemas.openxmlformats.org/officeDocument/2006/relationships" id="267" r:id="Re776ed4852ad4190"/>
    <p:sldId xmlns:r="http://schemas.openxmlformats.org/officeDocument/2006/relationships" id="268" r:id="R99cdd6704de0432f"/>
    <p:sldId xmlns:r="http://schemas.openxmlformats.org/officeDocument/2006/relationships" id="269" r:id="R8da9ed94ca0842ad"/>
    <p:sldId xmlns:r="http://schemas.openxmlformats.org/officeDocument/2006/relationships" id="270" r:id="R3318d43f22b84a2c"/>
    <p:sldId xmlns:r="http://schemas.openxmlformats.org/officeDocument/2006/relationships" id="271" r:id="R2a0d5a0faa1e4074"/>
    <p:sldId xmlns:r="http://schemas.openxmlformats.org/officeDocument/2006/relationships" id="272" r:id="Rf18ae6f105384605"/>
    <p:sldId xmlns:r="http://schemas.openxmlformats.org/officeDocument/2006/relationships" id="273" r:id="R0f76d03f0b964979"/>
    <p:sldId xmlns:r="http://schemas.openxmlformats.org/officeDocument/2006/relationships" id="274" r:id="Rad705ed2b2104cdf"/>
    <p:sldId xmlns:r="http://schemas.openxmlformats.org/officeDocument/2006/relationships" id="275" r:id="R1e5c811526b44208"/>
    <p:sldId xmlns:r="http://schemas.openxmlformats.org/officeDocument/2006/relationships" id="276" r:id="R33230b811c7b4690"/>
    <p:sldId xmlns:r="http://schemas.openxmlformats.org/officeDocument/2006/relationships" id="277" r:id="Ra0f5b62b26224dfe"/>
    <p:sldId xmlns:r="http://schemas.openxmlformats.org/officeDocument/2006/relationships" id="278" r:id="R839712837ac3422a"/>
    <p:sldId xmlns:r="http://schemas.openxmlformats.org/officeDocument/2006/relationships" id="279" r:id="R90c529efecd34bdb"/>
    <p:sldId xmlns:r="http://schemas.openxmlformats.org/officeDocument/2006/relationships" id="280" r:id="R4e2b6277601a4c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cd46778399491d" /><Relationship Type="http://schemas.openxmlformats.org/officeDocument/2006/relationships/slideMaster" Target="/ppt/slideMasters/slideMaster1.xml" Id="Rc51ccf7303844bfa" /><Relationship Type="http://schemas.openxmlformats.org/officeDocument/2006/relationships/notesMaster" Target="/ppt/notesMasters/notesMaster1.xml" Id="R40112f23a55f4df4" /><Relationship Type="http://schemas.openxmlformats.org/officeDocument/2006/relationships/presProps" Target="/ppt/presProps.xml" Id="R6b97867ebcc748c8" /><Relationship Type="http://schemas.openxmlformats.org/officeDocument/2006/relationships/tableStyles" Target="/ppt/tableStyles.xml" Id="R7e1b4c4b61ab4c2e" /><Relationship Type="http://schemas.openxmlformats.org/officeDocument/2006/relationships/slide" Target="/ppt/slides/slide1.xml" Id="R2dc0f61e75aa4799" /><Relationship Type="http://schemas.openxmlformats.org/officeDocument/2006/relationships/slide" Target="/ppt/slides/slide2.xml" Id="Rb5a964b42ee74740" /><Relationship Type="http://schemas.openxmlformats.org/officeDocument/2006/relationships/slide" Target="/ppt/slides/slide3.xml" Id="R73c408e85ee24346" /><Relationship Type="http://schemas.openxmlformats.org/officeDocument/2006/relationships/slide" Target="/ppt/slides/slide4.xml" Id="R30f16dab9bd7472a" /><Relationship Type="http://schemas.openxmlformats.org/officeDocument/2006/relationships/slide" Target="/ppt/slides/slide5.xml" Id="R733f90aaa1b546f8" /><Relationship Type="http://schemas.openxmlformats.org/officeDocument/2006/relationships/slide" Target="/ppt/slides/slide6.xml" Id="Refe7b212514947f5" /><Relationship Type="http://schemas.openxmlformats.org/officeDocument/2006/relationships/slide" Target="/ppt/slides/slide7.xml" Id="Rbb79400b65544d31" /><Relationship Type="http://schemas.openxmlformats.org/officeDocument/2006/relationships/slide" Target="/ppt/slides/slide8.xml" Id="R72b5e32d74b54e5f" /><Relationship Type="http://schemas.openxmlformats.org/officeDocument/2006/relationships/slide" Target="/ppt/slides/slide9.xml" Id="Rf6e6970e481b482b" /><Relationship Type="http://schemas.openxmlformats.org/officeDocument/2006/relationships/slide" Target="/ppt/slides/slide10.xml" Id="Rc59678eaae354fd5" /><Relationship Type="http://schemas.openxmlformats.org/officeDocument/2006/relationships/slide" Target="/ppt/slides/slide11.xml" Id="Raf5e0cb7e8f04d1a" /><Relationship Type="http://schemas.openxmlformats.org/officeDocument/2006/relationships/slide" Target="/ppt/slides/slide12.xml" Id="Re776ed4852ad4190" /><Relationship Type="http://schemas.openxmlformats.org/officeDocument/2006/relationships/slide" Target="/ppt/slides/slide13.xml" Id="R99cdd6704de0432f" /><Relationship Type="http://schemas.openxmlformats.org/officeDocument/2006/relationships/slide" Target="/ppt/slides/slide14.xml" Id="R8da9ed94ca0842ad" /><Relationship Type="http://schemas.openxmlformats.org/officeDocument/2006/relationships/slide" Target="/ppt/slides/slide15.xml" Id="R3318d43f22b84a2c" /><Relationship Type="http://schemas.openxmlformats.org/officeDocument/2006/relationships/slide" Target="/ppt/slides/slide16.xml" Id="R2a0d5a0faa1e4074" /><Relationship Type="http://schemas.openxmlformats.org/officeDocument/2006/relationships/slide" Target="/ppt/slides/slide17.xml" Id="Rf18ae6f105384605" /><Relationship Type="http://schemas.openxmlformats.org/officeDocument/2006/relationships/slide" Target="/ppt/slides/slide18.xml" Id="R0f76d03f0b964979" /><Relationship Type="http://schemas.openxmlformats.org/officeDocument/2006/relationships/slide" Target="/ppt/slides/slide19.xml" Id="Rad705ed2b2104cdf" /><Relationship Type="http://schemas.openxmlformats.org/officeDocument/2006/relationships/slide" Target="/ppt/slides/slide20.xml" Id="R1e5c811526b44208" /><Relationship Type="http://schemas.openxmlformats.org/officeDocument/2006/relationships/slide" Target="/ppt/slides/slide21.xml" Id="R33230b811c7b4690" /><Relationship Type="http://schemas.openxmlformats.org/officeDocument/2006/relationships/slide" Target="/ppt/slides/slide22.xml" Id="Ra0f5b62b26224dfe" /><Relationship Type="http://schemas.openxmlformats.org/officeDocument/2006/relationships/slide" Target="/ppt/slides/slide23.xml" Id="R839712837ac3422a" /><Relationship Type="http://schemas.openxmlformats.org/officeDocument/2006/relationships/slide" Target="/ppt/slides/slide24.xml" Id="R90c529efecd34bdb" /><Relationship Type="http://schemas.openxmlformats.org/officeDocument/2006/relationships/slide" Target="/ppt/slides/slide25.xml" Id="R4e2b6277601a4c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440fa6f7ce48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8daff521e04bcf" /><Relationship Type="http://schemas.openxmlformats.org/officeDocument/2006/relationships/notesMaster" Target="/ppt/notesMasters/notesMaster1.xml" Id="Rc1503f1185664a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3093014d7c41f2" /><Relationship Type="http://schemas.openxmlformats.org/officeDocument/2006/relationships/notesMaster" Target="/ppt/notesMasters/notesMaster1.xml" Id="Racd7f3d197f047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b553bf72c64184" /><Relationship Type="http://schemas.openxmlformats.org/officeDocument/2006/relationships/notesMaster" Target="/ppt/notesMasters/notesMaster1.xml" Id="Ra2dcc42be0c14b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179ca401124a7b" /><Relationship Type="http://schemas.openxmlformats.org/officeDocument/2006/relationships/notesMaster" Target="/ppt/notesMasters/notesMaster1.xml" Id="R874e140f4c8f4c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5865abe8d04742" /><Relationship Type="http://schemas.openxmlformats.org/officeDocument/2006/relationships/notesMaster" Target="/ppt/notesMasters/notesMaster1.xml" Id="Rdf1f9ca3fb0d44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7db795a31f4311" /><Relationship Type="http://schemas.openxmlformats.org/officeDocument/2006/relationships/notesMaster" Target="/ppt/notesMasters/notesMaster1.xml" Id="R73e6b2ad2c5d44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6e8faf9b874c3b" /><Relationship Type="http://schemas.openxmlformats.org/officeDocument/2006/relationships/notesMaster" Target="/ppt/notesMasters/notesMaster1.xml" Id="R464b1f71553044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38825092424e2c" /><Relationship Type="http://schemas.openxmlformats.org/officeDocument/2006/relationships/notesMaster" Target="/ppt/notesMasters/notesMaster1.xml" Id="R45366b83a51145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0964219f774d7d" /><Relationship Type="http://schemas.openxmlformats.org/officeDocument/2006/relationships/notesMaster" Target="/ppt/notesMasters/notesMaster1.xml" Id="Rdbe2b071127343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bd761c753c4c2a" /><Relationship Type="http://schemas.openxmlformats.org/officeDocument/2006/relationships/notesMaster" Target="/ppt/notesMasters/notesMaster1.xml" Id="Rd0e931e5af0a4a0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4e89ead8474f6e" /><Relationship Type="http://schemas.openxmlformats.org/officeDocument/2006/relationships/notesMaster" Target="/ppt/notesMasters/notesMaster1.xml" Id="Rd02965b37abc4eb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8c8a947629a4704" /><Relationship Type="http://schemas.openxmlformats.org/officeDocument/2006/relationships/notesMaster" Target="/ppt/notesMasters/notesMaster1.xml" Id="R67be4daeee3e4d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a09fdab6678409e" /><Relationship Type="http://schemas.openxmlformats.org/officeDocument/2006/relationships/notesMaster" Target="/ppt/notesMasters/notesMaster1.xml" Id="Rf0695d9b3b87437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d429446de8d41da" /><Relationship Type="http://schemas.openxmlformats.org/officeDocument/2006/relationships/notesMaster" Target="/ppt/notesMasters/notesMaster1.xml" Id="Rd23a21b0b050478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223542d504c43b4" /><Relationship Type="http://schemas.openxmlformats.org/officeDocument/2006/relationships/notesMaster" Target="/ppt/notesMasters/notesMaster1.xml" Id="R29776b23ad7a443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b65575b12924993" /><Relationship Type="http://schemas.openxmlformats.org/officeDocument/2006/relationships/notesMaster" Target="/ppt/notesMasters/notesMaster1.xml" Id="R243b1eecefbd439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9548ae18fa4436c" /><Relationship Type="http://schemas.openxmlformats.org/officeDocument/2006/relationships/notesMaster" Target="/ppt/notesMasters/notesMaster1.xml" Id="Rae232384f6924f1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0b41ee7fdf64eac" /><Relationship Type="http://schemas.openxmlformats.org/officeDocument/2006/relationships/notesMaster" Target="/ppt/notesMasters/notesMaster1.xml" Id="Rf404254604c247e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cbfcb795cd14c5f" /><Relationship Type="http://schemas.openxmlformats.org/officeDocument/2006/relationships/notesMaster" Target="/ppt/notesMasters/notesMaster1.xml" Id="R34ee3fc216b2447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f6101bf3c7a479d" /><Relationship Type="http://schemas.openxmlformats.org/officeDocument/2006/relationships/notesMaster" Target="/ppt/notesMasters/notesMaster1.xml" Id="R5a10e486a220403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6fbb37773374e2a" /><Relationship Type="http://schemas.openxmlformats.org/officeDocument/2006/relationships/notesMaster" Target="/ppt/notesMasters/notesMaster1.xml" Id="Re0424a07d21844b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7bb5ad3acdc4cdc" /><Relationship Type="http://schemas.openxmlformats.org/officeDocument/2006/relationships/notesMaster" Target="/ppt/notesMasters/notesMaster1.xml" Id="R6b0f227d3df24cd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5b9a2987cc94aaa" /><Relationship Type="http://schemas.openxmlformats.org/officeDocument/2006/relationships/notesMaster" Target="/ppt/notesMasters/notesMaster1.xml" Id="R9861d69a02144e2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16d0c87c7ea400b" /><Relationship Type="http://schemas.openxmlformats.org/officeDocument/2006/relationships/notesMaster" Target="/ppt/notesMasters/notesMaster1.xml" Id="Rd3634283300642a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642b1b2347d415a" /><Relationship Type="http://schemas.openxmlformats.org/officeDocument/2006/relationships/notesMaster" Target="/ppt/notesMasters/notesMaster1.xml" Id="R629994f72c4243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0 min 40</a:t>
            </a:r>
          </a:p>
          <a:p xmlns:a="http://schemas.openxmlformats.org/drawingml/2006/main">
            <a:r>
              <a:t/>
            </a:r>
          </a:p>
          <a:p xmlns:a="http://schemas.openxmlformats.org/drawingml/2006/main">
            <a:r>
              <a:t>Crypto Viz collecte des actualités crypto, les enrichit en continu et produit des indicateurs temporels dans Grafana. Le projet vise une architecture orientée Big Data : le volume de démonstration reste limité, mais le transport, la pression, la reprise et la montée en charge sont traités explicitement. J’annonce dès le départ cette limite pour rester crédible.</a:t>
            </a:r>
          </a:p>
          <a:p xmlns:a="http://schemas.openxmlformats.org/drawingml/2006/main">
            <a:r>
              <a:t/>
            </a:r>
          </a:p>
          <a:p xmlns:a="http://schemas.openxmlformats.org/drawingml/2006/main">
            <a:r>
              <a:t>Sources et preuves :</a:t>
            </a:r>
          </a:p>
          <a:p xmlns:a="http://schemas.openxmlformats.org/drawingml/2006/main">
            <a:r>
              <a:t>- README.md</a:t>
            </a:r>
          </a:p>
          <a:p xmlns:a="http://schemas.openxmlformats.org/drawingml/2006/main">
            <a:r>
              <a:t>- docs/REPORT.md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a:t>
            </a:r>
          </a:p>
          <a:p xmlns:a="http://schemas.openxmlformats.org/drawingml/2006/main">
            <a:r>
              <a:t/>
            </a:r>
          </a:p>
          <a:p xmlns:a="http://schemas.openxmlformats.org/drawingml/2006/main">
            <a:r>
              <a:t>Le problème n’est pas seulement de récupérer des pages. Il faut transformer un flux irrégulier en information stable et interrogeable. Une architecture synchrone couplerait trop fortement collecte, calcul et stockage : une panne en aval bloquerait la source. Le pipeline asynchrone sépare ces rythmes.</a:t>
            </a:r>
          </a:p>
          <a:p xmlns:a="http://schemas.openxmlformats.org/drawingml/2006/main">
            <a:r>
              <a:t/>
            </a:r>
          </a:p>
          <a:p xmlns:a="http://schemas.openxmlformats.org/drawingml/2006/main">
            <a:r>
              <a:t>Sources et preuves :</a:t>
            </a:r>
          </a:p>
          <a:p xmlns:a="http://schemas.openxmlformats.org/drawingml/2006/main">
            <a:r>
              <a:t>- README.md, section About</a:t>
            </a:r>
          </a:p>
          <a:p xmlns:a="http://schemas.openxmlformats.org/drawingml/2006/main">
            <a:r>
              <a:t>- docs/REPORT.md, section Objective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0 min 55</a:t>
            </a:r>
          </a:p>
          <a:p xmlns:a="http://schemas.openxmlformats.org/drawingml/2006/main">
            <a:r>
              <a:t/>
            </a:r>
          </a:p>
          <a:p xmlns:a="http://schemas.openxmlformats.org/drawingml/2006/main">
            <a:r>
              <a:t>Le résultat attendu n’est pas une recommandation financière. Crypto Viz mesure l’activité éditoriale : combien d’articles arrivent, de quels thèmes ils parlent, quel sentiment lexical ils portent et avec quelle performance le pipeline les traite. Cette distinction évite de présenter une corrélation éditoriale comme un signal de trading.</a:t>
            </a:r>
          </a:p>
          <a:p xmlns:a="http://schemas.openxmlformats.org/drawingml/2006/main">
            <a:r>
              <a:t/>
            </a:r>
          </a:p>
          <a:p xmlns:a="http://schemas.openxmlformats.org/drawingml/2006/main">
            <a:r>
              <a:t>Sources et preuves :</a:t>
            </a:r>
          </a:p>
          <a:p xmlns:a="http://schemas.openxmlformats.org/drawingml/2006/main">
            <a:r>
              <a:t>- grafana/dashboards/crypto-news.json</a:t>
            </a:r>
          </a:p>
          <a:p xmlns:a="http://schemas.openxmlformats.org/drawingml/2006/main">
            <a:r>
              <a:t>- script/createTableCrypto.sql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0 min 55</a:t>
            </a:r>
          </a:p>
          <a:p xmlns:a="http://schemas.openxmlformats.org/drawingml/2006/main">
            <a:r>
              <a:t/>
            </a:r>
          </a:p>
          <a:p xmlns:a="http://schemas.openxmlformats.org/drawingml/2006/main">
            <a:r>
              <a:t>Je découpe le besoin selon les responsabilités : le scraper normalise, Analytics enrichit, Storage persiste et agrège, Grafana visualise. Python a été retenu pour garder des workers courts et lisibles. Un service unique aurait réduit le nombre de conteneurs, mais aurait mêlé les cycles de panne et empêché le scaling ciblé.</a:t>
            </a:r>
          </a:p>
          <a:p xmlns:a="http://schemas.openxmlformats.org/drawingml/2006/main">
            <a:r>
              <a:t/>
            </a:r>
          </a:p>
          <a:p xmlns:a="http://schemas.openxmlformats.org/drawingml/2006/main">
            <a:r>
              <a:t>Sources et preuves :</a:t>
            </a:r>
          </a:p>
          <a:p xmlns:a="http://schemas.openxmlformats.org/drawingml/2006/main">
            <a:r>
              <a:t>- docker-compose.yml</a:t>
            </a:r>
          </a:p>
          <a:p xmlns:a="http://schemas.openxmlformats.org/drawingml/2006/main">
            <a:r>
              <a:t>- app/scrap</a:t>
            </a:r>
          </a:p>
          <a:p xmlns:a="http://schemas.openxmlformats.org/drawingml/2006/main">
            <a:r>
              <a:t>- app/analytics</a:t>
            </a:r>
          </a:p>
          <a:p xmlns:a="http://schemas.openxmlformats.org/drawingml/2006/main">
            <a:r>
              <a:t>- app/queue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a:t>
            </a:r>
          </a:p>
          <a:p xmlns:a="http://schemas.openxmlformats.org/drawingml/2006/main">
            <a:r>
              <a:t/>
            </a:r>
          </a:p>
          <a:p xmlns:a="http://schemas.openxmlformats.org/drawingml/2006/main">
            <a:r>
              <a:t>Les deux sources apportent plusieurs producteurs mais peu de variété de format, car toutes deux exposent du RSS. Le polling à 60 secondes correspond au rythme d’une actualité et évite une connexion permanente inutile. Un scraping HTML serait plus fragile. Une API officielle serait préférable si elle garantissait les mêmes champs et une disponibilité suffisante.</a:t>
            </a:r>
          </a:p>
          <a:p xmlns:a="http://schemas.openxmlformats.org/drawingml/2006/main">
            <a:r>
              <a:t/>
            </a:r>
          </a:p>
          <a:p xmlns:a="http://schemas.openxmlformats.org/drawingml/2006/main">
            <a:r>
              <a:t>Sources et preuves :</a:t>
            </a:r>
          </a:p>
          <a:p xmlns:a="http://schemas.openxmlformats.org/drawingml/2006/main">
            <a:r>
              <a:t>- app/scrap/cryptoscrap.py</a:t>
            </a:r>
          </a:p>
          <a:p xmlns:a="http://schemas.openxmlformats.org/drawingml/2006/main">
            <a:r>
              <a:t>- docker-compose.yml, NEWS_FEED_URLS et SCRAPE_INTERVAL_SECONDS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a:t>
            </a:r>
          </a:p>
          <a:p xmlns:a="http://schemas.openxmlformats.org/drawingml/2006/main">
            <a:r>
              <a:t/>
            </a:r>
          </a:p>
          <a:p xmlns:a="http://schemas.openxmlformats.org/drawingml/2006/main">
            <a:r>
              <a:t>Un contrat commun découple les traitements de la structure propre à chaque flux. Le SHA-256 de l’URL fournit un identifiant déterministe : deux collectes du même lien produisent la même clé. Ce choix est simple et sans état côté scraper. Sa limite est la stabilité de l’URL ; en production, je canonicaliserais les paramètres de tracking avant le hash.</a:t>
            </a:r>
          </a:p>
          <a:p xmlns:a="http://schemas.openxmlformats.org/drawingml/2006/main">
            <a:r>
              <a:t/>
            </a:r>
          </a:p>
          <a:p xmlns:a="http://schemas.openxmlformats.org/drawingml/2006/main">
            <a:r>
              <a:t>Sources et preuves :</a:t>
            </a:r>
          </a:p>
          <a:p xmlns:a="http://schemas.openxmlformats.org/drawingml/2006/main">
            <a:r>
              <a:t>- app/scrap/cryptoscrap.py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40</a:t>
            </a:r>
          </a:p>
          <a:p xmlns:a="http://schemas.openxmlformats.org/drawingml/2006/main">
            <a:r>
              <a:t/>
            </a:r>
          </a:p>
          <a:p xmlns:a="http://schemas.openxmlformats.org/drawingml/2006/main">
            <a:r>
              <a:t>Je parcours un article de gauche à droite. RabbitMQ se trouve deux fois dans le schéma, mais il s’agit du même broker et de deux queues. La première protège l’ingestion du temps d’analyse. La seconde protège l’analyse du temps d’écriture. Grafana ne consomme pas la queue : il interroge MySQL.</a:t>
            </a:r>
          </a:p>
          <a:p xmlns:a="http://schemas.openxmlformats.org/drawingml/2006/main">
            <a:r>
              <a:t/>
            </a:r>
          </a:p>
          <a:p xmlns:a="http://schemas.openxmlformats.org/drawingml/2006/main">
            <a:r>
              <a:t>Sources et preuves :</a:t>
            </a:r>
          </a:p>
          <a:p xmlns:a="http://schemas.openxmlformats.org/drawingml/2006/main">
            <a:r>
              <a:t>- README.md, diagramme d’architecture</a:t>
            </a:r>
          </a:p>
          <a:p xmlns:a="http://schemas.openxmlformats.org/drawingml/2006/main">
            <a:r>
              <a:t>- docker-compose.yml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a:t>
            </a:r>
          </a:p>
          <a:p xmlns:a="http://schemas.openxmlformats.org/drawingml/2006/main">
            <a:r>
              <a:t/>
            </a:r>
          </a:p>
          <a:p xmlns:a="http://schemas.openxmlformats.org/drawingml/2006/main">
            <a:r>
              <a:t>Docker Compose apporte un démarrage reproductible, des réseaux séparés, des healthchecks et des volumes. Il ne fournit pas de haute disponibilité multi-hôtes. Kubernetes serait disproportionné pour une démonstration locale ; il deviendrait pertinent pour l’auto-réparation, le placement sur plusieurs machines et l’autoscaling.</a:t>
            </a:r>
          </a:p>
          <a:p xmlns:a="http://schemas.openxmlformats.org/drawingml/2006/main">
            <a:r>
              <a:t/>
            </a:r>
          </a:p>
          <a:p xmlns:a="http://schemas.openxmlformats.org/drawingml/2006/main">
            <a:r>
              <a:t>Sources et preuves :</a:t>
            </a:r>
          </a:p>
          <a:p xmlns:a="http://schemas.openxmlformats.org/drawingml/2006/main">
            <a:r>
              <a:t>- docker-compose.yml</a:t>
            </a:r>
          </a:p>
          <a:p xmlns:a="http://schemas.openxmlformats.org/drawingml/2006/main">
            <a:r>
              <a:t>- Dockerfiles des 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a:t>
            </a:r>
          </a:p>
          <a:p xmlns:a="http://schemas.openxmlformats.org/drawingml/2006/main">
            <a:r>
              <a:t/>
            </a:r>
          </a:p>
          <a:p xmlns:a="http://schemas.openxmlformats.org/drawingml/2006/main">
            <a:r>
              <a:t>feedparser a été choisi parce qu’il normalise déjà de nombreuses variantes RSS et Atom. Le scraper reste producteur uniquement : il ne connaît ni MySQL ni Grafana. Cette séparation facilite les tests et permet de changer la destination sans réécrire la collecte.</a:t>
            </a:r>
          </a:p>
          <a:p xmlns:a="http://schemas.openxmlformats.org/drawingml/2006/main">
            <a:r>
              <a:t/>
            </a:r>
          </a:p>
          <a:p xmlns:a="http://schemas.openxmlformats.org/drawingml/2006/main">
            <a:r>
              <a:t>Sources et preuves :</a:t>
            </a:r>
          </a:p>
          <a:p xmlns:a="http://schemas.openxmlformats.org/drawingml/2006/main">
            <a:r>
              <a:t>- app/scrap/cryptoscrap.py</a:t>
            </a:r>
          </a:p>
          <a:p xmlns:a="http://schemas.openxmlformats.org/drawingml/2006/main">
            <a:r>
              <a:t>- tests/test_scraper.py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15</a:t>
            </a:r>
          </a:p>
          <a:p xmlns:a="http://schemas.openxmlformats.org/drawingml/2006/main">
            <a:r>
              <a:t/>
            </a:r>
          </a:p>
          <a:p xmlns:a="http://schemas.openxmlformats.org/drawingml/2006/main">
            <a:r>
              <a:t>RabbitMQ correspond à une file de travail avec acquittement, requeue et consommateurs concurrents. Kafka serait utile pour conserver un journal rejouable, gérer plusieurs groupes de consommateurs indépendants ou atteindre des débits bien supérieurs. Pour deux RSS et une chaîne unique, RabbitMQ réduit la complexité opérationnelle.</a:t>
            </a:r>
          </a:p>
          <a:p xmlns:a="http://schemas.openxmlformats.org/drawingml/2006/main">
            <a:r>
              <a:t/>
            </a:r>
          </a:p>
          <a:p xmlns:a="http://schemas.openxmlformats.org/drawingml/2006/main">
            <a:r>
              <a:t>Sources et preuves :</a:t>
            </a:r>
          </a:p>
          <a:p xmlns:a="http://schemas.openxmlformats.org/drawingml/2006/main">
            <a:r>
              <a:t>- app/scrap/main.py</a:t>
            </a:r>
          </a:p>
          <a:p xmlns:a="http://schemas.openxmlformats.org/drawingml/2006/main">
            <a:r>
              <a:t>- app/analytics/main.py</a:t>
            </a:r>
          </a:p>
          <a:p xmlns:a="http://schemas.openxmlformats.org/drawingml/2006/main">
            <a:r>
              <a:t>- docker-compose.yml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15</a:t>
            </a:r>
          </a:p>
          <a:p xmlns:a="http://schemas.openxmlformats.org/drawingml/2006/main">
            <a:r>
              <a:t/>
            </a:r>
          </a:p>
          <a:p xmlns:a="http://schemas.openxmlformats.org/drawingml/2006/main">
            <a:r>
              <a:t>L’approche lexicale est déterministe, rapide, locale et explicable devant un jury. Un Transformer pourrait mieux comprendre le contexte, mais nécessiterait un jeu annoté, une métrique de qualité et davantage de ressources. Sans validation, remplacer le lexique par un modèle complexe donnerait une impression de sophistication sans preuve de gain.</a:t>
            </a:r>
          </a:p>
          <a:p xmlns:a="http://schemas.openxmlformats.org/drawingml/2006/main">
            <a:r>
              <a:t/>
            </a:r>
          </a:p>
          <a:p xmlns:a="http://schemas.openxmlformats.org/drawingml/2006/main">
            <a:r>
              <a:t>Sources et preuves :</a:t>
            </a:r>
          </a:p>
          <a:p xmlns:a="http://schemas.openxmlformats.org/drawingml/2006/main">
            <a:r>
              <a:t>- app/analytics/analytics.py</a:t>
            </a:r>
          </a:p>
          <a:p xmlns:a="http://schemas.openxmlformats.org/drawingml/2006/main">
            <a:r>
              <a:t>- tests/test_analytics.py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0 min 55</a:t>
            </a:r>
          </a:p>
          <a:p xmlns:a="http://schemas.openxmlformats.org/drawingml/2006/main">
            <a:r>
              <a:t/>
            </a:r>
          </a:p>
          <a:p xmlns:a="http://schemas.openxmlformats.org/drawingml/2006/main">
            <a:r>
              <a:t>L’événement enrichi conserve le message source et ajoute uniquement les résultats analytiques. Le même article_id traverse toute la chaîne, ce qui facilite le diagnostic. Un schéma versionné serait la prochaine étape si plusieurs versions de producteurs devaient cohabiter.</a:t>
            </a:r>
          </a:p>
          <a:p xmlns:a="http://schemas.openxmlformats.org/drawingml/2006/main">
            <a:r>
              <a:t/>
            </a:r>
          </a:p>
          <a:p xmlns:a="http://schemas.openxmlformats.org/drawingml/2006/main">
            <a:r>
              <a:t>Sources et preuves :</a:t>
            </a:r>
          </a:p>
          <a:p xmlns:a="http://schemas.openxmlformats.org/drawingml/2006/main">
            <a:r>
              <a:t>- app/analytics/main.py</a:t>
            </a:r>
          </a:p>
          <a:p xmlns:a="http://schemas.openxmlformats.org/drawingml/2006/main">
            <a:r>
              <a:t>- app/analytics/analytics.py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15</a:t>
            </a:r>
          </a:p>
          <a:p xmlns:a="http://schemas.openxmlformats.org/drawingml/2006/main">
            <a:r>
              <a:t/>
            </a:r>
          </a:p>
          <a:p xmlns:a="http://schemas.openxmlformats.org/drawingml/2006/main">
            <a:r>
              <a:t>MySQL convient parce que les champs sont stables, les contraintes d’unicité essentielles et les requêtes Grafana structurées. MongoDB offrirait plus de souplesse documentaire, mais apporterait peu ici. La transaction regroupe l’article et les agrégats ; l’ACK RabbitMQ n’arrive qu’après la réussite du stockage.</a:t>
            </a:r>
          </a:p>
          <a:p xmlns:a="http://schemas.openxmlformats.org/drawingml/2006/main">
            <a:r>
              <a:t/>
            </a:r>
          </a:p>
          <a:p xmlns:a="http://schemas.openxmlformats.org/drawingml/2006/main">
            <a:r>
              <a:t>Sources et preuves :</a:t>
            </a:r>
          </a:p>
          <a:p xmlns:a="http://schemas.openxmlformats.org/drawingml/2006/main">
            <a:r>
              <a:t>- app/queue/database/storage.py</a:t>
            </a:r>
          </a:p>
          <a:p xmlns:a="http://schemas.openxmlformats.org/drawingml/2006/main">
            <a:r>
              <a:t>- script/createTableCrypto.sql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10</a:t>
            </a:r>
          </a:p>
          <a:p xmlns:a="http://schemas.openxmlformats.org/drawingml/2006/main">
            <a:r>
              <a:t/>
            </a:r>
          </a:p>
          <a:p xmlns:a="http://schemas.openxmlformats.org/drawingml/2006/main">
            <a:r>
              <a:t>Les agrégats sont mis à jour lors de chaque nouvelle insertion. Grafana évite donc de rescanner tous les articles toutes les trente secondes. Ce choix déplace un petit coût vers l’écriture et stabilise la lecture. Pour de très gros volumes, un moteur OLAP en colonnes pourrait remplacer ou compléter MySQL.</a:t>
            </a:r>
          </a:p>
          <a:p xmlns:a="http://schemas.openxmlformats.org/drawingml/2006/main">
            <a:r>
              <a:t/>
            </a:r>
          </a:p>
          <a:p xmlns:a="http://schemas.openxmlformats.org/drawingml/2006/main">
            <a:r>
              <a:t>Sources et preuves :</a:t>
            </a:r>
          </a:p>
          <a:p xmlns:a="http://schemas.openxmlformats.org/drawingml/2006/main">
            <a:r>
              <a:t>- app/queue/database/storage.py</a:t>
            </a:r>
          </a:p>
          <a:p xmlns:a="http://schemas.openxmlformats.org/drawingml/2006/main">
            <a:r>
              <a:t>- grafana/dashboards/crypto-news.json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a:t>
            </a:r>
          </a:p>
          <a:p xmlns:a="http://schemas.openxmlformats.org/drawingml/2006/main">
            <a:r>
              <a:t/>
            </a:r>
          </a:p>
          <a:p xmlns:a="http://schemas.openxmlformats.org/drawingml/2006/main">
            <a:r>
              <a:t>Grafana a été retenu pour ses requêtes temporelles, son auto-refresh et son provisioning. Développer une interface web sur mesure aurait donné davantage de contrôle visuel, mais aurait détourné du sujet data. Grafana reste découplé : sa panne n’empêche ni l’ingestion ni le stockage.</a:t>
            </a:r>
          </a:p>
          <a:p xmlns:a="http://schemas.openxmlformats.org/drawingml/2006/main">
            <a:r>
              <a:t/>
            </a:r>
          </a:p>
          <a:p xmlns:a="http://schemas.openxmlformats.org/drawingml/2006/main">
            <a:r>
              <a:t>Sources et preuves :</a:t>
            </a:r>
          </a:p>
          <a:p xmlns:a="http://schemas.openxmlformats.org/drawingml/2006/main">
            <a:r>
              <a:t>- grafana/dashboards/crypto-news.json</a:t>
            </a:r>
          </a:p>
          <a:p xmlns:a="http://schemas.openxmlformats.org/drawingml/2006/main">
            <a:r>
              <a:t>- grafana/provisioning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a:t>
            </a:r>
          </a:p>
          <a:p xmlns:a="http://schemas.openxmlformats.org/drawingml/2006/main">
            <a:r>
              <a:t/>
            </a:r>
          </a:p>
          <a:p xmlns:a="http://schemas.openxmlformats.org/drawingml/2006/main">
            <a:r>
              <a:t>Cette chronologie distingue le temps métier du temps système. La latence enregistrée commence à collected_at, pas au moment exact où l’éditeur publie. Elle mesure donc le pipeline après collecte. Cette limite doit être annoncée pour ne pas surinterpréter la métrique.</a:t>
            </a:r>
          </a:p>
          <a:p xmlns:a="http://schemas.openxmlformats.org/drawingml/2006/main">
            <a:r>
              <a:t/>
            </a:r>
          </a:p>
          <a:p xmlns:a="http://schemas.openxmlformats.org/drawingml/2006/main">
            <a:r>
              <a:t>Sources et preuves :</a:t>
            </a:r>
          </a:p>
          <a:p xmlns:a="http://schemas.openxmlformats.org/drawingml/2006/main">
            <a:r>
              <a:t>- app/queue/database/storage.py, calcul latency_ms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20</a:t>
            </a:r>
          </a:p>
          <a:p xmlns:a="http://schemas.openxmlformats.org/drawingml/2006/main">
            <a:r>
              <a:t/>
            </a:r>
          </a:p>
          <a:p xmlns:a="http://schemas.openxmlformats.org/drawingml/2006/main">
            <a:r>
              <a:t>RabbitMQ peut redélivrer un message si le worker tombe avant l’ACK. Le système ne promet donc pas exactement une fois. Les erreurs transitoires sont rejouées. Les messages invalides ne doivent pas tourner indéfiniment : ils sont rejetés et routés vers une dead-letter queue. L’idempotence rend les redélivraisons acceptables.</a:t>
            </a:r>
          </a:p>
          <a:p xmlns:a="http://schemas.openxmlformats.org/drawingml/2006/main">
            <a:r>
              <a:t/>
            </a:r>
          </a:p>
          <a:p xmlns:a="http://schemas.openxmlformats.org/drawingml/2006/main">
            <a:r>
              <a:t>Sources et preuves :</a:t>
            </a:r>
          </a:p>
          <a:p xmlns:a="http://schemas.openxmlformats.org/drawingml/2006/main">
            <a:r>
              <a:t>- app/analytics/main.py</a:t>
            </a:r>
          </a:p>
          <a:p xmlns:a="http://schemas.openxmlformats.org/drawingml/2006/main">
            <a:r>
              <a:t>- app/queue/database/storage.py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30</a:t>
            </a:r>
          </a:p>
          <a:p xmlns:a="http://schemas.openxmlformats.org/drawingml/2006/main">
            <a:r>
              <a:t/>
            </a:r>
          </a:p>
          <a:p xmlns:a="http://schemas.openxmlformats.org/drawingml/2006/main">
            <a:r>
              <a:t>C’est le scénario de panne central. Après le commit mais avant l’ACK, RabbitMQ considère le message non terminé et le redélivre. INSERT IGNORE retourne zéro ligne pour le doublon ; le code sort alors sans modifier les agrégats. Cette combinaison donne une livraison au moins une fois avec un effet idempotent en base.</a:t>
            </a:r>
          </a:p>
          <a:p xmlns:a="http://schemas.openxmlformats.org/drawingml/2006/main">
            <a:r>
              <a:t/>
            </a:r>
          </a:p>
          <a:p xmlns:a="http://schemas.openxmlformats.org/drawingml/2006/main">
            <a:r>
              <a:t>Sources et preuves :</a:t>
            </a:r>
          </a:p>
          <a:p xmlns:a="http://schemas.openxmlformats.org/drawingml/2006/main">
            <a:r>
              <a:t>- app/queue/database/storage.py, méthode store et callback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15</a:t>
            </a:r>
          </a:p>
          <a:p xmlns:a="http://schemas.openxmlformats.org/drawingml/2006/main">
            <a:r>
              <a:t/>
            </a:r>
          </a:p>
          <a:p xmlns:a="http://schemas.openxmlformats.org/drawingml/2006/main">
            <a:r>
              <a:t>La DLQ sépare les erreurs permanentes des indisponibilités temporaires. Sans elle, un reject sans requeue ferait disparaître la preuve ; avec une requeue systématique, un poison message tournerait sans fin. Un exchange direct commun route chaque message vers la DLQ liée à sa queue d’origine.</a:t>
            </a:r>
          </a:p>
          <a:p xmlns:a="http://schemas.openxmlformats.org/drawingml/2006/main">
            <a:r>
              <a:t/>
            </a:r>
          </a:p>
          <a:p xmlns:a="http://schemas.openxmlformats.org/drawingml/2006/main">
            <a:r>
              <a:t>Sources et preuves :</a:t>
            </a:r>
          </a:p>
          <a:p xmlns:a="http://schemas.openxmlformats.org/drawingml/2006/main">
            <a:r>
              <a:t>- app/analytics/main.py, declare_queue_with_dlq</a:t>
            </a:r>
          </a:p>
          <a:p xmlns:a="http://schemas.openxmlformats.org/drawingml/2006/main">
            <a:r>
              <a:t>- app/queue/database/storage.py, declare_queue_with_dlq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25</a:t>
            </a:r>
          </a:p>
          <a:p xmlns:a="http://schemas.openxmlformats.org/drawingml/2006/main">
            <a:r>
              <a:t/>
            </a:r>
          </a:p>
          <a:p xmlns:a="http://schemas.openxmlformats.org/drawingml/2006/main">
            <a:r>
              <a:t>Analytics est sans état local : plusieurs réplicas peuvent partager raw_news. RabbitMQ répartit les messages et prefetch évite qu’un seul worker réserve tout le backlog. J’ai retiré le container_name fixe qui empêchait Compose de créer plusieurs instances. Le stockage reste à un replica pour éviter de prétendre avoir validé la concurrence MySQL sans benchmark.</a:t>
            </a:r>
          </a:p>
          <a:p xmlns:a="http://schemas.openxmlformats.org/drawingml/2006/main">
            <a:r>
              <a:t/>
            </a:r>
          </a:p>
          <a:p xmlns:a="http://schemas.openxmlformats.org/drawingml/2006/main">
            <a:r>
              <a:t>Sources et preuves :</a:t>
            </a:r>
          </a:p>
          <a:p xmlns:a="http://schemas.openxmlformats.org/drawingml/2006/main">
            <a:r>
              <a:t>- docker-compose.yml, service analytics</a:t>
            </a:r>
          </a:p>
          <a:p xmlns:a="http://schemas.openxmlformats.org/drawingml/2006/main">
            <a:r>
              <a:t>- README.md, commande --scale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10</a:t>
            </a:r>
          </a:p>
          <a:p xmlns:a="http://schemas.openxmlformats.org/drawingml/2006/main">
            <a:r>
              <a:t/>
            </a:r>
          </a:p>
          <a:p xmlns:a="http://schemas.openxmlformats.org/drawingml/2006/main">
            <a:r>
              <a:t>Le débit et la latence sont matérialisés dans MySQL puis visualisés dans Grafana. RabbitMQ apporte la profondeur de queue et le nombre de consommateurs. Ces métriques permettent de décider si un replica supplémentaire suffit. Un test de charge reste nécessaire pour déterminer le véritable seuil du système.</a:t>
            </a:r>
          </a:p>
          <a:p xmlns:a="http://schemas.openxmlformats.org/drawingml/2006/main">
            <a:r>
              <a:t/>
            </a:r>
          </a:p>
          <a:p xmlns:a="http://schemas.openxmlformats.org/drawingml/2006/main">
            <a:r>
              <a:t>Sources et preuves :</a:t>
            </a:r>
          </a:p>
          <a:p xmlns:a="http://schemas.openxmlformats.org/drawingml/2006/main">
            <a:r>
              <a:t>- pipeline_hourly dans app/queue/database/storage.py</a:t>
            </a:r>
          </a:p>
          <a:p xmlns:a="http://schemas.openxmlformats.org/drawingml/2006/main">
            <a:r>
              <a:t>- docs/assets/rabbitmq-overview.png</a:t>
            </a:r>
          </a:p>
          <a:p xmlns:a="http://schemas.openxmlformats.org/drawingml/2006/main">
            <a:r>
              <a:t>- grafana/dashboards/crypto-news.json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25</a:t>
            </a:r>
          </a:p>
          <a:p xmlns:a="http://schemas.openxmlformats.org/drawingml/2006/main">
            <a:r>
              <a:t/>
            </a:r>
          </a:p>
          <a:p xmlns:a="http://schemas.openxmlformats.org/drawingml/2006/main">
            <a:r>
              <a:t>Je ne qualifie pas le jeu de données actuel de massif. La force du projet porte sur la vélocité, la fiabilité et le traitement incrémental. La variété reste limitée car deux producteurs RSS ne créent pas deux formats. La formulation crédible est : architecture orientée Big Data, montée en charge démontrable mais pas encore benchmarkée.</a:t>
            </a:r>
          </a:p>
          <a:p xmlns:a="http://schemas.openxmlformats.org/drawingml/2006/main">
            <a:r>
              <a:t/>
            </a:r>
          </a:p>
          <a:p xmlns:a="http://schemas.openxmlformats.org/drawingml/2006/main">
            <a:r>
              <a:t>Sources et preuves :</a:t>
            </a:r>
          </a:p>
          <a:p xmlns:a="http://schemas.openxmlformats.org/drawingml/2006/main">
            <a:r>
              <a:t>- docs/REPORT.md, Big-data orientation and scalability</a:t>
            </a:r>
          </a:p>
          <a:p xmlns:a="http://schemas.openxmlformats.org/drawingml/2006/main">
            <a:r>
              <a:t>- docs/PREPARATION_SOUTENANCE.md, Niveau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10</a:t>
            </a:r>
          </a:p>
          <a:p xmlns:a="http://schemas.openxmlformats.org/drawingml/2006/main">
            <a:r>
              <a:t/>
            </a:r>
          </a:p>
          <a:p xmlns:a="http://schemas.openxmlformats.org/drawingml/2006/main">
            <a:r>
              <a:t>Compose améliore la reprise mais ne crée pas une plateforme haute disponibilité. Les deux RSS limitent la diversité. Le score lexical doit être présenté comme indicateur explicable, non comme vérité sémantique. Dire ces limites renforce la soutenance, car chaque amélioration future correspond à un risque identifié.</a:t>
            </a:r>
          </a:p>
          <a:p xmlns:a="http://schemas.openxmlformats.org/drawingml/2006/main">
            <a:r>
              <a:t/>
            </a:r>
          </a:p>
          <a:p xmlns:a="http://schemas.openxmlformats.org/drawingml/2006/main">
            <a:r>
              <a:t>Sources et preuves :</a:t>
            </a:r>
          </a:p>
          <a:p xmlns:a="http://schemas.openxmlformats.org/drawingml/2006/main">
            <a:r>
              <a:t>- docs/PREPARATION_SOUTENANCE.md, Limites à reconnaître</a:t>
            </a:r>
          </a:p>
          <a:p xmlns:a="http://schemas.openxmlformats.org/drawingml/2006/main">
            <a:r>
              <a:t>- docs/REPORT.md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3 min 30</a:t>
            </a:r>
          </a:p>
          <a:p xmlns:a="http://schemas.openxmlformats.org/drawingml/2006/main">
            <a:r>
              <a:t/>
            </a:r>
          </a:p>
          <a:p xmlns:a="http://schemas.openxmlformats.org/drawingml/2006/main">
            <a:r>
              <a:t>La démonstration commence par docker compose ps, puis RabbitMQ pour montrer raw_news, enriched_news et les DLQ. Je montre ensuite trois consumers Analytics, puis Grafana. Si le réseau externe ne publie rien, les captures et les données existantes suffisent. La prochaine évolution prioritaire est un générateur de charge avec comparaison un, deux et trois workers.</a:t>
            </a:r>
          </a:p>
          <a:p xmlns:a="http://schemas.openxmlformats.org/drawingml/2006/main">
            <a:r>
              <a:t/>
            </a:r>
          </a:p>
          <a:p xmlns:a="http://schemas.openxmlformats.org/drawingml/2006/main">
            <a:r>
              <a:t>Sources et preuves :</a:t>
            </a:r>
          </a:p>
          <a:p xmlns:a="http://schemas.openxmlformats.org/drawingml/2006/main">
            <a:r>
              <a:t>- docker-compose.yml</a:t>
            </a:r>
          </a:p>
          <a:p xmlns:a="http://schemas.openxmlformats.org/drawingml/2006/main">
            <a:r>
              <a:t>- docs/assets/rabbitmq-queues.png</a:t>
            </a:r>
          </a:p>
          <a:p xmlns:a="http://schemas.openxmlformats.org/drawingml/2006/main">
            <a:r>
              <a:t>- docs/assets/grafana-dashboard.png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0 min 50</a:t>
            </a:r>
          </a:p>
          <a:p xmlns:a="http://schemas.openxmlformats.org/drawingml/2006/main">
            <a:r>
              <a:t/>
            </a:r>
          </a:p>
          <a:p xmlns:a="http://schemas.openxmlformats.org/drawingml/2006/main">
            <a:r>
              <a:t>Crypto Viz couvre toute la chaîne : acquisition, transport asynchrone, enrichissement, stockage transactionnel, agrégats et visualisation. Les deux améliorations apportées renforcent la défense technique : les erreurs permanentes restent inspectables et Analytics scale horizontalement. Le projet démontre des principes Big Data sans prétendre avoir déjà un volume massif.</a:t>
            </a:r>
          </a:p>
          <a:p xmlns:a="http://schemas.openxmlformats.org/drawingml/2006/main">
            <a:r>
              <a:t/>
            </a:r>
          </a:p>
          <a:p xmlns:a="http://schemas.openxmlformats.org/drawingml/2006/main">
            <a:r>
              <a:t>Sources et preuves :</a:t>
            </a:r>
          </a:p>
          <a:p xmlns:a="http://schemas.openxmlformats.org/drawingml/2006/main">
            <a:r>
              <a:t>- README.md</a:t>
            </a:r>
          </a:p>
          <a:p xmlns:a="http://schemas.openxmlformats.org/drawingml/2006/main">
            <a:r>
              <a:t>- docs/REPORT.md</a:t>
            </a:r>
          </a:p>
          <a:p xmlns:a="http://schemas.openxmlformats.org/drawingml/2006/main">
            <a:r>
              <a:t>- docker-compose.yml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c26db1772d49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f2b20fe7e34d06" /><Relationship Type="http://schemas.openxmlformats.org/officeDocument/2006/relationships/slideLayout" Target="/ppt/slideLayouts/slideLayout1.xml" Id="R7464ae1193324a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64ae1193324a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1051a05ef804c87" /><Relationship Type="http://schemas.openxmlformats.org/officeDocument/2006/relationships/notesSlide" Target="/ppt/notesSlides/notesSlide1.xml" Id="Rff02901eb73e4a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4db5159799a42d2" /><Relationship Type="http://schemas.openxmlformats.org/officeDocument/2006/relationships/notesSlide" Target="/ppt/notesSlides/notesSlide2.xml" Id="Rb81ba0969abd4b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ec2648832034d31" /><Relationship Type="http://schemas.openxmlformats.org/officeDocument/2006/relationships/notesSlide" Target="/ppt/notesSlides/notesSlide3.xml" Id="R54acb9f4e9d549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c2bc6c9a08d4fc8" /><Relationship Type="http://schemas.openxmlformats.org/officeDocument/2006/relationships/notesSlide" Target="/ppt/notesSlides/notesSlide4.xml" Id="R3b793bed36844a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f3731e66644f41" /><Relationship Type="http://schemas.openxmlformats.org/officeDocument/2006/relationships/notesSlide" Target="/ppt/notesSlides/notesSlide5.xml" Id="R115e93391b7a4f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41ced3308c64a13" /><Relationship Type="http://schemas.openxmlformats.org/officeDocument/2006/relationships/notesSlide" Target="/ppt/notesSlides/notesSlide6.xml" Id="R2434e6fe133044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20cb8b11594cf7" /><Relationship Type="http://schemas.openxmlformats.org/officeDocument/2006/relationships/notesSlide" Target="/ppt/notesSlides/notesSlide7.xml" Id="R3beebb2f8a904b9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2e0e86456904823" /><Relationship Type="http://schemas.openxmlformats.org/officeDocument/2006/relationships/notesSlide" Target="/ppt/notesSlides/notesSlide8.xml" Id="R518a4d4007e441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79715d6544143ea" /><Relationship Type="http://schemas.openxmlformats.org/officeDocument/2006/relationships/notesSlide" Target="/ppt/notesSlides/notesSlide9.xml" Id="Rbeb497d920064b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df5ca2bd4774d18" /><Relationship Type="http://schemas.openxmlformats.org/officeDocument/2006/relationships/notesSlide" Target="/ppt/notesSlides/notesSlide10.xml" Id="R0590f458b1b849a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759685c9bd14de3" /><Relationship Type="http://schemas.openxmlformats.org/officeDocument/2006/relationships/notesSlide" Target="/ppt/notesSlides/notesSlide11.xml" Id="R3a5e651d1eaa41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43dfbae78f5432d" /><Relationship Type="http://schemas.openxmlformats.org/officeDocument/2006/relationships/notesSlide" Target="/ppt/notesSlides/notesSlide12.xml" Id="R53682b5685e94a6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905d80f0ae5451c" /><Relationship Type="http://schemas.openxmlformats.org/officeDocument/2006/relationships/notesSlide" Target="/ppt/notesSlides/notesSlide13.xml" Id="R5669dc6d60664d0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0ead20749784dc1" /><Relationship Type="http://schemas.openxmlformats.org/officeDocument/2006/relationships/notesSlide" Target="/ppt/notesSlides/notesSlide14.xml" Id="R493baf8861c4459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6c2041f2e13478f" /><Relationship Type="http://schemas.openxmlformats.org/officeDocument/2006/relationships/notesSlide" Target="/ppt/notesSlides/notesSlide15.xml" Id="R168916e0320e41a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422e47cf6bb4030" /><Relationship Type="http://schemas.openxmlformats.org/officeDocument/2006/relationships/notesSlide" Target="/ppt/notesSlides/notesSlide16.xml" Id="Rbb2939dabb06467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251651acf03416e" /><Relationship Type="http://schemas.openxmlformats.org/officeDocument/2006/relationships/notesSlide" Target="/ppt/notesSlides/notesSlide17.xml" Id="R12b4c484dcd7443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7063d64fd524686" /><Relationship Type="http://schemas.openxmlformats.org/officeDocument/2006/relationships/notesSlide" Target="/ppt/notesSlides/notesSlide18.xml" Id="R912f53d184f9448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129ff64395340f1" /><Relationship Type="http://schemas.openxmlformats.org/officeDocument/2006/relationships/notesSlide" Target="/ppt/notesSlides/notesSlide19.xml" Id="R4f1223c4fc834a5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e0e7ff276424f31" /><Relationship Type="http://schemas.openxmlformats.org/officeDocument/2006/relationships/notesSlide" Target="/ppt/notesSlides/notesSlide20.xml" Id="R8d0389a0e2204b5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492407218194e92" /><Relationship Type="http://schemas.openxmlformats.org/officeDocument/2006/relationships/notesSlide" Target="/ppt/notesSlides/notesSlide21.xml" Id="R72d861f5009f46a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bdecdfcb8e64771" /><Relationship Type="http://schemas.openxmlformats.org/officeDocument/2006/relationships/notesSlide" Target="/ppt/notesSlides/notesSlide22.xml" Id="Raaf55553c16e473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68205aa0446434c" /><Relationship Type="http://schemas.openxmlformats.org/officeDocument/2006/relationships/notesSlide" Target="/ppt/notesSlides/notesSlide23.xml" Id="R20e7d0deb36f4c1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0567b64d4ac4035" /><Relationship Type="http://schemas.openxmlformats.org/officeDocument/2006/relationships/notesSlide" Target="/ppt/notesSlides/notesSlide24.xml" Id="R5f674ee9b6d64b9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0678070cb2d4d63" /><Relationship Type="http://schemas.openxmlformats.org/officeDocument/2006/relationships/notesSlide" Target="/ppt/notesSlides/notesSlide25.xml" Id="R0163d12dabdb4401" /></Relationships>
</file>

<file path=ppt/slides/slide1.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D4ADE0-438C-455C-983E-B1E2938CEB27}"/>
              </a:ext>
            </a:extLst>
          </p:cNvPr>
          <p:cNvSpPr>
            <a:spLocks xmlns:a="http://schemas.openxmlformats.org/drawingml/2006/main" noGrp="1"/>
          </p:cNvSpPr>
          <p:nvPr/>
        </p:nvSpPr>
        <p:spPr>
          <a:xfrm xmlns:a="http://schemas.openxmlformats.org/drawingml/2006/main">
            <a:off x="685800" y="666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ED3C6"/>
                </a:solidFill>
                <a:latin typeface="Arial"/>
                <a:ea typeface="Arial"/>
                <a:cs typeface="Arial"/>
              </a:defRPr>
            </a:pPr>
            <a:r>
              <a:rPr sz="1125" b="1">
                <a:solidFill>
                  <a:srgbClr val="2ED3C6"/>
                </a:solidFill>
                <a:latin typeface="Arial"/>
                <a:ea typeface="Arial"/>
                <a:cs typeface="Arial"/>
              </a:rPr>
              <a:t>PROJET BIG DATA</a:t>
            </a:r>
          </a:p>
        </p:txBody>
      </p:sp>
      <p:sp>
        <p:nvSpPr>
          <p:cNvPr id="2" name="">
            <a:extLst xmlns:a="http://schemas.openxmlformats.org/drawingml/2006/main">
              <a:ext uri="{FF2B5EF4-FFF2-40B4-BE49-F238E27FC236}">
                <a16:creationId xmlns:a16="http://schemas.microsoft.com/office/drawing/2014/main" id="{55C807D2-E047-4FD7-8E22-95E98F5DCDB4}"/>
              </a:ext>
            </a:extLst>
          </p:cNvPr>
          <p:cNvSpPr>
            <a:spLocks xmlns:a="http://schemas.openxmlformats.org/drawingml/2006/main" noGrp="1"/>
          </p:cNvSpPr>
          <p:nvPr/>
        </p:nvSpPr>
        <p:spPr>
          <a:xfrm xmlns:a="http://schemas.openxmlformats.org/drawingml/2006/main">
            <a:off x="685800" y="1381125"/>
            <a:ext cx="781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350" b="1">
                <a:solidFill>
                  <a:srgbClr val="EEF6FF"/>
                </a:solidFill>
                <a:latin typeface="Arial"/>
                <a:ea typeface="Arial"/>
                <a:cs typeface="Arial"/>
              </a:defRPr>
            </a:pPr>
            <a:r>
              <a:rPr sz="4350" b="1">
                <a:solidFill>
                  <a:srgbClr val="EEF6FF"/>
                </a:solidFill>
                <a:latin typeface="Arial"/>
                <a:ea typeface="Arial"/>
                <a:cs typeface="Arial"/>
              </a:rPr>
              <a:t>Crypto Viz</a:t>
            </a:r>
          </a:p>
        </p:txBody>
      </p:sp>
      <p:sp>
        <p:nvSpPr>
          <p:cNvPr id="3" name="">
            <a:extLst xmlns:a="http://schemas.openxmlformats.org/drawingml/2006/main">
              <a:ext uri="{FF2B5EF4-FFF2-40B4-BE49-F238E27FC236}">
                <a16:creationId xmlns:a16="http://schemas.microsoft.com/office/drawing/2014/main" id="{C860E3AD-A504-427B-AD51-45EC55398AAF}"/>
              </a:ext>
            </a:extLst>
          </p:cNvPr>
          <p:cNvSpPr>
            <a:spLocks xmlns:a="http://schemas.openxmlformats.org/drawingml/2006/main" noGrp="1"/>
          </p:cNvSpPr>
          <p:nvPr/>
        </p:nvSpPr>
        <p:spPr>
          <a:xfrm xmlns:a="http://schemas.openxmlformats.org/drawingml/2006/main">
            <a:off x="723900" y="2333625"/>
            <a:ext cx="876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0">
                <a:solidFill>
                  <a:srgbClr val="2ED3C6"/>
                </a:solidFill>
                <a:latin typeface="Arial"/>
                <a:ea typeface="Arial"/>
                <a:cs typeface="Arial"/>
              </a:defRPr>
            </a:pPr>
            <a:r>
              <a:rPr sz="2250" b="0">
                <a:solidFill>
                  <a:srgbClr val="2ED3C6"/>
                </a:solidFill>
                <a:latin typeface="Arial"/>
                <a:ea typeface="Arial"/>
                <a:cs typeface="Arial"/>
              </a:rPr>
              <a:t>Du flux d’actualités aux indicateurs</a:t>
            </a:r>
          </a:p>
        </p:txBody>
      </p:sp>
      <p:sp>
        <p:nvSpPr>
          <p:cNvPr id="4" name="">
            <a:extLst xmlns:a="http://schemas.openxmlformats.org/drawingml/2006/main">
              <a:ext uri="{FF2B5EF4-FFF2-40B4-BE49-F238E27FC236}">
                <a16:creationId xmlns:a16="http://schemas.microsoft.com/office/drawing/2014/main" id="{D80DC0C1-CFDC-46DB-9B8A-1A92D994FBDF}"/>
              </a:ext>
            </a:extLst>
          </p:cNvPr>
          <p:cNvSpPr>
            <a:spLocks xmlns:a="http://schemas.openxmlformats.org/drawingml/2006/main" noGrp="1"/>
          </p:cNvSpPr>
          <p:nvPr/>
        </p:nvSpPr>
        <p:spPr>
          <a:xfrm xmlns:a="http://schemas.openxmlformats.org/drawingml/2006/main">
            <a:off x="723900" y="30956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9CB1C5"/>
                </a:solidFill>
                <a:latin typeface="Arial"/>
                <a:ea typeface="Arial"/>
                <a:cs typeface="Arial"/>
              </a:defRPr>
            </a:pPr>
            <a:r>
              <a:rPr sz="1650" b="0">
                <a:solidFill>
                  <a:srgbClr val="9CB1C5"/>
                </a:solidFill>
                <a:latin typeface="Arial"/>
                <a:ea typeface="Arial"/>
                <a:cs typeface="Arial"/>
              </a:rPr>
              <a:t>Pipeline continu, résilient et observable</a:t>
            </a:r>
          </a:p>
        </p:txBody>
      </p:sp>
      <p:sp>
        <p:nvSpPr>
          <p:cNvPr id="5" name="">
            <a:extLst xmlns:a="http://schemas.openxmlformats.org/drawingml/2006/main">
              <a:ext uri="{FF2B5EF4-FFF2-40B4-BE49-F238E27FC236}">
                <a16:creationId xmlns:a16="http://schemas.microsoft.com/office/drawing/2014/main" id="{7FDEF6BB-75B1-4C99-9530-E8F1C8B81169}"/>
              </a:ext>
            </a:extLst>
          </p:cNvPr>
          <p:cNvSpPr>
            <a:spLocks xmlns:a="http://schemas.openxmlformats.org/drawingml/2006/main" noGrp="1"/>
          </p:cNvSpPr>
          <p:nvPr/>
        </p:nvSpPr>
        <p:spPr>
          <a:xfrm xmlns:a="http://schemas.openxmlformats.org/drawingml/2006/main">
            <a:off x="723900" y="4429125"/>
            <a:ext cx="4381500" cy="762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006D74E-83B8-48EF-9859-27ADC8673DBC}"/>
              </a:ext>
            </a:extLst>
          </p:cNvPr>
          <p:cNvSpPr>
            <a:spLocks xmlns:a="http://schemas.openxmlformats.org/drawingml/2006/main" noGrp="1"/>
          </p:cNvSpPr>
          <p:nvPr/>
        </p:nvSpPr>
        <p:spPr>
          <a:xfrm xmlns:a="http://schemas.openxmlformats.org/drawingml/2006/main">
            <a:off x="723900" y="476250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9CB1C5"/>
                </a:solidFill>
                <a:latin typeface="Arial"/>
                <a:ea typeface="Arial"/>
                <a:cs typeface="Arial"/>
              </a:defRPr>
            </a:pPr>
            <a:r>
              <a:rPr sz="1350" b="0">
                <a:solidFill>
                  <a:srgbClr val="9CB1C5"/>
                </a:solidFill>
                <a:latin typeface="Arial"/>
                <a:ea typeface="Arial"/>
                <a:cs typeface="Arial"/>
              </a:rPr>
              <a:t>Soutenance technique · 30 minutes</a:t>
            </a:r>
          </a:p>
        </p:txBody>
      </p:sp>
    </p:spTree>
    <p:extLst>
      <p:ext uri="{BB962C8B-B14F-4D97-AF65-F5344CB8AC3E}">
        <p14:creationId xmlns:p14="http://schemas.microsoft.com/office/powerpoint/2010/main" val="535498356"/>
      </p:ext>
    </p:extLst>
  </p:cSld>
</p:sld>
</file>

<file path=ppt/slides/slide2.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6FC46AE-BA3E-4C4C-952D-83B751680F1D}"/>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Le problème</a:t>
            </a:r>
          </a:p>
        </p:txBody>
      </p:sp>
      <p:sp>
        <p:nvSpPr>
          <p:cNvPr id="2" name="">
            <a:extLst xmlns:a="http://schemas.openxmlformats.org/drawingml/2006/main">
              <a:ext uri="{FF2B5EF4-FFF2-40B4-BE49-F238E27FC236}">
                <a16:creationId xmlns:a16="http://schemas.microsoft.com/office/drawing/2014/main" id="{6C6151AA-20BC-4A49-AAF6-C938E9D65E5E}"/>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4986DC1E-D39C-4826-A455-EB1BD2B6C4AB}"/>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9E9C806-ED3A-475F-B1B1-AC804F2C2C4C}"/>
              </a:ext>
            </a:extLst>
          </p:cNvPr>
          <p:cNvSpPr>
            <a:spLocks xmlns:a="http://schemas.openxmlformats.org/drawingml/2006/main" noGrp="1"/>
          </p:cNvSpPr>
          <p:nvPr/>
        </p:nvSpPr>
        <p:spPr>
          <a:xfrm xmlns:a="http://schemas.openxmlformats.org/drawingml/2006/main">
            <a:off x="666750" y="14287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EEF6FF"/>
                </a:solidFill>
                <a:latin typeface="Arial"/>
                <a:ea typeface="Arial"/>
                <a:cs typeface="Arial"/>
              </a:defRPr>
            </a:pPr>
            <a:r>
              <a:rPr sz="2700" b="1">
                <a:solidFill>
                  <a:srgbClr val="EEF6FF"/>
                </a:solidFill>
                <a:latin typeface="Arial"/>
                <a:ea typeface="Arial"/>
                <a:cs typeface="Arial"/>
              </a:rPr>
              <a:t>L’information arrive en continu</a:t>
            </a:r>
          </a:p>
        </p:txBody>
      </p:sp>
      <p:sp>
        <p:nvSpPr>
          <p:cNvPr id="5" name="">
            <a:extLst xmlns:a="http://schemas.openxmlformats.org/drawingml/2006/main">
              <a:ext uri="{FF2B5EF4-FFF2-40B4-BE49-F238E27FC236}">
                <a16:creationId xmlns:a16="http://schemas.microsoft.com/office/drawing/2014/main" id="{1E113926-B4DB-40DC-B056-F15C1AED5E8D}"/>
              </a:ext>
            </a:extLst>
          </p:cNvPr>
          <p:cNvSpPr>
            <a:spLocks xmlns:a="http://schemas.openxmlformats.org/drawingml/2006/main" noGrp="1"/>
          </p:cNvSpPr>
          <p:nvPr/>
        </p:nvSpPr>
        <p:spPr>
          <a:xfrm xmlns:a="http://schemas.openxmlformats.org/drawingml/2006/main">
            <a:off x="666750" y="2238375"/>
            <a:ext cx="5381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9CB1C5"/>
                </a:solidFill>
                <a:latin typeface="Arial"/>
                <a:ea typeface="Arial"/>
                <a:cs typeface="Arial"/>
              </a:defRPr>
            </a:pPr>
            <a:r>
              <a:rPr sz="1725" b="0">
                <a:solidFill>
                  <a:srgbClr val="9CB1C5"/>
                </a:solidFill>
                <a:latin typeface="Arial"/>
                <a:ea typeface="Arial"/>
                <a:cs typeface="Arial"/>
              </a:rPr>
              <a:t>Une lecture manuelle ne permet ni de suivre une tendance ni de mesurer le fonctionnement du pipeline.</a:t>
            </a:r>
          </a:p>
        </p:txBody>
      </p:sp>
      <p:sp>
        <p:nvSpPr>
          <p:cNvPr id="6" name="">
            <a:extLst xmlns:a="http://schemas.openxmlformats.org/drawingml/2006/main">
              <a:ext uri="{FF2B5EF4-FFF2-40B4-BE49-F238E27FC236}">
                <a16:creationId xmlns:a16="http://schemas.microsoft.com/office/drawing/2014/main" id="{BA2529D6-C039-4DAB-80D6-C74E6A3BE3F2}"/>
              </a:ext>
            </a:extLst>
          </p:cNvPr>
          <p:cNvSpPr>
            <a:spLocks xmlns:a="http://schemas.openxmlformats.org/drawingml/2006/main" noGrp="1"/>
          </p:cNvSpPr>
          <p:nvPr/>
        </p:nvSpPr>
        <p:spPr>
          <a:xfrm xmlns:a="http://schemas.openxmlformats.org/drawingml/2006/main">
            <a:off x="609600" y="36671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FFB454"/>
                </a:solidFill>
                <a:latin typeface="Arial"/>
                <a:ea typeface="Arial"/>
                <a:cs typeface="Arial"/>
              </a:defRPr>
            </a:pPr>
            <a:r>
              <a:rPr sz="1125" b="1">
                <a:solidFill>
                  <a:srgbClr val="FFB454"/>
                </a:solidFill>
                <a:latin typeface="Arial"/>
                <a:ea typeface="Arial"/>
                <a:cs typeface="Arial"/>
              </a:rPr>
              <a:t>ENTRÉE</a:t>
            </a:r>
          </a:p>
        </p:txBody>
      </p:sp>
      <p:sp>
        <p:nvSpPr>
          <p:cNvPr id="7" name="">
            <a:extLst xmlns:a="http://schemas.openxmlformats.org/drawingml/2006/main">
              <a:ext uri="{FF2B5EF4-FFF2-40B4-BE49-F238E27FC236}">
                <a16:creationId xmlns:a16="http://schemas.microsoft.com/office/drawing/2014/main" id="{00559735-20C9-410E-8883-6DC15A04D698}"/>
              </a:ext>
            </a:extLst>
          </p:cNvPr>
          <p:cNvSpPr>
            <a:spLocks xmlns:a="http://schemas.openxmlformats.org/drawingml/2006/main" noGrp="1"/>
          </p:cNvSpPr>
          <p:nvPr/>
        </p:nvSpPr>
        <p:spPr>
          <a:xfrm xmlns:a="http://schemas.openxmlformats.org/drawingml/2006/main">
            <a:off x="609600" y="40671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2342894-AC5C-4F50-A4D8-DB3555C82E99}"/>
              </a:ext>
            </a:extLst>
          </p:cNvPr>
          <p:cNvSpPr>
            <a:spLocks xmlns:a="http://schemas.openxmlformats.org/drawingml/2006/main" noGrp="1"/>
          </p:cNvSpPr>
          <p:nvPr/>
        </p:nvSpPr>
        <p:spPr>
          <a:xfrm xmlns:a="http://schemas.openxmlformats.org/drawingml/2006/main">
            <a:off x="847725" y="42862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Articles publiés à des rythmes irréguliers</a:t>
            </a:r>
          </a:p>
        </p:txBody>
      </p:sp>
      <p:sp>
        <p:nvSpPr>
          <p:cNvPr id="9" name="">
            <a:extLst xmlns:a="http://schemas.openxmlformats.org/drawingml/2006/main">
              <a:ext uri="{FF2B5EF4-FFF2-40B4-BE49-F238E27FC236}">
                <a16:creationId xmlns:a16="http://schemas.microsoft.com/office/drawing/2014/main" id="{1D5E18CE-F6C6-4668-932A-33C244F8AC48}"/>
              </a:ext>
            </a:extLst>
          </p:cNvPr>
          <p:cNvSpPr>
            <a:spLocks xmlns:a="http://schemas.openxmlformats.org/drawingml/2006/main" noGrp="1"/>
          </p:cNvSpPr>
          <p:nvPr/>
        </p:nvSpPr>
        <p:spPr>
          <a:xfrm xmlns:a="http://schemas.openxmlformats.org/drawingml/2006/main">
            <a:off x="4356100" y="36671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ED3C6"/>
                </a:solidFill>
                <a:latin typeface="Arial"/>
                <a:ea typeface="Arial"/>
                <a:cs typeface="Arial"/>
              </a:defRPr>
            </a:pPr>
            <a:r>
              <a:rPr sz="1125" b="1">
                <a:solidFill>
                  <a:srgbClr val="2ED3C6"/>
                </a:solidFill>
                <a:latin typeface="Arial"/>
                <a:ea typeface="Arial"/>
                <a:cs typeface="Arial"/>
              </a:rPr>
              <a:t>BESOIN</a:t>
            </a:r>
          </a:p>
        </p:txBody>
      </p:sp>
      <p:sp>
        <p:nvSpPr>
          <p:cNvPr id="10" name="">
            <a:extLst xmlns:a="http://schemas.openxmlformats.org/drawingml/2006/main">
              <a:ext uri="{FF2B5EF4-FFF2-40B4-BE49-F238E27FC236}">
                <a16:creationId xmlns:a16="http://schemas.microsoft.com/office/drawing/2014/main" id="{BEFD5046-FE0D-4215-925B-5AC2C9A723B9}"/>
              </a:ext>
            </a:extLst>
          </p:cNvPr>
          <p:cNvSpPr>
            <a:spLocks xmlns:a="http://schemas.openxmlformats.org/drawingml/2006/main" noGrp="1"/>
          </p:cNvSpPr>
          <p:nvPr/>
        </p:nvSpPr>
        <p:spPr>
          <a:xfrm xmlns:a="http://schemas.openxmlformats.org/drawingml/2006/main">
            <a:off x="4356100" y="40671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572A047-6A59-4106-8807-58DF6221B359}"/>
              </a:ext>
            </a:extLst>
          </p:cNvPr>
          <p:cNvSpPr>
            <a:spLocks xmlns:a="http://schemas.openxmlformats.org/drawingml/2006/main" noGrp="1"/>
          </p:cNvSpPr>
          <p:nvPr/>
        </p:nvSpPr>
        <p:spPr>
          <a:xfrm xmlns:a="http://schemas.openxmlformats.org/drawingml/2006/main">
            <a:off x="4594225" y="42862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Indicateurs actualisés et comparables</a:t>
            </a:r>
          </a:p>
        </p:txBody>
      </p:sp>
      <p:sp>
        <p:nvSpPr>
          <p:cNvPr id="12" name="">
            <a:extLst xmlns:a="http://schemas.openxmlformats.org/drawingml/2006/main">
              <a:ext uri="{FF2B5EF4-FFF2-40B4-BE49-F238E27FC236}">
                <a16:creationId xmlns:a16="http://schemas.microsoft.com/office/drawing/2014/main" id="{63318F3C-C776-48E1-B619-71E64E27E544}"/>
              </a:ext>
            </a:extLst>
          </p:cNvPr>
          <p:cNvSpPr>
            <a:spLocks xmlns:a="http://schemas.openxmlformats.org/drawingml/2006/main" noGrp="1"/>
          </p:cNvSpPr>
          <p:nvPr/>
        </p:nvSpPr>
        <p:spPr>
          <a:xfrm xmlns:a="http://schemas.openxmlformats.org/drawingml/2006/main">
            <a:off x="8102600" y="36671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FF6B75"/>
                </a:solidFill>
                <a:latin typeface="Arial"/>
                <a:ea typeface="Arial"/>
                <a:cs typeface="Arial"/>
              </a:defRPr>
            </a:pPr>
            <a:r>
              <a:rPr sz="1125" b="1">
                <a:solidFill>
                  <a:srgbClr val="FF6B75"/>
                </a:solidFill>
                <a:latin typeface="Arial"/>
                <a:ea typeface="Arial"/>
                <a:cs typeface="Arial"/>
              </a:rPr>
              <a:t>CONTRAINTE</a:t>
            </a:r>
          </a:p>
        </p:txBody>
      </p:sp>
      <p:sp>
        <p:nvSpPr>
          <p:cNvPr id="13" name="">
            <a:extLst xmlns:a="http://schemas.openxmlformats.org/drawingml/2006/main">
              <a:ext uri="{FF2B5EF4-FFF2-40B4-BE49-F238E27FC236}">
                <a16:creationId xmlns:a16="http://schemas.microsoft.com/office/drawing/2014/main" id="{A23EBBE1-F587-4805-A8C8-86E9F8259497}"/>
              </a:ext>
            </a:extLst>
          </p:cNvPr>
          <p:cNvSpPr>
            <a:spLocks xmlns:a="http://schemas.openxmlformats.org/drawingml/2006/main" noGrp="1"/>
          </p:cNvSpPr>
          <p:nvPr/>
        </p:nvSpPr>
        <p:spPr>
          <a:xfrm xmlns:a="http://schemas.openxmlformats.org/drawingml/2006/main">
            <a:off x="8102600" y="40671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5DE4C35-ACD7-4715-9A6E-4AA098D51090}"/>
              </a:ext>
            </a:extLst>
          </p:cNvPr>
          <p:cNvSpPr>
            <a:spLocks xmlns:a="http://schemas.openxmlformats.org/drawingml/2006/main" noGrp="1"/>
          </p:cNvSpPr>
          <p:nvPr/>
        </p:nvSpPr>
        <p:spPr>
          <a:xfrm xmlns:a="http://schemas.openxmlformats.org/drawingml/2006/main">
            <a:off x="8340725" y="42862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Pics de charge, doublons et pannes</a:t>
            </a:r>
          </a:p>
        </p:txBody>
      </p:sp>
    </p:spTree>
    <p:extLst>
      <p:ext uri="{BB962C8B-B14F-4D97-AF65-F5344CB8AC3E}">
        <p14:creationId xmlns:p14="http://schemas.microsoft.com/office/powerpoint/2010/main" val="625638651"/>
      </p:ext>
    </p:extLst>
  </p:cSld>
</p:sld>
</file>

<file path=ppt/slides/slide3.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9D6E36D-80A6-45D0-85CB-20B99A777F4A}"/>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Valeur produite</a:t>
            </a:r>
          </a:p>
        </p:txBody>
      </p:sp>
      <p:sp>
        <p:nvSpPr>
          <p:cNvPr id="2" name="">
            <a:extLst xmlns:a="http://schemas.openxmlformats.org/drawingml/2006/main">
              <a:ext uri="{FF2B5EF4-FFF2-40B4-BE49-F238E27FC236}">
                <a16:creationId xmlns:a16="http://schemas.microsoft.com/office/drawing/2014/main" id="{47FA580D-052A-4A1A-8FE6-D28061226CB8}"/>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D3CDE4B5-FC22-4F66-9ABE-6329518F02F7}"/>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542C980-1DF4-4FE4-9792-55801AAA9687}"/>
              </a:ext>
            </a:extLst>
          </p:cNvPr>
          <p:cNvSpPr>
            <a:spLocks xmlns:a="http://schemas.openxmlformats.org/drawingml/2006/main" noGrp="1"/>
          </p:cNvSpPr>
          <p:nvPr/>
        </p:nvSpPr>
        <p:spPr>
          <a:xfrm xmlns:a="http://schemas.openxmlformats.org/drawingml/2006/main">
            <a:off x="857250" y="14287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a:solidFill>
                  <a:srgbClr val="EEF6FF"/>
                </a:solidFill>
                <a:latin typeface="Arial"/>
                <a:ea typeface="Arial"/>
                <a:cs typeface="Arial"/>
              </a:defRPr>
            </a:pPr>
            <a:r>
              <a:rPr sz="2550" b="1">
                <a:solidFill>
                  <a:srgbClr val="EEF6FF"/>
                </a:solidFill>
                <a:latin typeface="Arial"/>
                <a:ea typeface="Arial"/>
                <a:cs typeface="Arial"/>
              </a:rPr>
              <a:t>Observer le marché informationnel crypto dans le temps</a:t>
            </a:r>
          </a:p>
        </p:txBody>
      </p:sp>
      <p:sp>
        <p:nvSpPr>
          <p:cNvPr id="5" name="">
            <a:extLst xmlns:a="http://schemas.openxmlformats.org/drawingml/2006/main">
              <a:ext uri="{FF2B5EF4-FFF2-40B4-BE49-F238E27FC236}">
                <a16:creationId xmlns:a16="http://schemas.microsoft.com/office/drawing/2014/main" id="{53AB0BC4-0A0C-4061-93A3-24646B51BF60}"/>
              </a:ext>
            </a:extLst>
          </p:cNvPr>
          <p:cNvSpPr>
            <a:spLocks xmlns:a="http://schemas.openxmlformats.org/drawingml/2006/main" noGrp="1"/>
          </p:cNvSpPr>
          <p:nvPr/>
        </p:nvSpPr>
        <p:spPr>
          <a:xfrm xmlns:a="http://schemas.openxmlformats.org/drawingml/2006/main">
            <a:off x="762000" y="26670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FFB454"/>
                </a:solidFill>
                <a:latin typeface="Arial"/>
                <a:ea typeface="Arial"/>
                <a:cs typeface="Arial"/>
              </a:defRPr>
            </a:pPr>
            <a:r>
              <a:rPr sz="1425" b="1">
                <a:solidFill>
                  <a:srgbClr val="FFB454"/>
                </a:solidFill>
                <a:latin typeface="Arial"/>
                <a:ea typeface="Arial"/>
                <a:cs typeface="Arial"/>
              </a:rPr>
              <a:t>SUIVRE</a:t>
            </a:r>
          </a:p>
        </p:txBody>
      </p:sp>
      <p:sp>
        <p:nvSpPr>
          <p:cNvPr id="6" name="">
            <a:extLst xmlns:a="http://schemas.openxmlformats.org/drawingml/2006/main">
              <a:ext uri="{FF2B5EF4-FFF2-40B4-BE49-F238E27FC236}">
                <a16:creationId xmlns:a16="http://schemas.microsoft.com/office/drawing/2014/main" id="{86C1F209-61DE-4CA6-AE6C-A95887497BE0}"/>
              </a:ext>
            </a:extLst>
          </p:cNvPr>
          <p:cNvSpPr>
            <a:spLocks xmlns:a="http://schemas.openxmlformats.org/drawingml/2006/main" noGrp="1"/>
          </p:cNvSpPr>
          <p:nvPr/>
        </p:nvSpPr>
        <p:spPr>
          <a:xfrm xmlns:a="http://schemas.openxmlformats.org/drawingml/2006/main">
            <a:off x="3429000" y="2838450"/>
            <a:ext cx="666750" cy="381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1BED81D-772D-4419-BEA2-2CFA237850C8}"/>
              </a:ext>
            </a:extLst>
          </p:cNvPr>
          <p:cNvSpPr>
            <a:spLocks xmlns:a="http://schemas.openxmlformats.org/drawingml/2006/main" noGrp="1"/>
          </p:cNvSpPr>
          <p:nvPr/>
        </p:nvSpPr>
        <p:spPr>
          <a:xfrm xmlns:a="http://schemas.openxmlformats.org/drawingml/2006/main">
            <a:off x="4381500" y="26479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Volume d’articles par source et par thème</a:t>
            </a:r>
          </a:p>
        </p:txBody>
      </p:sp>
      <p:sp>
        <p:nvSpPr>
          <p:cNvPr id="8" name="">
            <a:extLst xmlns:a="http://schemas.openxmlformats.org/drawingml/2006/main">
              <a:ext uri="{FF2B5EF4-FFF2-40B4-BE49-F238E27FC236}">
                <a16:creationId xmlns:a16="http://schemas.microsoft.com/office/drawing/2014/main" id="{077731F9-FC62-4D0B-97FC-F80C1139F6DF}"/>
              </a:ext>
            </a:extLst>
          </p:cNvPr>
          <p:cNvSpPr>
            <a:spLocks xmlns:a="http://schemas.openxmlformats.org/drawingml/2006/main" noGrp="1"/>
          </p:cNvSpPr>
          <p:nvPr/>
        </p:nvSpPr>
        <p:spPr>
          <a:xfrm xmlns:a="http://schemas.openxmlformats.org/drawingml/2006/main">
            <a:off x="762000" y="34766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ED3C6"/>
                </a:solidFill>
                <a:latin typeface="Arial"/>
                <a:ea typeface="Arial"/>
                <a:cs typeface="Arial"/>
              </a:defRPr>
            </a:pPr>
            <a:r>
              <a:rPr sz="1425" b="1">
                <a:solidFill>
                  <a:srgbClr val="2ED3C6"/>
                </a:solidFill>
                <a:latin typeface="Arial"/>
                <a:ea typeface="Arial"/>
                <a:cs typeface="Arial"/>
              </a:rPr>
              <a:t>INTERPRÉTER</a:t>
            </a:r>
          </a:p>
        </p:txBody>
      </p:sp>
      <p:sp>
        <p:nvSpPr>
          <p:cNvPr id="9" name="">
            <a:extLst xmlns:a="http://schemas.openxmlformats.org/drawingml/2006/main">
              <a:ext uri="{FF2B5EF4-FFF2-40B4-BE49-F238E27FC236}">
                <a16:creationId xmlns:a16="http://schemas.microsoft.com/office/drawing/2014/main" id="{AD5570DD-B1A1-43E0-A559-9832216BBCF2}"/>
              </a:ext>
            </a:extLst>
          </p:cNvPr>
          <p:cNvSpPr>
            <a:spLocks xmlns:a="http://schemas.openxmlformats.org/drawingml/2006/main" noGrp="1"/>
          </p:cNvSpPr>
          <p:nvPr/>
        </p:nvSpPr>
        <p:spPr>
          <a:xfrm xmlns:a="http://schemas.openxmlformats.org/drawingml/2006/main">
            <a:off x="3429000" y="3648075"/>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28E44AF-969F-4AA8-8F30-935185BBA045}"/>
              </a:ext>
            </a:extLst>
          </p:cNvPr>
          <p:cNvSpPr>
            <a:spLocks xmlns:a="http://schemas.openxmlformats.org/drawingml/2006/main" noGrp="1"/>
          </p:cNvSpPr>
          <p:nvPr/>
        </p:nvSpPr>
        <p:spPr>
          <a:xfrm xmlns:a="http://schemas.openxmlformats.org/drawingml/2006/main">
            <a:off x="4381500" y="345757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Sentiment moyen et répartition des labels</a:t>
            </a:r>
          </a:p>
        </p:txBody>
      </p:sp>
      <p:sp>
        <p:nvSpPr>
          <p:cNvPr id="11" name="">
            <a:extLst xmlns:a="http://schemas.openxmlformats.org/drawingml/2006/main">
              <a:ext uri="{FF2B5EF4-FFF2-40B4-BE49-F238E27FC236}">
                <a16:creationId xmlns:a16="http://schemas.microsoft.com/office/drawing/2014/main" id="{57C99E21-FCF3-47C5-8A22-4E52A7D201B8}"/>
              </a:ext>
            </a:extLst>
          </p:cNvPr>
          <p:cNvSpPr>
            <a:spLocks xmlns:a="http://schemas.openxmlformats.org/drawingml/2006/main" noGrp="1"/>
          </p:cNvSpPr>
          <p:nvPr/>
        </p:nvSpPr>
        <p:spPr>
          <a:xfrm xmlns:a="http://schemas.openxmlformats.org/drawingml/2006/main">
            <a:off x="762000" y="42862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438BFF"/>
                </a:solidFill>
                <a:latin typeface="Arial"/>
                <a:ea typeface="Arial"/>
                <a:cs typeface="Arial"/>
              </a:defRPr>
            </a:pPr>
            <a:r>
              <a:rPr sz="1425" b="1">
                <a:solidFill>
                  <a:srgbClr val="438BFF"/>
                </a:solidFill>
                <a:latin typeface="Arial"/>
                <a:ea typeface="Arial"/>
                <a:cs typeface="Arial"/>
              </a:rPr>
              <a:t>SURVEILLER</a:t>
            </a:r>
          </a:p>
        </p:txBody>
      </p:sp>
      <p:sp>
        <p:nvSpPr>
          <p:cNvPr id="12" name="">
            <a:extLst xmlns:a="http://schemas.openxmlformats.org/drawingml/2006/main">
              <a:ext uri="{FF2B5EF4-FFF2-40B4-BE49-F238E27FC236}">
                <a16:creationId xmlns:a16="http://schemas.microsoft.com/office/drawing/2014/main" id="{8235D81A-B4AD-4700-825A-DDF1CC5C5C9D}"/>
              </a:ext>
            </a:extLst>
          </p:cNvPr>
          <p:cNvSpPr>
            <a:spLocks xmlns:a="http://schemas.openxmlformats.org/drawingml/2006/main" noGrp="1"/>
          </p:cNvSpPr>
          <p:nvPr/>
        </p:nvSpPr>
        <p:spPr>
          <a:xfrm xmlns:a="http://schemas.openxmlformats.org/drawingml/2006/main">
            <a:off x="3429000" y="4457700"/>
            <a:ext cx="666750" cy="381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825C589-06E3-4101-BE9D-D4F522C7018B}"/>
              </a:ext>
            </a:extLst>
          </p:cNvPr>
          <p:cNvSpPr>
            <a:spLocks xmlns:a="http://schemas.openxmlformats.org/drawingml/2006/main" noGrp="1"/>
          </p:cNvSpPr>
          <p:nvPr/>
        </p:nvSpPr>
        <p:spPr>
          <a:xfrm xmlns:a="http://schemas.openxmlformats.org/drawingml/2006/main">
            <a:off x="4381500" y="42672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Débit d’ingestion et latence du pipeline</a:t>
            </a:r>
          </a:p>
        </p:txBody>
      </p:sp>
    </p:spTree>
    <p:extLst>
      <p:ext uri="{BB962C8B-B14F-4D97-AF65-F5344CB8AC3E}">
        <p14:creationId xmlns:p14="http://schemas.microsoft.com/office/powerpoint/2010/main" val="802999338"/>
      </p:ext>
    </p:extLst>
  </p:cSld>
</p:sld>
</file>

<file path=ppt/slides/slide4.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20A7F99-290B-4AFC-A6EC-5876D5584962}"/>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Objectifs techniques</a:t>
            </a:r>
          </a:p>
        </p:txBody>
      </p:sp>
      <p:sp>
        <p:nvSpPr>
          <p:cNvPr id="2" name="">
            <a:extLst xmlns:a="http://schemas.openxmlformats.org/drawingml/2006/main">
              <a:ext uri="{FF2B5EF4-FFF2-40B4-BE49-F238E27FC236}">
                <a16:creationId xmlns:a16="http://schemas.microsoft.com/office/drawing/2014/main" id="{6B100989-FFEC-4BD8-BE92-017300CEB7AB}"/>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3311F7F9-2E74-4B9A-9652-7249FEEC619D}"/>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18B0D89-0545-4BF2-AC4D-A34A08B3A134}"/>
              </a:ext>
            </a:extLst>
          </p:cNvPr>
          <p:cNvSpPr>
            <a:spLocks xmlns:a="http://schemas.openxmlformats.org/drawingml/2006/main" noGrp="1"/>
          </p:cNvSpPr>
          <p:nvPr/>
        </p:nvSpPr>
        <p:spPr>
          <a:xfrm xmlns:a="http://schemas.openxmlformats.org/drawingml/2006/main">
            <a:off x="609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FFB454"/>
                </a:solidFill>
                <a:latin typeface="Arial"/>
                <a:ea typeface="Arial"/>
                <a:cs typeface="Arial"/>
              </a:defRPr>
            </a:pPr>
            <a:r>
              <a:rPr sz="1125" b="1">
                <a:solidFill>
                  <a:srgbClr val="FFB454"/>
                </a:solidFill>
                <a:latin typeface="Arial"/>
                <a:ea typeface="Arial"/>
                <a:cs typeface="Arial"/>
              </a:rPr>
              <a:t>COLLECTER</a:t>
            </a:r>
          </a:p>
        </p:txBody>
      </p:sp>
      <p:sp>
        <p:nvSpPr>
          <p:cNvPr id="5" name="">
            <a:extLst xmlns:a="http://schemas.openxmlformats.org/drawingml/2006/main">
              <a:ext uri="{FF2B5EF4-FFF2-40B4-BE49-F238E27FC236}">
                <a16:creationId xmlns:a16="http://schemas.microsoft.com/office/drawing/2014/main" id="{98C35247-7D0F-45D1-81D0-F0376CF2F2BA}"/>
              </a:ext>
            </a:extLst>
          </p:cNvPr>
          <p:cNvSpPr>
            <a:spLocks xmlns:a="http://schemas.openxmlformats.org/drawingml/2006/main" noGrp="1"/>
          </p:cNvSpPr>
          <p:nvPr/>
        </p:nvSpPr>
        <p:spPr>
          <a:xfrm xmlns:a="http://schemas.openxmlformats.org/drawingml/2006/main">
            <a:off x="609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9A82835-9548-4A51-A8AA-D44F5BBC4ADF}"/>
              </a:ext>
            </a:extLst>
          </p:cNvPr>
          <p:cNvSpPr>
            <a:spLocks xmlns:a="http://schemas.openxmlformats.org/drawingml/2006/main" noGrp="1"/>
          </p:cNvSpPr>
          <p:nvPr/>
        </p:nvSpPr>
        <p:spPr>
          <a:xfrm xmlns:a="http://schemas.openxmlformats.org/drawingml/2006/main">
            <a:off x="847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Plusieurs flux RSS avec un contrat commun</a:t>
            </a:r>
          </a:p>
        </p:txBody>
      </p:sp>
      <p:sp>
        <p:nvSpPr>
          <p:cNvPr id="7" name="">
            <a:extLst xmlns:a="http://schemas.openxmlformats.org/drawingml/2006/main">
              <a:ext uri="{FF2B5EF4-FFF2-40B4-BE49-F238E27FC236}">
                <a16:creationId xmlns:a16="http://schemas.microsoft.com/office/drawing/2014/main" id="{7698FDE0-8CD7-48FD-8281-2779C0B731A7}"/>
              </a:ext>
            </a:extLst>
          </p:cNvPr>
          <p:cNvSpPr>
            <a:spLocks xmlns:a="http://schemas.openxmlformats.org/drawingml/2006/main" noGrp="1"/>
          </p:cNvSpPr>
          <p:nvPr/>
        </p:nvSpPr>
        <p:spPr>
          <a:xfrm xmlns:a="http://schemas.openxmlformats.org/drawingml/2006/main">
            <a:off x="43561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ED3C6"/>
                </a:solidFill>
                <a:latin typeface="Arial"/>
                <a:ea typeface="Arial"/>
                <a:cs typeface="Arial"/>
              </a:defRPr>
            </a:pPr>
            <a:r>
              <a:rPr sz="1125" b="1">
                <a:solidFill>
                  <a:srgbClr val="2ED3C6"/>
                </a:solidFill>
                <a:latin typeface="Arial"/>
                <a:ea typeface="Arial"/>
                <a:cs typeface="Arial"/>
              </a:rPr>
              <a:t>TRAITER</a:t>
            </a:r>
          </a:p>
        </p:txBody>
      </p:sp>
      <p:sp>
        <p:nvSpPr>
          <p:cNvPr id="8" name="">
            <a:extLst xmlns:a="http://schemas.openxmlformats.org/drawingml/2006/main">
              <a:ext uri="{FF2B5EF4-FFF2-40B4-BE49-F238E27FC236}">
                <a16:creationId xmlns:a16="http://schemas.microsoft.com/office/drawing/2014/main" id="{712B39C5-B8B5-4D9F-8BE8-D9CE155556A6}"/>
              </a:ext>
            </a:extLst>
          </p:cNvPr>
          <p:cNvSpPr>
            <a:spLocks xmlns:a="http://schemas.openxmlformats.org/drawingml/2006/main" noGrp="1"/>
          </p:cNvSpPr>
          <p:nvPr/>
        </p:nvSpPr>
        <p:spPr>
          <a:xfrm xmlns:a="http://schemas.openxmlformats.org/drawingml/2006/main">
            <a:off x="43561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EB757B8-4640-4478-BFE0-3E1C348FC7B8}"/>
              </a:ext>
            </a:extLst>
          </p:cNvPr>
          <p:cNvSpPr>
            <a:spLocks xmlns:a="http://schemas.openxmlformats.org/drawingml/2006/main" noGrp="1"/>
          </p:cNvSpPr>
          <p:nvPr/>
        </p:nvSpPr>
        <p:spPr>
          <a:xfrm xmlns:a="http://schemas.openxmlformats.org/drawingml/2006/main">
            <a:off x="45942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Enrichissement continu et incrémental</a:t>
            </a:r>
          </a:p>
        </p:txBody>
      </p:sp>
      <p:sp>
        <p:nvSpPr>
          <p:cNvPr id="10" name="">
            <a:extLst xmlns:a="http://schemas.openxmlformats.org/drawingml/2006/main">
              <a:ext uri="{FF2B5EF4-FFF2-40B4-BE49-F238E27FC236}">
                <a16:creationId xmlns:a16="http://schemas.microsoft.com/office/drawing/2014/main" id="{9BA1EBE2-D9DB-4F64-9A27-66D2E6422708}"/>
              </a:ext>
            </a:extLst>
          </p:cNvPr>
          <p:cNvSpPr>
            <a:spLocks xmlns:a="http://schemas.openxmlformats.org/drawingml/2006/main" noGrp="1"/>
          </p:cNvSpPr>
          <p:nvPr/>
        </p:nvSpPr>
        <p:spPr>
          <a:xfrm xmlns:a="http://schemas.openxmlformats.org/drawingml/2006/main">
            <a:off x="8102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438BFF"/>
                </a:solidFill>
                <a:latin typeface="Arial"/>
                <a:ea typeface="Arial"/>
                <a:cs typeface="Arial"/>
              </a:defRPr>
            </a:pPr>
            <a:r>
              <a:rPr sz="1125" b="1">
                <a:solidFill>
                  <a:srgbClr val="438BFF"/>
                </a:solidFill>
                <a:latin typeface="Arial"/>
                <a:ea typeface="Arial"/>
                <a:cs typeface="Arial"/>
              </a:rPr>
              <a:t>SERVIR</a:t>
            </a:r>
          </a:p>
        </p:txBody>
      </p:sp>
      <p:sp>
        <p:nvSpPr>
          <p:cNvPr id="11" name="">
            <a:extLst xmlns:a="http://schemas.openxmlformats.org/drawingml/2006/main">
              <a:ext uri="{FF2B5EF4-FFF2-40B4-BE49-F238E27FC236}">
                <a16:creationId xmlns:a16="http://schemas.microsoft.com/office/drawing/2014/main" id="{36D6C613-E0C3-4712-84C6-7ADE71482D40}"/>
              </a:ext>
            </a:extLst>
          </p:cNvPr>
          <p:cNvSpPr>
            <a:spLocks xmlns:a="http://schemas.openxmlformats.org/drawingml/2006/main" noGrp="1"/>
          </p:cNvSpPr>
          <p:nvPr/>
        </p:nvSpPr>
        <p:spPr>
          <a:xfrm xmlns:a="http://schemas.openxmlformats.org/drawingml/2006/main">
            <a:off x="8102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72BCC79-ED19-4E0B-925F-500888E7CB74}"/>
              </a:ext>
            </a:extLst>
          </p:cNvPr>
          <p:cNvSpPr>
            <a:spLocks xmlns:a="http://schemas.openxmlformats.org/drawingml/2006/main" noGrp="1"/>
          </p:cNvSpPr>
          <p:nvPr/>
        </p:nvSpPr>
        <p:spPr>
          <a:xfrm xmlns:a="http://schemas.openxmlformats.org/drawingml/2006/main">
            <a:off x="8340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Agrégats temporels prêts pour Grafana</a:t>
            </a:r>
          </a:p>
        </p:txBody>
      </p:sp>
      <p:sp>
        <p:nvSpPr>
          <p:cNvPr id="13" name="">
            <a:extLst xmlns:a="http://schemas.openxmlformats.org/drawingml/2006/main">
              <a:ext uri="{FF2B5EF4-FFF2-40B4-BE49-F238E27FC236}">
                <a16:creationId xmlns:a16="http://schemas.microsoft.com/office/drawing/2014/main" id="{27F6C24A-DA04-4FFF-BBC3-C1AB5446068B}"/>
              </a:ext>
            </a:extLst>
          </p:cNvPr>
          <p:cNvSpPr>
            <a:spLocks xmlns:a="http://schemas.openxmlformats.org/drawingml/2006/main" noGrp="1"/>
          </p:cNvSpPr>
          <p:nvPr/>
        </p:nvSpPr>
        <p:spPr>
          <a:xfrm xmlns:a="http://schemas.openxmlformats.org/drawingml/2006/main">
            <a:off x="1238250" y="538162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9CB1C5"/>
                </a:solidFill>
                <a:latin typeface="Arial"/>
                <a:ea typeface="Arial"/>
                <a:cs typeface="Arial"/>
              </a:defRPr>
            </a:pPr>
            <a:r>
              <a:rPr sz="1800" b="1">
                <a:solidFill>
                  <a:srgbClr val="9CB1C5"/>
                </a:solidFill>
                <a:latin typeface="Arial"/>
                <a:ea typeface="Arial"/>
                <a:cs typeface="Arial"/>
              </a:rPr>
              <a:t>Chaque objectif correspond à un service testable indépendamment</a:t>
            </a:r>
          </a:p>
        </p:txBody>
      </p:sp>
    </p:spTree>
    <p:extLst>
      <p:ext uri="{BB962C8B-B14F-4D97-AF65-F5344CB8AC3E}">
        <p14:creationId xmlns:p14="http://schemas.microsoft.com/office/powerpoint/2010/main" val="1661765842"/>
      </p:ext>
    </p:extLst>
  </p:cSld>
</p:sld>
</file>

<file path=ppt/slides/slide5.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76129AD-B582-40A0-8FC4-FFC6D0436C3A}"/>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Sources et rythme</a:t>
            </a:r>
          </a:p>
        </p:txBody>
      </p:sp>
      <p:sp>
        <p:nvSpPr>
          <p:cNvPr id="2" name="">
            <a:extLst xmlns:a="http://schemas.openxmlformats.org/drawingml/2006/main">
              <a:ext uri="{FF2B5EF4-FFF2-40B4-BE49-F238E27FC236}">
                <a16:creationId xmlns:a16="http://schemas.microsoft.com/office/drawing/2014/main" id="{00BA8812-FBCB-4E83-8EFB-10E9A40F69DE}"/>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B8D9F35E-4A2C-4886-9236-2BB256312F2D}"/>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E740AA5-BD45-4090-B9C9-4A7B64B98AEB}"/>
              </a:ext>
            </a:extLst>
          </p:cNvPr>
          <p:cNvSpPr>
            <a:spLocks xmlns:a="http://schemas.openxmlformats.org/drawingml/2006/main" noGrp="1"/>
          </p:cNvSpPr>
          <p:nvPr/>
        </p:nvSpPr>
        <p:spPr>
          <a:xfrm xmlns:a="http://schemas.openxmlformats.org/drawingml/2006/main">
            <a:off x="1047750" y="1952625"/>
            <a:ext cx="26670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D577967-B1F3-43EB-81BB-626B0BBC6469}"/>
              </a:ext>
            </a:extLst>
          </p:cNvPr>
          <p:cNvSpPr>
            <a:spLocks xmlns:a="http://schemas.openxmlformats.org/drawingml/2006/main" noGrp="1"/>
          </p:cNvSpPr>
          <p:nvPr/>
        </p:nvSpPr>
        <p:spPr>
          <a:xfrm xmlns:a="http://schemas.openxmlformats.org/drawingml/2006/main">
            <a:off x="1047750" y="1952625"/>
            <a:ext cx="66675" cy="9525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EC9431D-06A0-4C78-B0AA-01C3C84EC9EE}"/>
              </a:ext>
            </a:extLst>
          </p:cNvPr>
          <p:cNvSpPr>
            <a:spLocks xmlns:a="http://schemas.openxmlformats.org/drawingml/2006/main" noGrp="1"/>
          </p:cNvSpPr>
          <p:nvPr/>
        </p:nvSpPr>
        <p:spPr>
          <a:xfrm xmlns:a="http://schemas.openxmlformats.org/drawingml/2006/main">
            <a:off x="1238250" y="2066925"/>
            <a:ext cx="236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CoinDesk</a:t>
            </a:r>
          </a:p>
        </p:txBody>
      </p:sp>
      <p:sp>
        <p:nvSpPr>
          <p:cNvPr id="7" name="">
            <a:extLst xmlns:a="http://schemas.openxmlformats.org/drawingml/2006/main">
              <a:ext uri="{FF2B5EF4-FFF2-40B4-BE49-F238E27FC236}">
                <a16:creationId xmlns:a16="http://schemas.microsoft.com/office/drawing/2014/main" id="{18A4CB8F-AD90-40DD-98F8-336FEFFC5B0C}"/>
              </a:ext>
            </a:extLst>
          </p:cNvPr>
          <p:cNvSpPr>
            <a:spLocks xmlns:a="http://schemas.openxmlformats.org/drawingml/2006/main" noGrp="1"/>
          </p:cNvSpPr>
          <p:nvPr/>
        </p:nvSpPr>
        <p:spPr>
          <a:xfrm xmlns:a="http://schemas.openxmlformats.org/drawingml/2006/main">
            <a:off x="1238250" y="2447925"/>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flux RSS</a:t>
            </a:r>
          </a:p>
        </p:txBody>
      </p:sp>
      <p:sp>
        <p:nvSpPr>
          <p:cNvPr id="8" name="">
            <a:extLst xmlns:a="http://schemas.openxmlformats.org/drawingml/2006/main">
              <a:ext uri="{FF2B5EF4-FFF2-40B4-BE49-F238E27FC236}">
                <a16:creationId xmlns:a16="http://schemas.microsoft.com/office/drawing/2014/main" id="{9911B79F-86E3-4D17-8012-16DD74D45E25}"/>
              </a:ext>
            </a:extLst>
          </p:cNvPr>
          <p:cNvSpPr>
            <a:spLocks xmlns:a="http://schemas.openxmlformats.org/drawingml/2006/main" noGrp="1"/>
          </p:cNvSpPr>
          <p:nvPr/>
        </p:nvSpPr>
        <p:spPr>
          <a:xfrm xmlns:a="http://schemas.openxmlformats.org/drawingml/2006/main">
            <a:off x="1047750" y="3381375"/>
            <a:ext cx="26670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514825F-2DAD-4857-A9E0-00053334AB8E}"/>
              </a:ext>
            </a:extLst>
          </p:cNvPr>
          <p:cNvSpPr>
            <a:spLocks xmlns:a="http://schemas.openxmlformats.org/drawingml/2006/main" noGrp="1"/>
          </p:cNvSpPr>
          <p:nvPr/>
        </p:nvSpPr>
        <p:spPr>
          <a:xfrm xmlns:a="http://schemas.openxmlformats.org/drawingml/2006/main">
            <a:off x="1047750" y="3381375"/>
            <a:ext cx="66675" cy="9525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D12E05B-0B7F-4BA1-A108-7B3862592C9F}"/>
              </a:ext>
            </a:extLst>
          </p:cNvPr>
          <p:cNvSpPr>
            <a:spLocks xmlns:a="http://schemas.openxmlformats.org/drawingml/2006/main" noGrp="1"/>
          </p:cNvSpPr>
          <p:nvPr/>
        </p:nvSpPr>
        <p:spPr>
          <a:xfrm xmlns:a="http://schemas.openxmlformats.org/drawingml/2006/main">
            <a:off x="1238250" y="3495675"/>
            <a:ext cx="236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Cointelegraph</a:t>
            </a:r>
          </a:p>
        </p:txBody>
      </p:sp>
      <p:sp>
        <p:nvSpPr>
          <p:cNvPr id="11" name="">
            <a:extLst xmlns:a="http://schemas.openxmlformats.org/drawingml/2006/main">
              <a:ext uri="{FF2B5EF4-FFF2-40B4-BE49-F238E27FC236}">
                <a16:creationId xmlns:a16="http://schemas.microsoft.com/office/drawing/2014/main" id="{8DB041D9-FE40-4850-8AF7-8EA63F1D660B}"/>
              </a:ext>
            </a:extLst>
          </p:cNvPr>
          <p:cNvSpPr>
            <a:spLocks xmlns:a="http://schemas.openxmlformats.org/drawingml/2006/main" noGrp="1"/>
          </p:cNvSpPr>
          <p:nvPr/>
        </p:nvSpPr>
        <p:spPr>
          <a:xfrm xmlns:a="http://schemas.openxmlformats.org/drawingml/2006/main">
            <a:off x="1238250" y="3876675"/>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flux RSS</a:t>
            </a:r>
          </a:p>
        </p:txBody>
      </p:sp>
      <p:sp>
        <p:nvSpPr>
          <p:cNvPr id="12" name="">
            <a:extLst xmlns:a="http://schemas.openxmlformats.org/drawingml/2006/main">
              <a:ext uri="{FF2B5EF4-FFF2-40B4-BE49-F238E27FC236}">
                <a16:creationId xmlns:a16="http://schemas.microsoft.com/office/drawing/2014/main" id="{FC05CAE3-9E5A-468B-81C4-3CFD174D974B}"/>
              </a:ext>
            </a:extLst>
          </p:cNvPr>
          <p:cNvSpPr>
            <a:spLocks xmlns:a="http://schemas.openxmlformats.org/drawingml/2006/main" noGrp="1"/>
          </p:cNvSpPr>
          <p:nvPr/>
        </p:nvSpPr>
        <p:spPr>
          <a:xfrm xmlns:a="http://schemas.openxmlformats.org/drawingml/2006/main">
            <a:off x="4286250" y="27622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CFBAE9FE-32F1-4684-9191-A8AAC14F732C}"/>
              </a:ext>
            </a:extLst>
          </p:cNvPr>
          <p:cNvSpPr>
            <a:spLocks xmlns:a="http://schemas.openxmlformats.org/drawingml/2006/main" noGrp="1"/>
          </p:cNvSpPr>
          <p:nvPr/>
        </p:nvSpPr>
        <p:spPr>
          <a:xfrm xmlns:a="http://schemas.openxmlformats.org/drawingml/2006/main">
            <a:off x="5334000" y="2667000"/>
            <a:ext cx="30480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BD9AD58-3A6D-4F79-9B6C-848F2334D2D7}"/>
              </a:ext>
            </a:extLst>
          </p:cNvPr>
          <p:cNvSpPr>
            <a:spLocks xmlns:a="http://schemas.openxmlformats.org/drawingml/2006/main" noGrp="1"/>
          </p:cNvSpPr>
          <p:nvPr/>
        </p:nvSpPr>
        <p:spPr>
          <a:xfrm xmlns:a="http://schemas.openxmlformats.org/drawingml/2006/main">
            <a:off x="5334000" y="2667000"/>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FDB3F7E-342D-46FF-9544-A655BAA3DACF}"/>
              </a:ext>
            </a:extLst>
          </p:cNvPr>
          <p:cNvSpPr>
            <a:spLocks xmlns:a="http://schemas.openxmlformats.org/drawingml/2006/main" noGrp="1"/>
          </p:cNvSpPr>
          <p:nvPr/>
        </p:nvSpPr>
        <p:spPr>
          <a:xfrm xmlns:a="http://schemas.openxmlformats.org/drawingml/2006/main">
            <a:off x="5524500" y="2781300"/>
            <a:ext cx="274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Scraper Python</a:t>
            </a:r>
          </a:p>
        </p:txBody>
      </p:sp>
      <p:sp>
        <p:nvSpPr>
          <p:cNvPr id="16" name="">
            <a:extLst xmlns:a="http://schemas.openxmlformats.org/drawingml/2006/main">
              <a:ext uri="{FF2B5EF4-FFF2-40B4-BE49-F238E27FC236}">
                <a16:creationId xmlns:a16="http://schemas.microsoft.com/office/drawing/2014/main" id="{D200D5AC-54DE-452F-B03D-DB97710BB2A1}"/>
              </a:ext>
            </a:extLst>
          </p:cNvPr>
          <p:cNvSpPr>
            <a:spLocks xmlns:a="http://schemas.openxmlformats.org/drawingml/2006/main" noGrp="1"/>
          </p:cNvSpPr>
          <p:nvPr/>
        </p:nvSpPr>
        <p:spPr>
          <a:xfrm xmlns:a="http://schemas.openxmlformats.org/drawingml/2006/main">
            <a:off x="5524500" y="3162300"/>
            <a:ext cx="274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polling configurable</a:t>
            </a:r>
          </a:p>
        </p:txBody>
      </p:sp>
      <p:sp>
        <p:nvSpPr>
          <p:cNvPr id="17" name="">
            <a:extLst xmlns:a="http://schemas.openxmlformats.org/drawingml/2006/main">
              <a:ext uri="{FF2B5EF4-FFF2-40B4-BE49-F238E27FC236}">
                <a16:creationId xmlns:a16="http://schemas.microsoft.com/office/drawing/2014/main" id="{114965F6-D603-4E5E-8255-61F176A44DA1}"/>
              </a:ext>
            </a:extLst>
          </p:cNvPr>
          <p:cNvSpPr>
            <a:spLocks xmlns:a="http://schemas.openxmlformats.org/drawingml/2006/main" noGrp="1"/>
          </p:cNvSpPr>
          <p:nvPr/>
        </p:nvSpPr>
        <p:spPr>
          <a:xfrm xmlns:a="http://schemas.openxmlformats.org/drawingml/2006/main">
            <a:off x="8810625" y="27622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0C8652EE-0D3B-4B5F-8597-6CB00A5EBC33}"/>
              </a:ext>
            </a:extLst>
          </p:cNvPr>
          <p:cNvSpPr>
            <a:spLocks xmlns:a="http://schemas.openxmlformats.org/drawingml/2006/main" noGrp="1"/>
          </p:cNvSpPr>
          <p:nvPr/>
        </p:nvSpPr>
        <p:spPr>
          <a:xfrm xmlns:a="http://schemas.openxmlformats.org/drawingml/2006/main">
            <a:off x="9525000" y="2667000"/>
            <a:ext cx="20002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39E8EB8-B069-49E9-BF50-2F4ECC32EAB9}"/>
              </a:ext>
            </a:extLst>
          </p:cNvPr>
          <p:cNvSpPr>
            <a:spLocks xmlns:a="http://schemas.openxmlformats.org/drawingml/2006/main" noGrp="1"/>
          </p:cNvSpPr>
          <p:nvPr/>
        </p:nvSpPr>
        <p:spPr>
          <a:xfrm xmlns:a="http://schemas.openxmlformats.org/drawingml/2006/main">
            <a:off x="9525000" y="2667000"/>
            <a:ext cx="66675" cy="9525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F9B4EE3-C0ED-4468-9198-B2A35AFD9A18}"/>
              </a:ext>
            </a:extLst>
          </p:cNvPr>
          <p:cNvSpPr>
            <a:spLocks xmlns:a="http://schemas.openxmlformats.org/drawingml/2006/main" noGrp="1"/>
          </p:cNvSpPr>
          <p:nvPr/>
        </p:nvSpPr>
        <p:spPr>
          <a:xfrm xmlns:a="http://schemas.openxmlformats.org/drawingml/2006/main">
            <a:off x="9715500" y="2781300"/>
            <a:ext cx="1695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Événements</a:t>
            </a:r>
          </a:p>
        </p:txBody>
      </p:sp>
      <p:sp>
        <p:nvSpPr>
          <p:cNvPr id="21" name="">
            <a:extLst xmlns:a="http://schemas.openxmlformats.org/drawingml/2006/main">
              <a:ext uri="{FF2B5EF4-FFF2-40B4-BE49-F238E27FC236}">
                <a16:creationId xmlns:a16="http://schemas.microsoft.com/office/drawing/2014/main" id="{52571BDB-B879-4250-8585-9E928425184D}"/>
              </a:ext>
            </a:extLst>
          </p:cNvPr>
          <p:cNvSpPr>
            <a:spLocks xmlns:a="http://schemas.openxmlformats.org/drawingml/2006/main" noGrp="1"/>
          </p:cNvSpPr>
          <p:nvPr/>
        </p:nvSpPr>
        <p:spPr>
          <a:xfrm xmlns:a="http://schemas.openxmlformats.org/drawingml/2006/main">
            <a:off x="9715500" y="316230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contrat JSON commun</a:t>
            </a:r>
          </a:p>
        </p:txBody>
      </p:sp>
      <p:sp>
        <p:nvSpPr>
          <p:cNvPr id="22" name="">
            <a:extLst xmlns:a="http://schemas.openxmlformats.org/drawingml/2006/main">
              <a:ext uri="{FF2B5EF4-FFF2-40B4-BE49-F238E27FC236}">
                <a16:creationId xmlns:a16="http://schemas.microsoft.com/office/drawing/2014/main" id="{23C5AAE8-E936-401C-BFC5-F02A62936C9B}"/>
              </a:ext>
            </a:extLst>
          </p:cNvPr>
          <p:cNvSpPr>
            <a:spLocks xmlns:a="http://schemas.openxmlformats.org/drawingml/2006/main" noGrp="1"/>
          </p:cNvSpPr>
          <p:nvPr/>
        </p:nvSpPr>
        <p:spPr>
          <a:xfrm xmlns:a="http://schemas.openxmlformats.org/drawingml/2006/main">
            <a:off x="2476500" y="5095875"/>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9CB1C5"/>
                </a:solidFill>
                <a:latin typeface="Arial"/>
                <a:ea typeface="Arial"/>
                <a:cs typeface="Arial"/>
              </a:defRPr>
            </a:pPr>
            <a:r>
              <a:rPr sz="1800" b="1">
                <a:solidFill>
                  <a:srgbClr val="9CB1C5"/>
                </a:solidFill>
                <a:latin typeface="Arial"/>
                <a:ea typeface="Arial"/>
                <a:cs typeface="Arial"/>
              </a:rPr>
              <a:t>Publication irrégulière · collecte toutes les 60 secondes</a:t>
            </a:r>
          </a:p>
        </p:txBody>
      </p:sp>
    </p:spTree>
    <p:extLst>
      <p:ext uri="{BB962C8B-B14F-4D97-AF65-F5344CB8AC3E}">
        <p14:creationId xmlns:p14="http://schemas.microsoft.com/office/powerpoint/2010/main" val="2109386593"/>
      </p:ext>
    </p:extLst>
  </p:cSld>
</p:sld>
</file>

<file path=ppt/slides/slide6.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FFDE67A-F339-42A4-9D8F-90432F100318}"/>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Contrat d’événement brut</a:t>
            </a:r>
          </a:p>
        </p:txBody>
      </p:sp>
      <p:sp>
        <p:nvSpPr>
          <p:cNvPr id="2" name="">
            <a:extLst xmlns:a="http://schemas.openxmlformats.org/drawingml/2006/main">
              <a:ext uri="{FF2B5EF4-FFF2-40B4-BE49-F238E27FC236}">
                <a16:creationId xmlns:a16="http://schemas.microsoft.com/office/drawing/2014/main" id="{F727EC87-7797-45F0-88B5-61FAFC33D3A0}"/>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E75D7C0D-BDB9-49F4-88FC-5EC00E68AF35}"/>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D50D4CA-0A4F-4D29-8B2B-4AA7908FA3A0}"/>
              </a:ext>
            </a:extLst>
          </p:cNvPr>
          <p:cNvSpPr>
            <a:spLocks xmlns:a="http://schemas.openxmlformats.org/drawingml/2006/main" noGrp="1"/>
          </p:cNvSpPr>
          <p:nvPr/>
        </p:nvSpPr>
        <p:spPr>
          <a:xfrm xmlns:a="http://schemas.openxmlformats.org/drawingml/2006/main">
            <a:off x="762000" y="15240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ED3C6"/>
                </a:solidFill>
                <a:latin typeface="Arial"/>
                <a:ea typeface="Arial"/>
                <a:cs typeface="Arial"/>
              </a:defRPr>
            </a:pPr>
            <a:r>
              <a:rPr sz="1425" b="1">
                <a:solidFill>
                  <a:srgbClr val="2ED3C6"/>
                </a:solidFill>
                <a:latin typeface="Arial"/>
                <a:ea typeface="Arial"/>
                <a:cs typeface="Arial"/>
              </a:rPr>
              <a:t>IDENTITÉ</a:t>
            </a:r>
          </a:p>
        </p:txBody>
      </p:sp>
      <p:sp>
        <p:nvSpPr>
          <p:cNvPr id="5" name="">
            <a:extLst xmlns:a="http://schemas.openxmlformats.org/drawingml/2006/main">
              <a:ext uri="{FF2B5EF4-FFF2-40B4-BE49-F238E27FC236}">
                <a16:creationId xmlns:a16="http://schemas.microsoft.com/office/drawing/2014/main" id="{B5AF203B-415B-44CB-B188-8F32C185B342}"/>
              </a:ext>
            </a:extLst>
          </p:cNvPr>
          <p:cNvSpPr>
            <a:spLocks xmlns:a="http://schemas.openxmlformats.org/drawingml/2006/main" noGrp="1"/>
          </p:cNvSpPr>
          <p:nvPr/>
        </p:nvSpPr>
        <p:spPr>
          <a:xfrm xmlns:a="http://schemas.openxmlformats.org/drawingml/2006/main">
            <a:off x="3429000" y="1695450"/>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C5E36BE-4B58-43F6-B9C1-C3D7B4995D31}"/>
              </a:ext>
            </a:extLst>
          </p:cNvPr>
          <p:cNvSpPr>
            <a:spLocks xmlns:a="http://schemas.openxmlformats.org/drawingml/2006/main" noGrp="1"/>
          </p:cNvSpPr>
          <p:nvPr/>
        </p:nvSpPr>
        <p:spPr>
          <a:xfrm xmlns:a="http://schemas.openxmlformats.org/drawingml/2006/main">
            <a:off x="4381500" y="15049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EEF6FF"/>
                </a:solidFill>
                <a:latin typeface="Arial"/>
                <a:ea typeface="Arial"/>
                <a:cs typeface="Arial"/>
              </a:defRPr>
            </a:pPr>
            <a:r>
              <a:rPr sz="1800" b="1">
                <a:solidFill>
                  <a:srgbClr val="EEF6FF"/>
                </a:solidFill>
                <a:latin typeface="Arial"/>
                <a:ea typeface="Arial"/>
                <a:cs typeface="Arial"/>
              </a:rPr>
              <a:t>article_id = SHA-256(URL)</a:t>
            </a:r>
          </a:p>
        </p:txBody>
      </p:sp>
      <p:sp>
        <p:nvSpPr>
          <p:cNvPr id="7" name="">
            <a:extLst xmlns:a="http://schemas.openxmlformats.org/drawingml/2006/main">
              <a:ext uri="{FF2B5EF4-FFF2-40B4-BE49-F238E27FC236}">
                <a16:creationId xmlns:a16="http://schemas.microsoft.com/office/drawing/2014/main" id="{BC457B56-A148-4D44-BEE9-153D6DCA0CFA}"/>
              </a:ext>
            </a:extLst>
          </p:cNvPr>
          <p:cNvSpPr>
            <a:spLocks xmlns:a="http://schemas.openxmlformats.org/drawingml/2006/main" noGrp="1"/>
          </p:cNvSpPr>
          <p:nvPr/>
        </p:nvSpPr>
        <p:spPr>
          <a:xfrm xmlns:a="http://schemas.openxmlformats.org/drawingml/2006/main">
            <a:off x="762000" y="23336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FFB454"/>
                </a:solidFill>
                <a:latin typeface="Arial"/>
                <a:ea typeface="Arial"/>
                <a:cs typeface="Arial"/>
              </a:defRPr>
            </a:pPr>
            <a:r>
              <a:rPr sz="1425" b="1">
                <a:solidFill>
                  <a:srgbClr val="FFB454"/>
                </a:solidFill>
                <a:latin typeface="Arial"/>
                <a:ea typeface="Arial"/>
                <a:cs typeface="Arial"/>
              </a:rPr>
              <a:t>CONTENU</a:t>
            </a:r>
          </a:p>
        </p:txBody>
      </p:sp>
      <p:sp>
        <p:nvSpPr>
          <p:cNvPr id="8" name="">
            <a:extLst xmlns:a="http://schemas.openxmlformats.org/drawingml/2006/main">
              <a:ext uri="{FF2B5EF4-FFF2-40B4-BE49-F238E27FC236}">
                <a16:creationId xmlns:a16="http://schemas.microsoft.com/office/drawing/2014/main" id="{A696B525-2224-45AB-8418-E302E62B06DA}"/>
              </a:ext>
            </a:extLst>
          </p:cNvPr>
          <p:cNvSpPr>
            <a:spLocks xmlns:a="http://schemas.openxmlformats.org/drawingml/2006/main" noGrp="1"/>
          </p:cNvSpPr>
          <p:nvPr/>
        </p:nvSpPr>
        <p:spPr>
          <a:xfrm xmlns:a="http://schemas.openxmlformats.org/drawingml/2006/main">
            <a:off x="3429000" y="2505075"/>
            <a:ext cx="666750" cy="381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7BDD0D9-A15D-4ECB-8FC9-79FC651D0219}"/>
              </a:ext>
            </a:extLst>
          </p:cNvPr>
          <p:cNvSpPr>
            <a:spLocks xmlns:a="http://schemas.openxmlformats.org/drawingml/2006/main" noGrp="1"/>
          </p:cNvSpPr>
          <p:nvPr/>
        </p:nvSpPr>
        <p:spPr>
          <a:xfrm xmlns:a="http://schemas.openxmlformats.org/drawingml/2006/main">
            <a:off x="4381500" y="231457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source, title, summary, url</a:t>
            </a:r>
          </a:p>
        </p:txBody>
      </p:sp>
      <p:sp>
        <p:nvSpPr>
          <p:cNvPr id="10" name="">
            <a:extLst xmlns:a="http://schemas.openxmlformats.org/drawingml/2006/main">
              <a:ext uri="{FF2B5EF4-FFF2-40B4-BE49-F238E27FC236}">
                <a16:creationId xmlns:a16="http://schemas.microsoft.com/office/drawing/2014/main" id="{3AC24B26-BBCF-4A64-B944-2E5102FAD685}"/>
              </a:ext>
            </a:extLst>
          </p:cNvPr>
          <p:cNvSpPr>
            <a:spLocks xmlns:a="http://schemas.openxmlformats.org/drawingml/2006/main" noGrp="1"/>
          </p:cNvSpPr>
          <p:nvPr/>
        </p:nvSpPr>
        <p:spPr>
          <a:xfrm xmlns:a="http://schemas.openxmlformats.org/drawingml/2006/main">
            <a:off x="762000" y="31432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438BFF"/>
                </a:solidFill>
                <a:latin typeface="Arial"/>
                <a:ea typeface="Arial"/>
                <a:cs typeface="Arial"/>
              </a:defRPr>
            </a:pPr>
            <a:r>
              <a:rPr sz="1425" b="1">
                <a:solidFill>
                  <a:srgbClr val="438BFF"/>
                </a:solidFill>
                <a:latin typeface="Arial"/>
                <a:ea typeface="Arial"/>
                <a:cs typeface="Arial"/>
              </a:rPr>
              <a:t>TEMPS</a:t>
            </a:r>
          </a:p>
        </p:txBody>
      </p:sp>
      <p:sp>
        <p:nvSpPr>
          <p:cNvPr id="11" name="">
            <a:extLst xmlns:a="http://schemas.openxmlformats.org/drawingml/2006/main">
              <a:ext uri="{FF2B5EF4-FFF2-40B4-BE49-F238E27FC236}">
                <a16:creationId xmlns:a16="http://schemas.microsoft.com/office/drawing/2014/main" id="{69F2DE2B-C71B-4CDF-8D4A-EE347DD461C5}"/>
              </a:ext>
            </a:extLst>
          </p:cNvPr>
          <p:cNvSpPr>
            <a:spLocks xmlns:a="http://schemas.openxmlformats.org/drawingml/2006/main" noGrp="1"/>
          </p:cNvSpPr>
          <p:nvPr/>
        </p:nvSpPr>
        <p:spPr>
          <a:xfrm xmlns:a="http://schemas.openxmlformats.org/drawingml/2006/main">
            <a:off x="3429000" y="3314700"/>
            <a:ext cx="666750" cy="381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40A0891-3553-46A9-A8F6-1F8E447B5997}"/>
              </a:ext>
            </a:extLst>
          </p:cNvPr>
          <p:cNvSpPr>
            <a:spLocks xmlns:a="http://schemas.openxmlformats.org/drawingml/2006/main" noGrp="1"/>
          </p:cNvSpPr>
          <p:nvPr/>
        </p:nvSpPr>
        <p:spPr>
          <a:xfrm xmlns:a="http://schemas.openxmlformats.org/drawingml/2006/main">
            <a:off x="4381500" y="31242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published_at et collected_at</a:t>
            </a:r>
          </a:p>
        </p:txBody>
      </p:sp>
      <p:sp>
        <p:nvSpPr>
          <p:cNvPr id="13" name="">
            <a:extLst xmlns:a="http://schemas.openxmlformats.org/drawingml/2006/main">
              <a:ext uri="{FF2B5EF4-FFF2-40B4-BE49-F238E27FC236}">
                <a16:creationId xmlns:a16="http://schemas.microsoft.com/office/drawing/2014/main" id="{8637E5A6-7441-4A3E-83C1-AEB53040FF09}"/>
              </a:ext>
            </a:extLst>
          </p:cNvPr>
          <p:cNvSpPr>
            <a:spLocks xmlns:a="http://schemas.openxmlformats.org/drawingml/2006/main" noGrp="1"/>
          </p:cNvSpPr>
          <p:nvPr/>
        </p:nvSpPr>
        <p:spPr>
          <a:xfrm xmlns:a="http://schemas.openxmlformats.org/drawingml/2006/main">
            <a:off x="762000" y="395287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ED3C6"/>
                </a:solidFill>
                <a:latin typeface="Arial"/>
                <a:ea typeface="Arial"/>
                <a:cs typeface="Arial"/>
              </a:defRPr>
            </a:pPr>
            <a:r>
              <a:rPr sz="1425" b="1">
                <a:solidFill>
                  <a:srgbClr val="2ED3C6"/>
                </a:solidFill>
                <a:latin typeface="Arial"/>
                <a:ea typeface="Arial"/>
                <a:cs typeface="Arial"/>
              </a:rPr>
              <a:t>FORMAT</a:t>
            </a:r>
          </a:p>
        </p:txBody>
      </p:sp>
      <p:sp>
        <p:nvSpPr>
          <p:cNvPr id="14" name="">
            <a:extLst xmlns:a="http://schemas.openxmlformats.org/drawingml/2006/main">
              <a:ext uri="{FF2B5EF4-FFF2-40B4-BE49-F238E27FC236}">
                <a16:creationId xmlns:a16="http://schemas.microsoft.com/office/drawing/2014/main" id="{E8151145-AEBB-4E02-9799-95B1023BC49B}"/>
              </a:ext>
            </a:extLst>
          </p:cNvPr>
          <p:cNvSpPr>
            <a:spLocks xmlns:a="http://schemas.openxmlformats.org/drawingml/2006/main" noGrp="1"/>
          </p:cNvSpPr>
          <p:nvPr/>
        </p:nvSpPr>
        <p:spPr>
          <a:xfrm xmlns:a="http://schemas.openxmlformats.org/drawingml/2006/main">
            <a:off x="3429000" y="4124325"/>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ACE96B8-440C-468C-B526-2D222A2B6A7F}"/>
              </a:ext>
            </a:extLst>
          </p:cNvPr>
          <p:cNvSpPr>
            <a:spLocks xmlns:a="http://schemas.openxmlformats.org/drawingml/2006/main" noGrp="1"/>
          </p:cNvSpPr>
          <p:nvPr/>
        </p:nvSpPr>
        <p:spPr>
          <a:xfrm xmlns:a="http://schemas.openxmlformats.org/drawingml/2006/main">
            <a:off x="4381500" y="393382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JSON UTF-8 normalisé</a:t>
            </a:r>
          </a:p>
        </p:txBody>
      </p:sp>
      <p:sp>
        <p:nvSpPr>
          <p:cNvPr id="16" name="">
            <a:extLst xmlns:a="http://schemas.openxmlformats.org/drawingml/2006/main">
              <a:ext uri="{FF2B5EF4-FFF2-40B4-BE49-F238E27FC236}">
                <a16:creationId xmlns:a16="http://schemas.microsoft.com/office/drawing/2014/main" id="{9BC4E211-1EFF-458D-A7B6-DECD3D7DE066}"/>
              </a:ext>
            </a:extLst>
          </p:cNvPr>
          <p:cNvSpPr>
            <a:spLocks xmlns:a="http://schemas.openxmlformats.org/drawingml/2006/main" noGrp="1"/>
          </p:cNvSpPr>
          <p:nvPr/>
        </p:nvSpPr>
        <p:spPr>
          <a:xfrm xmlns:a="http://schemas.openxmlformats.org/drawingml/2006/main">
            <a:off x="1524000" y="5191125"/>
            <a:ext cx="914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EEF6FF"/>
                </a:solidFill>
                <a:latin typeface="Arial"/>
                <a:ea typeface="Arial"/>
                <a:cs typeface="Arial"/>
              </a:defRPr>
            </a:pPr>
            <a:r>
              <a:rPr sz="1875" b="1">
                <a:solidFill>
                  <a:srgbClr val="EEF6FF"/>
                </a:solidFill>
                <a:latin typeface="Arial"/>
                <a:ea typeface="Arial"/>
                <a:cs typeface="Arial"/>
              </a:rPr>
              <a:t>Même structure quelle que soit la source</a:t>
            </a:r>
          </a:p>
        </p:txBody>
      </p:sp>
    </p:spTree>
    <p:extLst>
      <p:ext uri="{BB962C8B-B14F-4D97-AF65-F5344CB8AC3E}">
        <p14:creationId xmlns:p14="http://schemas.microsoft.com/office/powerpoint/2010/main" val="1985245392"/>
      </p:ext>
    </p:extLst>
  </p:cSld>
</p:sld>
</file>

<file path=ppt/slides/slide7.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E4BE052E-9B52-45F1-8AD5-200761EA4B71}"/>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Architecture générale</a:t>
            </a:r>
          </a:p>
        </p:txBody>
      </p:sp>
      <p:sp>
        <p:nvSpPr>
          <p:cNvPr id="2" name="">
            <a:extLst xmlns:a="http://schemas.openxmlformats.org/drawingml/2006/main">
              <a:ext uri="{FF2B5EF4-FFF2-40B4-BE49-F238E27FC236}">
                <a16:creationId xmlns:a16="http://schemas.microsoft.com/office/drawing/2014/main" id="{9157A61E-7924-4C8E-A32B-23DDA4E4049C}"/>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0A8D574B-57DC-4ABB-81F5-290BBA08521B}"/>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DC5667-FFD2-407D-A93C-365A29CAB1D8}"/>
              </a:ext>
            </a:extLst>
          </p:cNvPr>
          <p:cNvSpPr>
            <a:spLocks xmlns:a="http://schemas.openxmlformats.org/drawingml/2006/main" noGrp="1"/>
          </p:cNvSpPr>
          <p:nvPr/>
        </p:nvSpPr>
        <p:spPr>
          <a:xfrm xmlns:a="http://schemas.openxmlformats.org/drawingml/2006/main">
            <a:off x="190500" y="2238375"/>
            <a:ext cx="1190625"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C56230B-388F-4AB6-B683-5B7171324BBC}"/>
              </a:ext>
            </a:extLst>
          </p:cNvPr>
          <p:cNvSpPr>
            <a:spLocks xmlns:a="http://schemas.openxmlformats.org/drawingml/2006/main" noGrp="1"/>
          </p:cNvSpPr>
          <p:nvPr/>
        </p:nvSpPr>
        <p:spPr>
          <a:xfrm xmlns:a="http://schemas.openxmlformats.org/drawingml/2006/main">
            <a:off x="190500" y="2238375"/>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C096671-DF4C-44E8-887E-6A10017B5CE8}"/>
              </a:ext>
            </a:extLst>
          </p:cNvPr>
          <p:cNvSpPr>
            <a:spLocks xmlns:a="http://schemas.openxmlformats.org/drawingml/2006/main" noGrp="1"/>
          </p:cNvSpPr>
          <p:nvPr/>
        </p:nvSpPr>
        <p:spPr>
          <a:xfrm xmlns:a="http://schemas.openxmlformats.org/drawingml/2006/main">
            <a:off x="381000" y="2352675"/>
            <a:ext cx="885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RSS</a:t>
            </a:r>
          </a:p>
        </p:txBody>
      </p:sp>
      <p:sp>
        <p:nvSpPr>
          <p:cNvPr id="7" name="">
            <a:extLst xmlns:a="http://schemas.openxmlformats.org/drawingml/2006/main">
              <a:ext uri="{FF2B5EF4-FFF2-40B4-BE49-F238E27FC236}">
                <a16:creationId xmlns:a16="http://schemas.microsoft.com/office/drawing/2014/main" id="{186C9C56-1C1C-4FDA-8011-A22B15D9F186}"/>
              </a:ext>
            </a:extLst>
          </p:cNvPr>
          <p:cNvSpPr>
            <a:spLocks xmlns:a="http://schemas.openxmlformats.org/drawingml/2006/main" noGrp="1"/>
          </p:cNvSpPr>
          <p:nvPr/>
        </p:nvSpPr>
        <p:spPr>
          <a:xfrm xmlns:a="http://schemas.openxmlformats.org/drawingml/2006/main">
            <a:off x="381000" y="2733675"/>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sources</a:t>
            </a:r>
          </a:p>
        </p:txBody>
      </p:sp>
      <p:sp>
        <p:nvSpPr>
          <p:cNvPr id="8" name="">
            <a:extLst xmlns:a="http://schemas.openxmlformats.org/drawingml/2006/main">
              <a:ext uri="{FF2B5EF4-FFF2-40B4-BE49-F238E27FC236}">
                <a16:creationId xmlns:a16="http://schemas.microsoft.com/office/drawing/2014/main" id="{95130190-E9E9-4741-8B3E-4DC5757D1D21}"/>
              </a:ext>
            </a:extLst>
          </p:cNvPr>
          <p:cNvSpPr>
            <a:spLocks xmlns:a="http://schemas.openxmlformats.org/drawingml/2006/main" noGrp="1"/>
          </p:cNvSpPr>
          <p:nvPr/>
        </p:nvSpPr>
        <p:spPr>
          <a:xfrm xmlns:a="http://schemas.openxmlformats.org/drawingml/2006/main">
            <a:off x="1381125" y="2428875"/>
            <a:ext cx="3143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F43E0140-F9B5-4551-8689-CF09714DE4B0}"/>
              </a:ext>
            </a:extLst>
          </p:cNvPr>
          <p:cNvSpPr>
            <a:spLocks xmlns:a="http://schemas.openxmlformats.org/drawingml/2006/main" noGrp="1"/>
          </p:cNvSpPr>
          <p:nvPr/>
        </p:nvSpPr>
        <p:spPr>
          <a:xfrm xmlns:a="http://schemas.openxmlformats.org/drawingml/2006/main">
            <a:off x="1695450" y="2238375"/>
            <a:ext cx="1190625"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F4CF878-77C6-40C5-9043-D750CDCADC32}"/>
              </a:ext>
            </a:extLst>
          </p:cNvPr>
          <p:cNvSpPr>
            <a:spLocks xmlns:a="http://schemas.openxmlformats.org/drawingml/2006/main" noGrp="1"/>
          </p:cNvSpPr>
          <p:nvPr/>
        </p:nvSpPr>
        <p:spPr>
          <a:xfrm xmlns:a="http://schemas.openxmlformats.org/drawingml/2006/main">
            <a:off x="1695450" y="2238375"/>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D464CBE-29B0-485E-8A03-FC85FB433067}"/>
              </a:ext>
            </a:extLst>
          </p:cNvPr>
          <p:cNvSpPr>
            <a:spLocks xmlns:a="http://schemas.openxmlformats.org/drawingml/2006/main" noGrp="1"/>
          </p:cNvSpPr>
          <p:nvPr/>
        </p:nvSpPr>
        <p:spPr>
          <a:xfrm xmlns:a="http://schemas.openxmlformats.org/drawingml/2006/main">
            <a:off x="1885950" y="2352675"/>
            <a:ext cx="885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248"/>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Scraper</a:t>
            </a:r>
          </a:p>
        </p:txBody>
      </p:sp>
      <p:sp>
        <p:nvSpPr>
          <p:cNvPr id="12" name="">
            <a:extLst xmlns:a="http://schemas.openxmlformats.org/drawingml/2006/main">
              <a:ext uri="{FF2B5EF4-FFF2-40B4-BE49-F238E27FC236}">
                <a16:creationId xmlns:a16="http://schemas.microsoft.com/office/drawing/2014/main" id="{A87C4C0A-9EF8-4ED3-9A72-762B8AC28CE4}"/>
              </a:ext>
            </a:extLst>
          </p:cNvPr>
          <p:cNvSpPr>
            <a:spLocks xmlns:a="http://schemas.openxmlformats.org/drawingml/2006/main" noGrp="1"/>
          </p:cNvSpPr>
          <p:nvPr/>
        </p:nvSpPr>
        <p:spPr>
          <a:xfrm xmlns:a="http://schemas.openxmlformats.org/drawingml/2006/main">
            <a:off x="1885950" y="2733675"/>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producer</a:t>
            </a:r>
          </a:p>
        </p:txBody>
      </p:sp>
      <p:sp>
        <p:nvSpPr>
          <p:cNvPr id="13" name="">
            <a:extLst xmlns:a="http://schemas.openxmlformats.org/drawingml/2006/main">
              <a:ext uri="{FF2B5EF4-FFF2-40B4-BE49-F238E27FC236}">
                <a16:creationId xmlns:a16="http://schemas.microsoft.com/office/drawing/2014/main" id="{F25D9080-ABB6-4B6D-A503-D0BD8C172F40}"/>
              </a:ext>
            </a:extLst>
          </p:cNvPr>
          <p:cNvSpPr>
            <a:spLocks xmlns:a="http://schemas.openxmlformats.org/drawingml/2006/main" noGrp="1"/>
          </p:cNvSpPr>
          <p:nvPr/>
        </p:nvSpPr>
        <p:spPr>
          <a:xfrm xmlns:a="http://schemas.openxmlformats.org/drawingml/2006/main">
            <a:off x="2886075" y="2428875"/>
            <a:ext cx="3143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88BD4649-8631-4C1D-BA57-87AF1B053078}"/>
              </a:ext>
            </a:extLst>
          </p:cNvPr>
          <p:cNvSpPr>
            <a:spLocks xmlns:a="http://schemas.openxmlformats.org/drawingml/2006/main" noGrp="1"/>
          </p:cNvSpPr>
          <p:nvPr/>
        </p:nvSpPr>
        <p:spPr>
          <a:xfrm xmlns:a="http://schemas.openxmlformats.org/drawingml/2006/main">
            <a:off x="3200400" y="2238375"/>
            <a:ext cx="1190625"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778A5D9-ACB6-468F-AE7A-9DAF04E8D187}"/>
              </a:ext>
            </a:extLst>
          </p:cNvPr>
          <p:cNvSpPr>
            <a:spLocks xmlns:a="http://schemas.openxmlformats.org/drawingml/2006/main" noGrp="1"/>
          </p:cNvSpPr>
          <p:nvPr/>
        </p:nvSpPr>
        <p:spPr>
          <a:xfrm xmlns:a="http://schemas.openxmlformats.org/drawingml/2006/main">
            <a:off x="3200400" y="2238375"/>
            <a:ext cx="66675" cy="9525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37505D0-B47A-4288-B06C-6D4629DE9269}"/>
              </a:ext>
            </a:extLst>
          </p:cNvPr>
          <p:cNvSpPr>
            <a:spLocks xmlns:a="http://schemas.openxmlformats.org/drawingml/2006/main" noGrp="1"/>
          </p:cNvSpPr>
          <p:nvPr/>
        </p:nvSpPr>
        <p:spPr>
          <a:xfrm xmlns:a="http://schemas.openxmlformats.org/drawingml/2006/main">
            <a:off x="3390900" y="2352675"/>
            <a:ext cx="885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17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raw_news</a:t>
            </a:r>
          </a:p>
        </p:txBody>
      </p:sp>
      <p:sp>
        <p:nvSpPr>
          <p:cNvPr id="17" name="">
            <a:extLst xmlns:a="http://schemas.openxmlformats.org/drawingml/2006/main">
              <a:ext uri="{FF2B5EF4-FFF2-40B4-BE49-F238E27FC236}">
                <a16:creationId xmlns:a16="http://schemas.microsoft.com/office/drawing/2014/main" id="{79D789E4-63C3-4407-873F-119EE26C1B08}"/>
              </a:ext>
            </a:extLst>
          </p:cNvPr>
          <p:cNvSpPr>
            <a:spLocks xmlns:a="http://schemas.openxmlformats.org/drawingml/2006/main" noGrp="1"/>
          </p:cNvSpPr>
          <p:nvPr/>
        </p:nvSpPr>
        <p:spPr>
          <a:xfrm xmlns:a="http://schemas.openxmlformats.org/drawingml/2006/main">
            <a:off x="3390900" y="2733675"/>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queue</a:t>
            </a:r>
          </a:p>
        </p:txBody>
      </p:sp>
      <p:sp>
        <p:nvSpPr>
          <p:cNvPr id="18" name="">
            <a:extLst xmlns:a="http://schemas.openxmlformats.org/drawingml/2006/main">
              <a:ext uri="{FF2B5EF4-FFF2-40B4-BE49-F238E27FC236}">
                <a16:creationId xmlns:a16="http://schemas.microsoft.com/office/drawing/2014/main" id="{701CEB1C-2118-471D-BA34-455F30767C2E}"/>
              </a:ext>
            </a:extLst>
          </p:cNvPr>
          <p:cNvSpPr>
            <a:spLocks xmlns:a="http://schemas.openxmlformats.org/drawingml/2006/main" noGrp="1"/>
          </p:cNvSpPr>
          <p:nvPr/>
        </p:nvSpPr>
        <p:spPr>
          <a:xfrm xmlns:a="http://schemas.openxmlformats.org/drawingml/2006/main">
            <a:off x="4391025" y="2428875"/>
            <a:ext cx="3143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6F3D283D-DDFB-413F-A354-50B6CB4A4E30}"/>
              </a:ext>
            </a:extLst>
          </p:cNvPr>
          <p:cNvSpPr>
            <a:spLocks xmlns:a="http://schemas.openxmlformats.org/drawingml/2006/main" noGrp="1"/>
          </p:cNvSpPr>
          <p:nvPr/>
        </p:nvSpPr>
        <p:spPr>
          <a:xfrm xmlns:a="http://schemas.openxmlformats.org/drawingml/2006/main">
            <a:off x="4705350" y="2238375"/>
            <a:ext cx="1190625"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F9BFD78-9F21-4DF4-B8F8-2EE48D9FFE80}"/>
              </a:ext>
            </a:extLst>
          </p:cNvPr>
          <p:cNvSpPr>
            <a:spLocks xmlns:a="http://schemas.openxmlformats.org/drawingml/2006/main" noGrp="1"/>
          </p:cNvSpPr>
          <p:nvPr/>
        </p:nvSpPr>
        <p:spPr>
          <a:xfrm xmlns:a="http://schemas.openxmlformats.org/drawingml/2006/main">
            <a:off x="4705350" y="2238375"/>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7949E74-D39A-4DA7-9F0C-E18581ECB32C}"/>
              </a:ext>
            </a:extLst>
          </p:cNvPr>
          <p:cNvSpPr>
            <a:spLocks xmlns:a="http://schemas.openxmlformats.org/drawingml/2006/main" noGrp="1"/>
          </p:cNvSpPr>
          <p:nvPr/>
        </p:nvSpPr>
        <p:spPr>
          <a:xfrm xmlns:a="http://schemas.openxmlformats.org/drawingml/2006/main">
            <a:off x="4895850" y="2352675"/>
            <a:ext cx="885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43"/>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Analytics</a:t>
            </a:r>
          </a:p>
        </p:txBody>
      </p:sp>
      <p:sp>
        <p:nvSpPr>
          <p:cNvPr id="22" name="">
            <a:extLst xmlns:a="http://schemas.openxmlformats.org/drawingml/2006/main">
              <a:ext uri="{FF2B5EF4-FFF2-40B4-BE49-F238E27FC236}">
                <a16:creationId xmlns:a16="http://schemas.microsoft.com/office/drawing/2014/main" id="{E4425394-C4C8-4BFE-8F7B-E6BACDC2BE47}"/>
              </a:ext>
            </a:extLst>
          </p:cNvPr>
          <p:cNvSpPr>
            <a:spLocks xmlns:a="http://schemas.openxmlformats.org/drawingml/2006/main" noGrp="1"/>
          </p:cNvSpPr>
          <p:nvPr/>
        </p:nvSpPr>
        <p:spPr>
          <a:xfrm xmlns:a="http://schemas.openxmlformats.org/drawingml/2006/main">
            <a:off x="4895850" y="2733675"/>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worker</a:t>
            </a:r>
          </a:p>
        </p:txBody>
      </p:sp>
      <p:sp>
        <p:nvSpPr>
          <p:cNvPr id="23" name="">
            <a:extLst xmlns:a="http://schemas.openxmlformats.org/drawingml/2006/main">
              <a:ext uri="{FF2B5EF4-FFF2-40B4-BE49-F238E27FC236}">
                <a16:creationId xmlns:a16="http://schemas.microsoft.com/office/drawing/2014/main" id="{A9CD7D9F-101B-42CB-88D6-DD7D11CDC711}"/>
              </a:ext>
            </a:extLst>
          </p:cNvPr>
          <p:cNvSpPr>
            <a:spLocks xmlns:a="http://schemas.openxmlformats.org/drawingml/2006/main" noGrp="1"/>
          </p:cNvSpPr>
          <p:nvPr/>
        </p:nvSpPr>
        <p:spPr>
          <a:xfrm xmlns:a="http://schemas.openxmlformats.org/drawingml/2006/main">
            <a:off x="5895975" y="2428875"/>
            <a:ext cx="3143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4D09B1AB-9F06-452F-A9D9-A6F30CEB9167}"/>
              </a:ext>
            </a:extLst>
          </p:cNvPr>
          <p:cNvSpPr>
            <a:spLocks xmlns:a="http://schemas.openxmlformats.org/drawingml/2006/main" noGrp="1"/>
          </p:cNvSpPr>
          <p:nvPr/>
        </p:nvSpPr>
        <p:spPr>
          <a:xfrm xmlns:a="http://schemas.openxmlformats.org/drawingml/2006/main">
            <a:off x="6210300" y="2238375"/>
            <a:ext cx="1190625"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FE762BA-931C-449B-A374-7E24281302DC}"/>
              </a:ext>
            </a:extLst>
          </p:cNvPr>
          <p:cNvSpPr>
            <a:spLocks xmlns:a="http://schemas.openxmlformats.org/drawingml/2006/main" noGrp="1"/>
          </p:cNvSpPr>
          <p:nvPr/>
        </p:nvSpPr>
        <p:spPr>
          <a:xfrm xmlns:a="http://schemas.openxmlformats.org/drawingml/2006/main">
            <a:off x="6210300" y="2238375"/>
            <a:ext cx="66675" cy="9525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D75CDEF-4057-441A-9F8D-4972C570C114}"/>
              </a:ext>
            </a:extLst>
          </p:cNvPr>
          <p:cNvSpPr>
            <a:spLocks xmlns:a="http://schemas.openxmlformats.org/drawingml/2006/main" noGrp="1"/>
          </p:cNvSpPr>
          <p:nvPr/>
        </p:nvSpPr>
        <p:spPr>
          <a:xfrm xmlns:a="http://schemas.openxmlformats.org/drawingml/2006/main">
            <a:off x="6400800" y="2352675"/>
            <a:ext cx="885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enriched_news</a:t>
            </a:r>
          </a:p>
        </p:txBody>
      </p:sp>
      <p:sp>
        <p:nvSpPr>
          <p:cNvPr id="27" name="">
            <a:extLst xmlns:a="http://schemas.openxmlformats.org/drawingml/2006/main">
              <a:ext uri="{FF2B5EF4-FFF2-40B4-BE49-F238E27FC236}">
                <a16:creationId xmlns:a16="http://schemas.microsoft.com/office/drawing/2014/main" id="{59371367-7B5C-413A-B3D0-AA9A187C5862}"/>
              </a:ext>
            </a:extLst>
          </p:cNvPr>
          <p:cNvSpPr>
            <a:spLocks xmlns:a="http://schemas.openxmlformats.org/drawingml/2006/main" noGrp="1"/>
          </p:cNvSpPr>
          <p:nvPr/>
        </p:nvSpPr>
        <p:spPr>
          <a:xfrm xmlns:a="http://schemas.openxmlformats.org/drawingml/2006/main">
            <a:off x="6400800" y="2733675"/>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queue</a:t>
            </a:r>
          </a:p>
        </p:txBody>
      </p:sp>
      <p:sp>
        <p:nvSpPr>
          <p:cNvPr id="28" name="">
            <a:extLst xmlns:a="http://schemas.openxmlformats.org/drawingml/2006/main">
              <a:ext uri="{FF2B5EF4-FFF2-40B4-BE49-F238E27FC236}">
                <a16:creationId xmlns:a16="http://schemas.microsoft.com/office/drawing/2014/main" id="{A8F84FE2-27E6-4736-9D65-952696E28916}"/>
              </a:ext>
            </a:extLst>
          </p:cNvPr>
          <p:cNvSpPr>
            <a:spLocks xmlns:a="http://schemas.openxmlformats.org/drawingml/2006/main" noGrp="1"/>
          </p:cNvSpPr>
          <p:nvPr/>
        </p:nvSpPr>
        <p:spPr>
          <a:xfrm xmlns:a="http://schemas.openxmlformats.org/drawingml/2006/main">
            <a:off x="7400925" y="2428875"/>
            <a:ext cx="3143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15C89485-986B-4981-8677-F0D7C64DECF1}"/>
              </a:ext>
            </a:extLst>
          </p:cNvPr>
          <p:cNvSpPr>
            <a:spLocks xmlns:a="http://schemas.openxmlformats.org/drawingml/2006/main" noGrp="1"/>
          </p:cNvSpPr>
          <p:nvPr/>
        </p:nvSpPr>
        <p:spPr>
          <a:xfrm xmlns:a="http://schemas.openxmlformats.org/drawingml/2006/main">
            <a:off x="7715250" y="2238375"/>
            <a:ext cx="1190625"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60A29D8-7A92-48DF-918E-4DFA270201C4}"/>
              </a:ext>
            </a:extLst>
          </p:cNvPr>
          <p:cNvSpPr>
            <a:spLocks xmlns:a="http://schemas.openxmlformats.org/drawingml/2006/main" noGrp="1"/>
          </p:cNvSpPr>
          <p:nvPr/>
        </p:nvSpPr>
        <p:spPr>
          <a:xfrm xmlns:a="http://schemas.openxmlformats.org/drawingml/2006/main">
            <a:off x="7715250" y="2238375"/>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4E6F0438-C839-42A6-9B7C-B94661FBCA56}"/>
              </a:ext>
            </a:extLst>
          </p:cNvPr>
          <p:cNvSpPr>
            <a:spLocks xmlns:a="http://schemas.openxmlformats.org/drawingml/2006/main" noGrp="1"/>
          </p:cNvSpPr>
          <p:nvPr/>
        </p:nvSpPr>
        <p:spPr>
          <a:xfrm xmlns:a="http://schemas.openxmlformats.org/drawingml/2006/main">
            <a:off x="7905750" y="2352675"/>
            <a:ext cx="885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34"/>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Storage</a:t>
            </a:r>
          </a:p>
        </p:txBody>
      </p:sp>
      <p:sp>
        <p:nvSpPr>
          <p:cNvPr id="32" name="">
            <a:extLst xmlns:a="http://schemas.openxmlformats.org/drawingml/2006/main">
              <a:ext uri="{FF2B5EF4-FFF2-40B4-BE49-F238E27FC236}">
                <a16:creationId xmlns:a16="http://schemas.microsoft.com/office/drawing/2014/main" id="{FB40A354-F611-4337-A40D-9CF7552658CE}"/>
              </a:ext>
            </a:extLst>
          </p:cNvPr>
          <p:cNvSpPr>
            <a:spLocks xmlns:a="http://schemas.openxmlformats.org/drawingml/2006/main" noGrp="1"/>
          </p:cNvSpPr>
          <p:nvPr/>
        </p:nvSpPr>
        <p:spPr>
          <a:xfrm xmlns:a="http://schemas.openxmlformats.org/drawingml/2006/main">
            <a:off x="7905750" y="2733675"/>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worker</a:t>
            </a:r>
          </a:p>
        </p:txBody>
      </p:sp>
      <p:sp>
        <p:nvSpPr>
          <p:cNvPr id="33" name="">
            <a:extLst xmlns:a="http://schemas.openxmlformats.org/drawingml/2006/main">
              <a:ext uri="{FF2B5EF4-FFF2-40B4-BE49-F238E27FC236}">
                <a16:creationId xmlns:a16="http://schemas.microsoft.com/office/drawing/2014/main" id="{D429DB5E-F2FD-480B-963E-7CAA38603CCC}"/>
              </a:ext>
            </a:extLst>
          </p:cNvPr>
          <p:cNvSpPr>
            <a:spLocks xmlns:a="http://schemas.openxmlformats.org/drawingml/2006/main" noGrp="1"/>
          </p:cNvSpPr>
          <p:nvPr/>
        </p:nvSpPr>
        <p:spPr>
          <a:xfrm xmlns:a="http://schemas.openxmlformats.org/drawingml/2006/main">
            <a:off x="8905875" y="2428875"/>
            <a:ext cx="3143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34" name="">
            <a:extLst xmlns:a="http://schemas.openxmlformats.org/drawingml/2006/main">
              <a:ext uri="{FF2B5EF4-FFF2-40B4-BE49-F238E27FC236}">
                <a16:creationId xmlns:a16="http://schemas.microsoft.com/office/drawing/2014/main" id="{690D67C2-199B-41FD-9DB5-A0086633F2AF}"/>
              </a:ext>
            </a:extLst>
          </p:cNvPr>
          <p:cNvSpPr>
            <a:spLocks xmlns:a="http://schemas.openxmlformats.org/drawingml/2006/main" noGrp="1"/>
          </p:cNvSpPr>
          <p:nvPr/>
        </p:nvSpPr>
        <p:spPr>
          <a:xfrm xmlns:a="http://schemas.openxmlformats.org/drawingml/2006/main">
            <a:off x="9220200" y="2238375"/>
            <a:ext cx="1190625"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3CEBE0F-064E-41E4-B604-EAA23905702E}"/>
              </a:ext>
            </a:extLst>
          </p:cNvPr>
          <p:cNvSpPr>
            <a:spLocks xmlns:a="http://schemas.openxmlformats.org/drawingml/2006/main" noGrp="1"/>
          </p:cNvSpPr>
          <p:nvPr/>
        </p:nvSpPr>
        <p:spPr>
          <a:xfrm xmlns:a="http://schemas.openxmlformats.org/drawingml/2006/main">
            <a:off x="9220200" y="2238375"/>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03DDD105-5743-4B1F-BA78-5CD59202CAEC}"/>
              </a:ext>
            </a:extLst>
          </p:cNvPr>
          <p:cNvSpPr>
            <a:spLocks xmlns:a="http://schemas.openxmlformats.org/drawingml/2006/main" noGrp="1"/>
          </p:cNvSpPr>
          <p:nvPr/>
        </p:nvSpPr>
        <p:spPr>
          <a:xfrm xmlns:a="http://schemas.openxmlformats.org/drawingml/2006/main">
            <a:off x="9410700" y="2352675"/>
            <a:ext cx="885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7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MySQL</a:t>
            </a:r>
          </a:p>
        </p:txBody>
      </p:sp>
      <p:sp>
        <p:nvSpPr>
          <p:cNvPr id="37" name="">
            <a:extLst xmlns:a="http://schemas.openxmlformats.org/drawingml/2006/main">
              <a:ext uri="{FF2B5EF4-FFF2-40B4-BE49-F238E27FC236}">
                <a16:creationId xmlns:a16="http://schemas.microsoft.com/office/drawing/2014/main" id="{6E57930B-C8BB-439E-9BC5-192230EEA807}"/>
              </a:ext>
            </a:extLst>
          </p:cNvPr>
          <p:cNvSpPr>
            <a:spLocks xmlns:a="http://schemas.openxmlformats.org/drawingml/2006/main" noGrp="1"/>
          </p:cNvSpPr>
          <p:nvPr/>
        </p:nvSpPr>
        <p:spPr>
          <a:xfrm xmlns:a="http://schemas.openxmlformats.org/drawingml/2006/main">
            <a:off x="9410700" y="2733675"/>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3 tables</a:t>
            </a:r>
          </a:p>
        </p:txBody>
      </p:sp>
      <p:sp>
        <p:nvSpPr>
          <p:cNvPr id="38" name="">
            <a:extLst xmlns:a="http://schemas.openxmlformats.org/drawingml/2006/main">
              <a:ext uri="{FF2B5EF4-FFF2-40B4-BE49-F238E27FC236}">
                <a16:creationId xmlns:a16="http://schemas.microsoft.com/office/drawing/2014/main" id="{5B1B8584-488E-4D48-A0B7-22C6997CB487}"/>
              </a:ext>
            </a:extLst>
          </p:cNvPr>
          <p:cNvSpPr>
            <a:spLocks xmlns:a="http://schemas.openxmlformats.org/drawingml/2006/main" noGrp="1"/>
          </p:cNvSpPr>
          <p:nvPr/>
        </p:nvSpPr>
        <p:spPr>
          <a:xfrm xmlns:a="http://schemas.openxmlformats.org/drawingml/2006/main">
            <a:off x="10410825" y="2428875"/>
            <a:ext cx="3143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39" name="">
            <a:extLst xmlns:a="http://schemas.openxmlformats.org/drawingml/2006/main">
              <a:ext uri="{FF2B5EF4-FFF2-40B4-BE49-F238E27FC236}">
                <a16:creationId xmlns:a16="http://schemas.microsoft.com/office/drawing/2014/main" id="{1B541BDB-9E28-4A7C-A5B2-7C86E9420D02}"/>
              </a:ext>
            </a:extLst>
          </p:cNvPr>
          <p:cNvSpPr>
            <a:spLocks xmlns:a="http://schemas.openxmlformats.org/drawingml/2006/main" noGrp="1"/>
          </p:cNvSpPr>
          <p:nvPr/>
        </p:nvSpPr>
        <p:spPr>
          <a:xfrm xmlns:a="http://schemas.openxmlformats.org/drawingml/2006/main">
            <a:off x="10725150" y="2238375"/>
            <a:ext cx="1190625"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CFFCDF2A-9F49-4637-9165-ECE0853C1C37}"/>
              </a:ext>
            </a:extLst>
          </p:cNvPr>
          <p:cNvSpPr>
            <a:spLocks xmlns:a="http://schemas.openxmlformats.org/drawingml/2006/main" noGrp="1"/>
          </p:cNvSpPr>
          <p:nvPr/>
        </p:nvSpPr>
        <p:spPr>
          <a:xfrm xmlns:a="http://schemas.openxmlformats.org/drawingml/2006/main">
            <a:off x="10725150" y="2238375"/>
            <a:ext cx="66675" cy="9525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ADFE1272-737E-4A65-8462-19614217DB5D}"/>
              </a:ext>
            </a:extLst>
          </p:cNvPr>
          <p:cNvSpPr>
            <a:spLocks xmlns:a="http://schemas.openxmlformats.org/drawingml/2006/main" noGrp="1"/>
          </p:cNvSpPr>
          <p:nvPr/>
        </p:nvSpPr>
        <p:spPr>
          <a:xfrm xmlns:a="http://schemas.openxmlformats.org/drawingml/2006/main">
            <a:off x="10915650" y="2352675"/>
            <a:ext cx="885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67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Grafana</a:t>
            </a:r>
          </a:p>
        </p:txBody>
      </p:sp>
      <p:sp>
        <p:nvSpPr>
          <p:cNvPr id="42" name="">
            <a:extLst xmlns:a="http://schemas.openxmlformats.org/drawingml/2006/main">
              <a:ext uri="{FF2B5EF4-FFF2-40B4-BE49-F238E27FC236}">
                <a16:creationId xmlns:a16="http://schemas.microsoft.com/office/drawing/2014/main" id="{31E81127-805F-4DF3-BFC5-B9D396613123}"/>
              </a:ext>
            </a:extLst>
          </p:cNvPr>
          <p:cNvSpPr>
            <a:spLocks xmlns:a="http://schemas.openxmlformats.org/drawingml/2006/main" noGrp="1"/>
          </p:cNvSpPr>
          <p:nvPr/>
        </p:nvSpPr>
        <p:spPr>
          <a:xfrm xmlns:a="http://schemas.openxmlformats.org/drawingml/2006/main">
            <a:off x="10915650" y="2733675"/>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dashboard</a:t>
            </a:r>
          </a:p>
        </p:txBody>
      </p:sp>
      <p:sp>
        <p:nvSpPr>
          <p:cNvPr id="43" name="">
            <a:extLst xmlns:a="http://schemas.openxmlformats.org/drawingml/2006/main">
              <a:ext uri="{FF2B5EF4-FFF2-40B4-BE49-F238E27FC236}">
                <a16:creationId xmlns:a16="http://schemas.microsoft.com/office/drawing/2014/main" id="{C40B47AB-E9C2-4057-8017-6F642BD841AC}"/>
              </a:ext>
            </a:extLst>
          </p:cNvPr>
          <p:cNvSpPr>
            <a:spLocks xmlns:a="http://schemas.openxmlformats.org/drawingml/2006/main" noGrp="1"/>
          </p:cNvSpPr>
          <p:nvPr/>
        </p:nvSpPr>
        <p:spPr>
          <a:xfrm xmlns:a="http://schemas.openxmlformats.org/drawingml/2006/main">
            <a:off x="1714500" y="4095750"/>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2ED3C6"/>
                </a:solidFill>
                <a:latin typeface="Arial"/>
                <a:ea typeface="Arial"/>
                <a:cs typeface="Arial"/>
              </a:defRPr>
            </a:pPr>
            <a:r>
              <a:rPr sz="1950" b="1">
                <a:solidFill>
                  <a:srgbClr val="2ED3C6"/>
                </a:solidFill>
                <a:latin typeface="Arial"/>
                <a:ea typeface="Arial"/>
                <a:cs typeface="Arial"/>
              </a:rPr>
              <a:t>Deux frontières asynchrones isolent les rythmes et les pannes</a:t>
            </a:r>
          </a:p>
        </p:txBody>
      </p:sp>
    </p:spTree>
    <p:extLst>
      <p:ext uri="{BB962C8B-B14F-4D97-AF65-F5344CB8AC3E}">
        <p14:creationId xmlns:p14="http://schemas.microsoft.com/office/powerpoint/2010/main" val="1895749621"/>
      </p:ext>
    </p:extLst>
  </p:cSld>
</p:sld>
</file>

<file path=ppt/slides/slide8.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B7C465E-DB2D-4272-86BA-0D01AFB495E9}"/>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Services Docker</a:t>
            </a:r>
          </a:p>
        </p:txBody>
      </p:sp>
      <p:sp>
        <p:nvSpPr>
          <p:cNvPr id="2" name="">
            <a:extLst xmlns:a="http://schemas.openxmlformats.org/drawingml/2006/main">
              <a:ext uri="{FF2B5EF4-FFF2-40B4-BE49-F238E27FC236}">
                <a16:creationId xmlns:a16="http://schemas.microsoft.com/office/drawing/2014/main" id="{1C8D6E74-9663-434B-A48A-CAF4B820EC27}"/>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FABC4E68-4E83-4C31-9823-649EDCBF8823}"/>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87DC6BA-0EB3-453F-8DDC-1C7D6AFFDCDF}"/>
              </a:ext>
            </a:extLst>
          </p:cNvPr>
          <p:cNvSpPr>
            <a:spLocks xmlns:a="http://schemas.openxmlformats.org/drawingml/2006/main" noGrp="1"/>
          </p:cNvSpPr>
          <p:nvPr/>
        </p:nvSpPr>
        <p:spPr>
          <a:xfrm xmlns:a="http://schemas.openxmlformats.org/drawingml/2006/main">
            <a:off x="609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FFB454"/>
                </a:solidFill>
                <a:latin typeface="Arial"/>
                <a:ea typeface="Arial"/>
                <a:cs typeface="Arial"/>
              </a:defRPr>
            </a:pPr>
            <a:r>
              <a:rPr sz="1125" b="1">
                <a:solidFill>
                  <a:srgbClr val="FFB454"/>
                </a:solidFill>
                <a:latin typeface="Arial"/>
                <a:ea typeface="Arial"/>
                <a:cs typeface="Arial"/>
              </a:rPr>
              <a:t>DONNÉES</a:t>
            </a:r>
          </a:p>
        </p:txBody>
      </p:sp>
      <p:sp>
        <p:nvSpPr>
          <p:cNvPr id="5" name="">
            <a:extLst xmlns:a="http://schemas.openxmlformats.org/drawingml/2006/main">
              <a:ext uri="{FF2B5EF4-FFF2-40B4-BE49-F238E27FC236}">
                <a16:creationId xmlns:a16="http://schemas.microsoft.com/office/drawing/2014/main" id="{80046D58-D816-408E-824A-43ABECF04F04}"/>
              </a:ext>
            </a:extLst>
          </p:cNvPr>
          <p:cNvSpPr>
            <a:spLocks xmlns:a="http://schemas.openxmlformats.org/drawingml/2006/main" noGrp="1"/>
          </p:cNvSpPr>
          <p:nvPr/>
        </p:nvSpPr>
        <p:spPr>
          <a:xfrm xmlns:a="http://schemas.openxmlformats.org/drawingml/2006/main">
            <a:off x="609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AAB9742-2FAC-4E9D-B6FE-6884755C435C}"/>
              </a:ext>
            </a:extLst>
          </p:cNvPr>
          <p:cNvSpPr>
            <a:spLocks xmlns:a="http://schemas.openxmlformats.org/drawingml/2006/main" noGrp="1"/>
          </p:cNvSpPr>
          <p:nvPr/>
        </p:nvSpPr>
        <p:spPr>
          <a:xfrm xmlns:a="http://schemas.openxmlformats.org/drawingml/2006/main">
            <a:off x="847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MySQL</a:t>
            </a:r>
          </a:p>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RabbitMQ</a:t>
            </a:r>
          </a:p>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Volumes persistants</a:t>
            </a:r>
          </a:p>
        </p:txBody>
      </p:sp>
      <p:sp>
        <p:nvSpPr>
          <p:cNvPr id="7" name="">
            <a:extLst xmlns:a="http://schemas.openxmlformats.org/drawingml/2006/main">
              <a:ext uri="{FF2B5EF4-FFF2-40B4-BE49-F238E27FC236}">
                <a16:creationId xmlns:a16="http://schemas.microsoft.com/office/drawing/2014/main" id="{9A827779-5BF7-4AE4-9650-82B300DCD47F}"/>
              </a:ext>
            </a:extLst>
          </p:cNvPr>
          <p:cNvSpPr>
            <a:spLocks xmlns:a="http://schemas.openxmlformats.org/drawingml/2006/main" noGrp="1"/>
          </p:cNvSpPr>
          <p:nvPr/>
        </p:nvSpPr>
        <p:spPr>
          <a:xfrm xmlns:a="http://schemas.openxmlformats.org/drawingml/2006/main">
            <a:off x="43561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ED3C6"/>
                </a:solidFill>
                <a:latin typeface="Arial"/>
                <a:ea typeface="Arial"/>
                <a:cs typeface="Arial"/>
              </a:defRPr>
            </a:pPr>
            <a:r>
              <a:rPr sz="1125" b="1">
                <a:solidFill>
                  <a:srgbClr val="2ED3C6"/>
                </a:solidFill>
                <a:latin typeface="Arial"/>
                <a:ea typeface="Arial"/>
                <a:cs typeface="Arial"/>
              </a:rPr>
              <a:t>TRAITEMENTS</a:t>
            </a:r>
          </a:p>
        </p:txBody>
      </p:sp>
      <p:sp>
        <p:nvSpPr>
          <p:cNvPr id="8" name="">
            <a:extLst xmlns:a="http://schemas.openxmlformats.org/drawingml/2006/main">
              <a:ext uri="{FF2B5EF4-FFF2-40B4-BE49-F238E27FC236}">
                <a16:creationId xmlns:a16="http://schemas.microsoft.com/office/drawing/2014/main" id="{92843CD9-19E9-4795-9DCB-419FFB3DFC83}"/>
              </a:ext>
            </a:extLst>
          </p:cNvPr>
          <p:cNvSpPr>
            <a:spLocks xmlns:a="http://schemas.openxmlformats.org/drawingml/2006/main" noGrp="1"/>
          </p:cNvSpPr>
          <p:nvPr/>
        </p:nvSpPr>
        <p:spPr>
          <a:xfrm xmlns:a="http://schemas.openxmlformats.org/drawingml/2006/main">
            <a:off x="43561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83F673E-06B6-4DDA-9A39-8BC4CCA11025}"/>
              </a:ext>
            </a:extLst>
          </p:cNvPr>
          <p:cNvSpPr>
            <a:spLocks xmlns:a="http://schemas.openxmlformats.org/drawingml/2006/main" noGrp="1"/>
          </p:cNvSpPr>
          <p:nvPr/>
        </p:nvSpPr>
        <p:spPr>
          <a:xfrm xmlns:a="http://schemas.openxmlformats.org/drawingml/2006/main">
            <a:off x="45942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Scraper</a:t>
            </a:r>
          </a:p>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Analytics</a:t>
            </a:r>
          </a:p>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Storage</a:t>
            </a:r>
          </a:p>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Clean</a:t>
            </a:r>
          </a:p>
        </p:txBody>
      </p:sp>
      <p:sp>
        <p:nvSpPr>
          <p:cNvPr id="10" name="">
            <a:extLst xmlns:a="http://schemas.openxmlformats.org/drawingml/2006/main">
              <a:ext uri="{FF2B5EF4-FFF2-40B4-BE49-F238E27FC236}">
                <a16:creationId xmlns:a16="http://schemas.microsoft.com/office/drawing/2014/main" id="{4020988B-1BB3-48AC-A512-C60B8A6D3E93}"/>
              </a:ext>
            </a:extLst>
          </p:cNvPr>
          <p:cNvSpPr>
            <a:spLocks xmlns:a="http://schemas.openxmlformats.org/drawingml/2006/main" noGrp="1"/>
          </p:cNvSpPr>
          <p:nvPr/>
        </p:nvSpPr>
        <p:spPr>
          <a:xfrm xmlns:a="http://schemas.openxmlformats.org/drawingml/2006/main">
            <a:off x="8102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438BFF"/>
                </a:solidFill>
                <a:latin typeface="Arial"/>
                <a:ea typeface="Arial"/>
                <a:cs typeface="Arial"/>
              </a:defRPr>
            </a:pPr>
            <a:r>
              <a:rPr sz="1125" b="1">
                <a:solidFill>
                  <a:srgbClr val="438BFF"/>
                </a:solidFill>
                <a:latin typeface="Arial"/>
                <a:ea typeface="Arial"/>
                <a:cs typeface="Arial"/>
              </a:rPr>
              <a:t>RESTITUTION</a:t>
            </a:r>
          </a:p>
        </p:txBody>
      </p:sp>
      <p:sp>
        <p:nvSpPr>
          <p:cNvPr id="11" name="">
            <a:extLst xmlns:a="http://schemas.openxmlformats.org/drawingml/2006/main">
              <a:ext uri="{FF2B5EF4-FFF2-40B4-BE49-F238E27FC236}">
                <a16:creationId xmlns:a16="http://schemas.microsoft.com/office/drawing/2014/main" id="{34182271-AD81-4D31-8A1D-09685424E3EC}"/>
              </a:ext>
            </a:extLst>
          </p:cNvPr>
          <p:cNvSpPr>
            <a:spLocks xmlns:a="http://schemas.openxmlformats.org/drawingml/2006/main" noGrp="1"/>
          </p:cNvSpPr>
          <p:nvPr/>
        </p:nvSpPr>
        <p:spPr>
          <a:xfrm xmlns:a="http://schemas.openxmlformats.org/drawingml/2006/main">
            <a:off x="8102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4230F60-05DC-4E1B-ACE0-84D954BB3C30}"/>
              </a:ext>
            </a:extLst>
          </p:cNvPr>
          <p:cNvSpPr>
            <a:spLocks xmlns:a="http://schemas.openxmlformats.org/drawingml/2006/main" noGrp="1"/>
          </p:cNvSpPr>
          <p:nvPr/>
        </p:nvSpPr>
        <p:spPr>
          <a:xfrm xmlns:a="http://schemas.openxmlformats.org/drawingml/2006/main">
            <a:off x="8340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Grafana</a:t>
            </a:r>
          </a:p>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Dashboard provisionné</a:t>
            </a:r>
          </a:p>
        </p:txBody>
      </p:sp>
      <p:sp>
        <p:nvSpPr>
          <p:cNvPr id="13" name="">
            <a:extLst xmlns:a="http://schemas.openxmlformats.org/drawingml/2006/main">
              <a:ext uri="{FF2B5EF4-FFF2-40B4-BE49-F238E27FC236}">
                <a16:creationId xmlns:a16="http://schemas.microsoft.com/office/drawing/2014/main" id="{78E184B4-0FC6-49E2-8618-D23EA5951938}"/>
              </a:ext>
            </a:extLst>
          </p:cNvPr>
          <p:cNvSpPr>
            <a:spLocks xmlns:a="http://schemas.openxmlformats.org/drawingml/2006/main" noGrp="1"/>
          </p:cNvSpPr>
          <p:nvPr/>
        </p:nvSpPr>
        <p:spPr>
          <a:xfrm xmlns:a="http://schemas.openxmlformats.org/drawingml/2006/main">
            <a:off x="1143000" y="5381625"/>
            <a:ext cx="990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9CB1C5"/>
                </a:solidFill>
                <a:latin typeface="Arial"/>
                <a:ea typeface="Arial"/>
                <a:cs typeface="Arial"/>
              </a:defRPr>
            </a:pPr>
            <a:r>
              <a:rPr sz="1725" b="1">
                <a:solidFill>
                  <a:srgbClr val="9CB1C5"/>
                </a:solidFill>
                <a:latin typeface="Arial"/>
                <a:ea typeface="Arial"/>
                <a:cs typeface="Arial"/>
              </a:rPr>
              <a:t>Deux réseaux séparent le transport de messages et l’accès SQL</a:t>
            </a:r>
          </a:p>
        </p:txBody>
      </p:sp>
    </p:spTree>
    <p:extLst>
      <p:ext uri="{BB962C8B-B14F-4D97-AF65-F5344CB8AC3E}">
        <p14:creationId xmlns:p14="http://schemas.microsoft.com/office/powerpoint/2010/main" val="1516392632"/>
      </p:ext>
    </p:extLst>
  </p:cSld>
</p:sld>
</file>

<file path=ppt/slides/slide9.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092B007-A513-45ED-B632-9419D0BB9C80}"/>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Ingestion continue</a:t>
            </a:r>
          </a:p>
        </p:txBody>
      </p:sp>
      <p:sp>
        <p:nvSpPr>
          <p:cNvPr id="2" name="">
            <a:extLst xmlns:a="http://schemas.openxmlformats.org/drawingml/2006/main">
              <a:ext uri="{FF2B5EF4-FFF2-40B4-BE49-F238E27FC236}">
                <a16:creationId xmlns:a16="http://schemas.microsoft.com/office/drawing/2014/main" id="{F05A757B-5149-40B1-8F86-83D198D1EFD8}"/>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03BAB507-5D9F-4050-8BDC-D317D28DEED3}"/>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8BD4BE-6804-494C-A0C3-9A3D1E0DA596}"/>
              </a:ext>
            </a:extLst>
          </p:cNvPr>
          <p:cNvSpPr>
            <a:spLocks xmlns:a="http://schemas.openxmlformats.org/drawingml/2006/main" noGrp="1"/>
          </p:cNvSpPr>
          <p:nvPr/>
        </p:nvSpPr>
        <p:spPr>
          <a:xfrm xmlns:a="http://schemas.openxmlformats.org/drawingml/2006/main">
            <a:off x="857250" y="1905000"/>
            <a:ext cx="26670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4422087-EEA3-47C3-AB1D-F4579E3EB886}"/>
              </a:ext>
            </a:extLst>
          </p:cNvPr>
          <p:cNvSpPr>
            <a:spLocks xmlns:a="http://schemas.openxmlformats.org/drawingml/2006/main" noGrp="1"/>
          </p:cNvSpPr>
          <p:nvPr/>
        </p:nvSpPr>
        <p:spPr>
          <a:xfrm xmlns:a="http://schemas.openxmlformats.org/drawingml/2006/main">
            <a:off x="857250" y="1905000"/>
            <a:ext cx="66675" cy="9525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9F36BDC-8782-4E95-AD40-75B55506F4EB}"/>
              </a:ext>
            </a:extLst>
          </p:cNvPr>
          <p:cNvSpPr>
            <a:spLocks xmlns:a="http://schemas.openxmlformats.org/drawingml/2006/main" noGrp="1"/>
          </p:cNvSpPr>
          <p:nvPr/>
        </p:nvSpPr>
        <p:spPr>
          <a:xfrm xmlns:a="http://schemas.openxmlformats.org/drawingml/2006/main">
            <a:off x="1047750" y="2019300"/>
            <a:ext cx="236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Lecture RSS</a:t>
            </a:r>
          </a:p>
        </p:txBody>
      </p:sp>
      <p:sp>
        <p:nvSpPr>
          <p:cNvPr id="7" name="">
            <a:extLst xmlns:a="http://schemas.openxmlformats.org/drawingml/2006/main">
              <a:ext uri="{FF2B5EF4-FFF2-40B4-BE49-F238E27FC236}">
                <a16:creationId xmlns:a16="http://schemas.microsoft.com/office/drawing/2014/main" id="{45643BE2-4BC0-491D-ABCD-E8C47B199BE0}"/>
              </a:ext>
            </a:extLst>
          </p:cNvPr>
          <p:cNvSpPr>
            <a:spLocks xmlns:a="http://schemas.openxmlformats.org/drawingml/2006/main" noGrp="1"/>
          </p:cNvSpPr>
          <p:nvPr/>
        </p:nvSpPr>
        <p:spPr>
          <a:xfrm xmlns:a="http://schemas.openxmlformats.org/drawingml/2006/main">
            <a:off x="1047750" y="240030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feedparser</a:t>
            </a:r>
          </a:p>
        </p:txBody>
      </p:sp>
      <p:sp>
        <p:nvSpPr>
          <p:cNvPr id="8" name="">
            <a:extLst xmlns:a="http://schemas.openxmlformats.org/drawingml/2006/main">
              <a:ext uri="{FF2B5EF4-FFF2-40B4-BE49-F238E27FC236}">
                <a16:creationId xmlns:a16="http://schemas.microsoft.com/office/drawing/2014/main" id="{D634F8BD-57CE-46CE-BCDC-E2811198DC01}"/>
              </a:ext>
            </a:extLst>
          </p:cNvPr>
          <p:cNvSpPr>
            <a:spLocks xmlns:a="http://schemas.openxmlformats.org/drawingml/2006/main" noGrp="1"/>
          </p:cNvSpPr>
          <p:nvPr/>
        </p:nvSpPr>
        <p:spPr>
          <a:xfrm xmlns:a="http://schemas.openxmlformats.org/drawingml/2006/main">
            <a:off x="3762375" y="20955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BCC415F8-F898-4F59-A86F-C147FAB5E5B3}"/>
              </a:ext>
            </a:extLst>
          </p:cNvPr>
          <p:cNvSpPr>
            <a:spLocks xmlns:a="http://schemas.openxmlformats.org/drawingml/2006/main" noGrp="1"/>
          </p:cNvSpPr>
          <p:nvPr/>
        </p:nvSpPr>
        <p:spPr>
          <a:xfrm xmlns:a="http://schemas.openxmlformats.org/drawingml/2006/main">
            <a:off x="4572000" y="1905000"/>
            <a:ext cx="29527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C80E654-AECB-4345-AD43-D189431191D9}"/>
              </a:ext>
            </a:extLst>
          </p:cNvPr>
          <p:cNvSpPr>
            <a:spLocks xmlns:a="http://schemas.openxmlformats.org/drawingml/2006/main" noGrp="1"/>
          </p:cNvSpPr>
          <p:nvPr/>
        </p:nvSpPr>
        <p:spPr>
          <a:xfrm xmlns:a="http://schemas.openxmlformats.org/drawingml/2006/main">
            <a:off x="4572000" y="1905000"/>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4F10DA0-A625-445E-AD6A-53A36177D912}"/>
              </a:ext>
            </a:extLst>
          </p:cNvPr>
          <p:cNvSpPr>
            <a:spLocks xmlns:a="http://schemas.openxmlformats.org/drawingml/2006/main" noGrp="1"/>
          </p:cNvSpPr>
          <p:nvPr/>
        </p:nvSpPr>
        <p:spPr>
          <a:xfrm xmlns:a="http://schemas.openxmlformats.org/drawingml/2006/main">
            <a:off x="4762500" y="2019300"/>
            <a:ext cx="2647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Normalisation</a:t>
            </a:r>
          </a:p>
        </p:txBody>
      </p:sp>
      <p:sp>
        <p:nvSpPr>
          <p:cNvPr id="12" name="">
            <a:extLst xmlns:a="http://schemas.openxmlformats.org/drawingml/2006/main">
              <a:ext uri="{FF2B5EF4-FFF2-40B4-BE49-F238E27FC236}">
                <a16:creationId xmlns:a16="http://schemas.microsoft.com/office/drawing/2014/main" id="{7FD7DC38-25AE-4118-8268-25A7C50B900D}"/>
              </a:ext>
            </a:extLst>
          </p:cNvPr>
          <p:cNvSpPr>
            <a:spLocks xmlns:a="http://schemas.openxmlformats.org/drawingml/2006/main" noGrp="1"/>
          </p:cNvSpPr>
          <p:nvPr/>
        </p:nvSpPr>
        <p:spPr>
          <a:xfrm xmlns:a="http://schemas.openxmlformats.org/drawingml/2006/main">
            <a:off x="4762500" y="2400300"/>
            <a:ext cx="2647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champs communs</a:t>
            </a:r>
          </a:p>
        </p:txBody>
      </p:sp>
      <p:sp>
        <p:nvSpPr>
          <p:cNvPr id="13" name="">
            <a:extLst xmlns:a="http://schemas.openxmlformats.org/drawingml/2006/main">
              <a:ext uri="{FF2B5EF4-FFF2-40B4-BE49-F238E27FC236}">
                <a16:creationId xmlns:a16="http://schemas.microsoft.com/office/drawing/2014/main" id="{34633FB3-A047-4081-81F1-0FF393A298B9}"/>
              </a:ext>
            </a:extLst>
          </p:cNvPr>
          <p:cNvSpPr>
            <a:spLocks xmlns:a="http://schemas.openxmlformats.org/drawingml/2006/main" noGrp="1"/>
          </p:cNvSpPr>
          <p:nvPr/>
        </p:nvSpPr>
        <p:spPr>
          <a:xfrm xmlns:a="http://schemas.openxmlformats.org/drawingml/2006/main">
            <a:off x="7762875" y="20955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1A66930D-10C9-4B95-8CC0-1B7B4549AA6D}"/>
              </a:ext>
            </a:extLst>
          </p:cNvPr>
          <p:cNvSpPr>
            <a:spLocks xmlns:a="http://schemas.openxmlformats.org/drawingml/2006/main" noGrp="1"/>
          </p:cNvSpPr>
          <p:nvPr/>
        </p:nvSpPr>
        <p:spPr>
          <a:xfrm xmlns:a="http://schemas.openxmlformats.org/drawingml/2006/main">
            <a:off x="8572500" y="1905000"/>
            <a:ext cx="26670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6322DE5-A389-4E00-A207-5F3A7BF8428F}"/>
              </a:ext>
            </a:extLst>
          </p:cNvPr>
          <p:cNvSpPr>
            <a:spLocks xmlns:a="http://schemas.openxmlformats.org/drawingml/2006/main" noGrp="1"/>
          </p:cNvSpPr>
          <p:nvPr/>
        </p:nvSpPr>
        <p:spPr>
          <a:xfrm xmlns:a="http://schemas.openxmlformats.org/drawingml/2006/main">
            <a:off x="8572500" y="1905000"/>
            <a:ext cx="66675" cy="9525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1557C8E-BD3F-4854-A7F6-33F4F983D9B5}"/>
              </a:ext>
            </a:extLst>
          </p:cNvPr>
          <p:cNvSpPr>
            <a:spLocks xmlns:a="http://schemas.openxmlformats.org/drawingml/2006/main" noGrp="1"/>
          </p:cNvSpPr>
          <p:nvPr/>
        </p:nvSpPr>
        <p:spPr>
          <a:xfrm xmlns:a="http://schemas.openxmlformats.org/drawingml/2006/main">
            <a:off x="8763000" y="2019300"/>
            <a:ext cx="236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Publication</a:t>
            </a:r>
          </a:p>
        </p:txBody>
      </p:sp>
      <p:sp>
        <p:nvSpPr>
          <p:cNvPr id="17" name="">
            <a:extLst xmlns:a="http://schemas.openxmlformats.org/drawingml/2006/main">
              <a:ext uri="{FF2B5EF4-FFF2-40B4-BE49-F238E27FC236}">
                <a16:creationId xmlns:a16="http://schemas.microsoft.com/office/drawing/2014/main" id="{47D4C914-F332-4116-AF1B-0A944F4E4B24}"/>
              </a:ext>
            </a:extLst>
          </p:cNvPr>
          <p:cNvSpPr>
            <a:spLocks xmlns:a="http://schemas.openxmlformats.org/drawingml/2006/main" noGrp="1"/>
          </p:cNvSpPr>
          <p:nvPr/>
        </p:nvSpPr>
        <p:spPr>
          <a:xfrm xmlns:a="http://schemas.openxmlformats.org/drawingml/2006/main">
            <a:off x="8763000" y="240030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raw_news</a:t>
            </a:r>
          </a:p>
        </p:txBody>
      </p:sp>
      <p:sp>
        <p:nvSpPr>
          <p:cNvPr id="18" name="">
            <a:extLst xmlns:a="http://schemas.openxmlformats.org/drawingml/2006/main">
              <a:ext uri="{FF2B5EF4-FFF2-40B4-BE49-F238E27FC236}">
                <a16:creationId xmlns:a16="http://schemas.microsoft.com/office/drawing/2014/main" id="{374DB3B8-DD6E-4059-9514-FEAEA4EF02C5}"/>
              </a:ext>
            </a:extLst>
          </p:cNvPr>
          <p:cNvSpPr>
            <a:spLocks xmlns:a="http://schemas.openxmlformats.org/drawingml/2006/main" noGrp="1"/>
          </p:cNvSpPr>
          <p:nvPr/>
        </p:nvSpPr>
        <p:spPr>
          <a:xfrm xmlns:a="http://schemas.openxmlformats.org/drawingml/2006/main">
            <a:off x="2047875" y="376237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EEF6FF"/>
                </a:solidFill>
                <a:latin typeface="Arial"/>
                <a:ea typeface="Arial"/>
                <a:cs typeface="Arial"/>
              </a:defRPr>
            </a:pPr>
            <a:r>
              <a:rPr sz="2025" b="1">
                <a:solidFill>
                  <a:srgbClr val="EEF6FF"/>
                </a:solidFill>
                <a:latin typeface="Arial"/>
                <a:ea typeface="Arial"/>
                <a:cs typeface="Arial"/>
              </a:rPr>
              <a:t>Les entrées sans URL ou sans titre sont ignorées</a:t>
            </a:r>
          </a:p>
        </p:txBody>
      </p:sp>
      <p:sp>
        <p:nvSpPr>
          <p:cNvPr id="19" name="">
            <a:extLst xmlns:a="http://schemas.openxmlformats.org/drawingml/2006/main">
              <a:ext uri="{FF2B5EF4-FFF2-40B4-BE49-F238E27FC236}">
                <a16:creationId xmlns:a16="http://schemas.microsoft.com/office/drawing/2014/main" id="{1E285E8E-C10A-4928-B58F-5D077BA2C632}"/>
              </a:ext>
            </a:extLst>
          </p:cNvPr>
          <p:cNvSpPr>
            <a:spLocks xmlns:a="http://schemas.openxmlformats.org/drawingml/2006/main" noGrp="1"/>
          </p:cNvSpPr>
          <p:nvPr/>
        </p:nvSpPr>
        <p:spPr>
          <a:xfrm xmlns:a="http://schemas.openxmlformats.org/drawingml/2006/main">
            <a:off x="2238375" y="4524375"/>
            <a:ext cx="771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9CB1C5"/>
                </a:solidFill>
                <a:latin typeface="Arial"/>
                <a:ea typeface="Arial"/>
                <a:cs typeface="Arial"/>
              </a:defRPr>
            </a:pPr>
            <a:r>
              <a:rPr sz="1650" b="1">
                <a:solidFill>
                  <a:srgbClr val="9CB1C5"/>
                </a:solidFill>
                <a:latin typeface="Arial"/>
                <a:ea typeface="Arial"/>
                <a:cs typeface="Arial"/>
              </a:rPr>
              <a:t>La collecte recommence après l’intervalle configuré</a:t>
            </a:r>
          </a:p>
        </p:txBody>
      </p:sp>
    </p:spTree>
    <p:extLst>
      <p:ext uri="{BB962C8B-B14F-4D97-AF65-F5344CB8AC3E}">
        <p14:creationId xmlns:p14="http://schemas.microsoft.com/office/powerpoint/2010/main" val="2060510367"/>
      </p:ext>
    </p:extLst>
  </p:cSld>
</p:sld>
</file>

<file path=ppt/slides/slide10.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1A86D6F-F855-4B33-9936-0751B0BEA834}"/>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Queue raw_news</a:t>
            </a:r>
          </a:p>
        </p:txBody>
      </p:sp>
      <p:sp>
        <p:nvSpPr>
          <p:cNvPr id="2" name="">
            <a:extLst xmlns:a="http://schemas.openxmlformats.org/drawingml/2006/main">
              <a:ext uri="{FF2B5EF4-FFF2-40B4-BE49-F238E27FC236}">
                <a16:creationId xmlns:a16="http://schemas.microsoft.com/office/drawing/2014/main" id="{0035356E-9389-490E-AB6D-37C7B1CA4729}"/>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00092E18-89B4-463F-ABE5-3914CE7E9231}"/>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ED0B40D-10E9-42DC-87D3-49862DF60E3E}"/>
              </a:ext>
            </a:extLst>
          </p:cNvPr>
          <p:cNvSpPr>
            <a:spLocks xmlns:a="http://schemas.openxmlformats.org/drawingml/2006/main" noGrp="1"/>
          </p:cNvSpPr>
          <p:nvPr/>
        </p:nvSpPr>
        <p:spPr>
          <a:xfrm xmlns:a="http://schemas.openxmlformats.org/drawingml/2006/main">
            <a:off x="904875" y="166687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EEF6FF"/>
                </a:solidFill>
                <a:latin typeface="Arial"/>
                <a:ea typeface="Arial"/>
                <a:cs typeface="Arial"/>
              </a:defRPr>
            </a:pPr>
            <a:r>
              <a:rPr sz="2100" b="1">
                <a:solidFill>
                  <a:srgbClr val="EEF6FF"/>
                </a:solidFill>
                <a:latin typeface="Arial"/>
                <a:ea typeface="Arial"/>
                <a:cs typeface="Arial"/>
              </a:rPr>
              <a:t>Producteur</a:t>
            </a:r>
          </a:p>
        </p:txBody>
      </p:sp>
      <p:sp>
        <p:nvSpPr>
          <p:cNvPr id="5" name="">
            <a:extLst xmlns:a="http://schemas.openxmlformats.org/drawingml/2006/main">
              <a:ext uri="{FF2B5EF4-FFF2-40B4-BE49-F238E27FC236}">
                <a16:creationId xmlns:a16="http://schemas.microsoft.com/office/drawing/2014/main" id="{DC5A7365-A329-4F06-9D2C-4960BBDC7F27}"/>
              </a:ext>
            </a:extLst>
          </p:cNvPr>
          <p:cNvSpPr>
            <a:spLocks xmlns:a="http://schemas.openxmlformats.org/drawingml/2006/main" noGrp="1"/>
          </p:cNvSpPr>
          <p:nvPr/>
        </p:nvSpPr>
        <p:spPr>
          <a:xfrm xmlns:a="http://schemas.openxmlformats.org/drawingml/2006/main">
            <a:off x="3333750" y="16668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EFB6221C-F5B7-4679-8B79-0EFEF3D4E01C}"/>
              </a:ext>
            </a:extLst>
          </p:cNvPr>
          <p:cNvSpPr>
            <a:spLocks xmlns:a="http://schemas.openxmlformats.org/drawingml/2006/main" noGrp="1"/>
          </p:cNvSpPr>
          <p:nvPr/>
        </p:nvSpPr>
        <p:spPr>
          <a:xfrm xmlns:a="http://schemas.openxmlformats.org/drawingml/2006/main">
            <a:off x="4333875" y="16668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FFB454"/>
                </a:solidFill>
                <a:latin typeface="Arial"/>
                <a:ea typeface="Arial"/>
                <a:cs typeface="Arial"/>
              </a:defRPr>
            </a:pPr>
            <a:r>
              <a:rPr sz="2100" b="1">
                <a:solidFill>
                  <a:srgbClr val="FFB454"/>
                </a:solidFill>
                <a:latin typeface="Arial"/>
                <a:ea typeface="Arial"/>
                <a:cs typeface="Arial"/>
              </a:rPr>
              <a:t>Queue durable</a:t>
            </a:r>
          </a:p>
        </p:txBody>
      </p:sp>
      <p:sp>
        <p:nvSpPr>
          <p:cNvPr id="7" name="">
            <a:extLst xmlns:a="http://schemas.openxmlformats.org/drawingml/2006/main">
              <a:ext uri="{FF2B5EF4-FFF2-40B4-BE49-F238E27FC236}">
                <a16:creationId xmlns:a16="http://schemas.microsoft.com/office/drawing/2014/main" id="{DEB01D7E-2555-457A-AE54-1E8C0454CD6B}"/>
              </a:ext>
            </a:extLst>
          </p:cNvPr>
          <p:cNvSpPr>
            <a:spLocks xmlns:a="http://schemas.openxmlformats.org/drawingml/2006/main" noGrp="1"/>
          </p:cNvSpPr>
          <p:nvPr/>
        </p:nvSpPr>
        <p:spPr>
          <a:xfrm xmlns:a="http://schemas.openxmlformats.org/drawingml/2006/main">
            <a:off x="7429500" y="16668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4BEAF6FB-7034-45DF-B068-4ECE535EEE63}"/>
              </a:ext>
            </a:extLst>
          </p:cNvPr>
          <p:cNvSpPr>
            <a:spLocks xmlns:a="http://schemas.openxmlformats.org/drawingml/2006/main" noGrp="1"/>
          </p:cNvSpPr>
          <p:nvPr/>
        </p:nvSpPr>
        <p:spPr>
          <a:xfrm xmlns:a="http://schemas.openxmlformats.org/drawingml/2006/main">
            <a:off x="8429625" y="1666875"/>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EEF6FF"/>
                </a:solidFill>
                <a:latin typeface="Arial"/>
                <a:ea typeface="Arial"/>
                <a:cs typeface="Arial"/>
              </a:defRPr>
            </a:pPr>
            <a:r>
              <a:rPr sz="2100" b="1">
                <a:solidFill>
                  <a:srgbClr val="EEF6FF"/>
                </a:solidFill>
                <a:latin typeface="Arial"/>
                <a:ea typeface="Arial"/>
                <a:cs typeface="Arial"/>
              </a:rPr>
              <a:t>Analytics</a:t>
            </a:r>
          </a:p>
        </p:txBody>
      </p:sp>
      <p:sp>
        <p:nvSpPr>
          <p:cNvPr id="9" name="">
            <a:extLst xmlns:a="http://schemas.openxmlformats.org/drawingml/2006/main">
              <a:ext uri="{FF2B5EF4-FFF2-40B4-BE49-F238E27FC236}">
                <a16:creationId xmlns:a16="http://schemas.microsoft.com/office/drawing/2014/main" id="{20D7616F-4877-432E-BBCB-8D2A2E454092}"/>
              </a:ext>
            </a:extLst>
          </p:cNvPr>
          <p:cNvSpPr>
            <a:spLocks xmlns:a="http://schemas.openxmlformats.org/drawingml/2006/main" noGrp="1"/>
          </p:cNvSpPr>
          <p:nvPr/>
        </p:nvSpPr>
        <p:spPr>
          <a:xfrm xmlns:a="http://schemas.openxmlformats.org/drawingml/2006/main">
            <a:off x="762000" y="28575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ED3C6"/>
                </a:solidFill>
                <a:latin typeface="Arial"/>
                <a:ea typeface="Arial"/>
                <a:cs typeface="Arial"/>
              </a:defRPr>
            </a:pPr>
            <a:r>
              <a:rPr sz="1425" b="1">
                <a:solidFill>
                  <a:srgbClr val="2ED3C6"/>
                </a:solidFill>
                <a:latin typeface="Arial"/>
                <a:ea typeface="Arial"/>
                <a:cs typeface="Arial"/>
              </a:rPr>
              <a:t>DURABLE</a:t>
            </a:r>
          </a:p>
        </p:txBody>
      </p:sp>
      <p:sp>
        <p:nvSpPr>
          <p:cNvPr id="10" name="">
            <a:extLst xmlns:a="http://schemas.openxmlformats.org/drawingml/2006/main">
              <a:ext uri="{FF2B5EF4-FFF2-40B4-BE49-F238E27FC236}">
                <a16:creationId xmlns:a16="http://schemas.microsoft.com/office/drawing/2014/main" id="{EC633629-1C72-4105-866E-D7B3A7A55D16}"/>
              </a:ext>
            </a:extLst>
          </p:cNvPr>
          <p:cNvSpPr>
            <a:spLocks xmlns:a="http://schemas.openxmlformats.org/drawingml/2006/main" noGrp="1"/>
          </p:cNvSpPr>
          <p:nvPr/>
        </p:nvSpPr>
        <p:spPr>
          <a:xfrm xmlns:a="http://schemas.openxmlformats.org/drawingml/2006/main">
            <a:off x="3429000" y="3028950"/>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2352E09-E5DA-4939-AF13-50A9069265DD}"/>
              </a:ext>
            </a:extLst>
          </p:cNvPr>
          <p:cNvSpPr>
            <a:spLocks xmlns:a="http://schemas.openxmlformats.org/drawingml/2006/main" noGrp="1"/>
          </p:cNvSpPr>
          <p:nvPr/>
        </p:nvSpPr>
        <p:spPr>
          <a:xfrm xmlns:a="http://schemas.openxmlformats.org/drawingml/2006/main">
            <a:off x="4381500" y="28384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La queue survit au redémarrage</a:t>
            </a:r>
          </a:p>
        </p:txBody>
      </p:sp>
      <p:sp>
        <p:nvSpPr>
          <p:cNvPr id="12" name="">
            <a:extLst xmlns:a="http://schemas.openxmlformats.org/drawingml/2006/main">
              <a:ext uri="{FF2B5EF4-FFF2-40B4-BE49-F238E27FC236}">
                <a16:creationId xmlns:a16="http://schemas.microsoft.com/office/drawing/2014/main" id="{15724E98-84DE-4309-994B-82760976DD41}"/>
              </a:ext>
            </a:extLst>
          </p:cNvPr>
          <p:cNvSpPr>
            <a:spLocks xmlns:a="http://schemas.openxmlformats.org/drawingml/2006/main" noGrp="1"/>
          </p:cNvSpPr>
          <p:nvPr/>
        </p:nvSpPr>
        <p:spPr>
          <a:xfrm xmlns:a="http://schemas.openxmlformats.org/drawingml/2006/main">
            <a:off x="762000" y="36671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438BFF"/>
                </a:solidFill>
                <a:latin typeface="Arial"/>
                <a:ea typeface="Arial"/>
                <a:cs typeface="Arial"/>
              </a:defRPr>
            </a:pPr>
            <a:r>
              <a:rPr sz="1425" b="1">
                <a:solidFill>
                  <a:srgbClr val="438BFF"/>
                </a:solidFill>
                <a:latin typeface="Arial"/>
                <a:ea typeface="Arial"/>
                <a:cs typeface="Arial"/>
              </a:rPr>
              <a:t>PERSISTANT</a:t>
            </a:r>
          </a:p>
        </p:txBody>
      </p:sp>
      <p:sp>
        <p:nvSpPr>
          <p:cNvPr id="13" name="">
            <a:extLst xmlns:a="http://schemas.openxmlformats.org/drawingml/2006/main">
              <a:ext uri="{FF2B5EF4-FFF2-40B4-BE49-F238E27FC236}">
                <a16:creationId xmlns:a16="http://schemas.microsoft.com/office/drawing/2014/main" id="{384B1DA8-AEC7-4D4C-9ABB-006FFD9DA32F}"/>
              </a:ext>
            </a:extLst>
          </p:cNvPr>
          <p:cNvSpPr>
            <a:spLocks xmlns:a="http://schemas.openxmlformats.org/drawingml/2006/main" noGrp="1"/>
          </p:cNvSpPr>
          <p:nvPr/>
        </p:nvSpPr>
        <p:spPr>
          <a:xfrm xmlns:a="http://schemas.openxmlformats.org/drawingml/2006/main">
            <a:off x="3429000" y="3838575"/>
            <a:ext cx="666750" cy="381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62A57B0-2983-4D29-A887-233F9E18D1D9}"/>
              </a:ext>
            </a:extLst>
          </p:cNvPr>
          <p:cNvSpPr>
            <a:spLocks xmlns:a="http://schemas.openxmlformats.org/drawingml/2006/main" noGrp="1"/>
          </p:cNvSpPr>
          <p:nvPr/>
        </p:nvSpPr>
        <p:spPr>
          <a:xfrm xmlns:a="http://schemas.openxmlformats.org/drawingml/2006/main">
            <a:off x="4381500" y="364807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Les messages sont écrits durablement</a:t>
            </a:r>
          </a:p>
        </p:txBody>
      </p:sp>
      <p:sp>
        <p:nvSpPr>
          <p:cNvPr id="15" name="">
            <a:extLst xmlns:a="http://schemas.openxmlformats.org/drawingml/2006/main">
              <a:ext uri="{FF2B5EF4-FFF2-40B4-BE49-F238E27FC236}">
                <a16:creationId xmlns:a16="http://schemas.microsoft.com/office/drawing/2014/main" id="{ABDDC8E8-0895-4848-96B1-7EB66DE4B0B4}"/>
              </a:ext>
            </a:extLst>
          </p:cNvPr>
          <p:cNvSpPr>
            <a:spLocks xmlns:a="http://schemas.openxmlformats.org/drawingml/2006/main" noGrp="1"/>
          </p:cNvSpPr>
          <p:nvPr/>
        </p:nvSpPr>
        <p:spPr>
          <a:xfrm xmlns:a="http://schemas.openxmlformats.org/drawingml/2006/main">
            <a:off x="762000" y="44767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FFB454"/>
                </a:solidFill>
                <a:latin typeface="Arial"/>
                <a:ea typeface="Arial"/>
                <a:cs typeface="Arial"/>
              </a:defRPr>
            </a:pPr>
            <a:r>
              <a:rPr sz="1425" b="1">
                <a:solidFill>
                  <a:srgbClr val="FFB454"/>
                </a:solidFill>
                <a:latin typeface="Arial"/>
                <a:ea typeface="Arial"/>
                <a:cs typeface="Arial"/>
              </a:rPr>
              <a:t>PREFETCH 50</a:t>
            </a:r>
          </a:p>
        </p:txBody>
      </p:sp>
      <p:sp>
        <p:nvSpPr>
          <p:cNvPr id="16" name="">
            <a:extLst xmlns:a="http://schemas.openxmlformats.org/drawingml/2006/main">
              <a:ext uri="{FF2B5EF4-FFF2-40B4-BE49-F238E27FC236}">
                <a16:creationId xmlns:a16="http://schemas.microsoft.com/office/drawing/2014/main" id="{CB6EBFA0-58E0-485B-846F-7B8F1EF2E248}"/>
              </a:ext>
            </a:extLst>
          </p:cNvPr>
          <p:cNvSpPr>
            <a:spLocks xmlns:a="http://schemas.openxmlformats.org/drawingml/2006/main" noGrp="1"/>
          </p:cNvSpPr>
          <p:nvPr/>
        </p:nvSpPr>
        <p:spPr>
          <a:xfrm xmlns:a="http://schemas.openxmlformats.org/drawingml/2006/main">
            <a:off x="3429000" y="4648200"/>
            <a:ext cx="666750" cy="381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EBF3BEF-8A24-492A-A17F-AFBF1C6FC5C3}"/>
              </a:ext>
            </a:extLst>
          </p:cNvPr>
          <p:cNvSpPr>
            <a:spLocks xmlns:a="http://schemas.openxmlformats.org/drawingml/2006/main" noGrp="1"/>
          </p:cNvSpPr>
          <p:nvPr/>
        </p:nvSpPr>
        <p:spPr>
          <a:xfrm xmlns:a="http://schemas.openxmlformats.org/drawingml/2006/main">
            <a:off x="4381500" y="44577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Le travail non acquitté reste borné</a:t>
            </a:r>
          </a:p>
        </p:txBody>
      </p:sp>
    </p:spTree>
    <p:extLst>
      <p:ext uri="{BB962C8B-B14F-4D97-AF65-F5344CB8AC3E}">
        <p14:creationId xmlns:p14="http://schemas.microsoft.com/office/powerpoint/2010/main" val="677301521"/>
      </p:ext>
    </p:extLst>
  </p:cSld>
</p:sld>
</file>

<file path=ppt/slides/slide11.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8BFDDEB-377B-48E1-BC04-12D9DCE9E547}"/>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Analytics Builder</a:t>
            </a:r>
          </a:p>
        </p:txBody>
      </p:sp>
      <p:sp>
        <p:nvSpPr>
          <p:cNvPr id="2" name="">
            <a:extLst xmlns:a="http://schemas.openxmlformats.org/drawingml/2006/main">
              <a:ext uri="{FF2B5EF4-FFF2-40B4-BE49-F238E27FC236}">
                <a16:creationId xmlns:a16="http://schemas.microsoft.com/office/drawing/2014/main" id="{77ABE747-E20C-4829-BB89-7F3AC614F566}"/>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6DECA802-C6F7-47A6-B694-4BE19457F4E5}"/>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56A2F7-96DA-4EA9-B831-5FE21D41AAF1}"/>
              </a:ext>
            </a:extLst>
          </p:cNvPr>
          <p:cNvSpPr>
            <a:spLocks xmlns:a="http://schemas.openxmlformats.org/drawingml/2006/main" noGrp="1"/>
          </p:cNvSpPr>
          <p:nvPr/>
        </p:nvSpPr>
        <p:spPr>
          <a:xfrm xmlns:a="http://schemas.openxmlformats.org/drawingml/2006/main">
            <a:off x="904875" y="2000250"/>
            <a:ext cx="25717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3C83DCD-F8F8-4399-B9F9-F84125C118E8}"/>
              </a:ext>
            </a:extLst>
          </p:cNvPr>
          <p:cNvSpPr>
            <a:spLocks xmlns:a="http://schemas.openxmlformats.org/drawingml/2006/main" noGrp="1"/>
          </p:cNvSpPr>
          <p:nvPr/>
        </p:nvSpPr>
        <p:spPr>
          <a:xfrm xmlns:a="http://schemas.openxmlformats.org/drawingml/2006/main">
            <a:off x="904875" y="2000250"/>
            <a:ext cx="66675" cy="9525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7B00ED0-2B3D-4E1B-8EB5-2C69420D7323}"/>
              </a:ext>
            </a:extLst>
          </p:cNvPr>
          <p:cNvSpPr>
            <a:spLocks xmlns:a="http://schemas.openxmlformats.org/drawingml/2006/main" noGrp="1"/>
          </p:cNvSpPr>
          <p:nvPr/>
        </p:nvSpPr>
        <p:spPr>
          <a:xfrm xmlns:a="http://schemas.openxmlformats.org/drawingml/2006/main">
            <a:off x="1095375" y="211455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Entrée</a:t>
            </a:r>
          </a:p>
        </p:txBody>
      </p:sp>
      <p:sp>
        <p:nvSpPr>
          <p:cNvPr id="7" name="">
            <a:extLst xmlns:a="http://schemas.openxmlformats.org/drawingml/2006/main">
              <a:ext uri="{FF2B5EF4-FFF2-40B4-BE49-F238E27FC236}">
                <a16:creationId xmlns:a16="http://schemas.microsoft.com/office/drawing/2014/main" id="{F70E0709-7FCB-40D0-B3DC-A07CF61A61C5}"/>
              </a:ext>
            </a:extLst>
          </p:cNvPr>
          <p:cNvSpPr>
            <a:spLocks xmlns:a="http://schemas.openxmlformats.org/drawingml/2006/main" noGrp="1"/>
          </p:cNvSpPr>
          <p:nvPr/>
        </p:nvSpPr>
        <p:spPr>
          <a:xfrm xmlns:a="http://schemas.openxmlformats.org/drawingml/2006/main">
            <a:off x="1095375" y="2495550"/>
            <a:ext cx="2266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titre + résumé</a:t>
            </a:r>
          </a:p>
        </p:txBody>
      </p:sp>
      <p:sp>
        <p:nvSpPr>
          <p:cNvPr id="8" name="">
            <a:extLst xmlns:a="http://schemas.openxmlformats.org/drawingml/2006/main">
              <a:ext uri="{FF2B5EF4-FFF2-40B4-BE49-F238E27FC236}">
                <a16:creationId xmlns:a16="http://schemas.microsoft.com/office/drawing/2014/main" id="{3AE3ED31-A2DF-43E6-A07C-2B6D5461B737}"/>
              </a:ext>
            </a:extLst>
          </p:cNvPr>
          <p:cNvSpPr>
            <a:spLocks xmlns:a="http://schemas.openxmlformats.org/drawingml/2006/main" noGrp="1"/>
          </p:cNvSpPr>
          <p:nvPr/>
        </p:nvSpPr>
        <p:spPr>
          <a:xfrm xmlns:a="http://schemas.openxmlformats.org/drawingml/2006/main">
            <a:off x="3714750" y="219075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A7914ABD-314D-4386-B668-5116A1320244}"/>
              </a:ext>
            </a:extLst>
          </p:cNvPr>
          <p:cNvSpPr>
            <a:spLocks xmlns:a="http://schemas.openxmlformats.org/drawingml/2006/main" noGrp="1"/>
          </p:cNvSpPr>
          <p:nvPr/>
        </p:nvSpPr>
        <p:spPr>
          <a:xfrm xmlns:a="http://schemas.openxmlformats.org/drawingml/2006/main">
            <a:off x="4572000" y="2000250"/>
            <a:ext cx="28575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0416346-340F-4DC2-B846-582E6375A014}"/>
              </a:ext>
            </a:extLst>
          </p:cNvPr>
          <p:cNvSpPr>
            <a:spLocks xmlns:a="http://schemas.openxmlformats.org/drawingml/2006/main" noGrp="1"/>
          </p:cNvSpPr>
          <p:nvPr/>
        </p:nvSpPr>
        <p:spPr>
          <a:xfrm xmlns:a="http://schemas.openxmlformats.org/drawingml/2006/main">
            <a:off x="4572000" y="2000250"/>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8A4C6F2-566E-455B-94E7-D5CC0A49C204}"/>
              </a:ext>
            </a:extLst>
          </p:cNvPr>
          <p:cNvSpPr>
            <a:spLocks xmlns:a="http://schemas.openxmlformats.org/drawingml/2006/main" noGrp="1"/>
          </p:cNvSpPr>
          <p:nvPr/>
        </p:nvSpPr>
        <p:spPr>
          <a:xfrm xmlns:a="http://schemas.openxmlformats.org/drawingml/2006/main">
            <a:off x="4762500" y="2114550"/>
            <a:ext cx="2552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Score lexical</a:t>
            </a:r>
          </a:p>
        </p:txBody>
      </p:sp>
      <p:sp>
        <p:nvSpPr>
          <p:cNvPr id="12" name="">
            <a:extLst xmlns:a="http://schemas.openxmlformats.org/drawingml/2006/main">
              <a:ext uri="{FF2B5EF4-FFF2-40B4-BE49-F238E27FC236}">
                <a16:creationId xmlns:a16="http://schemas.microsoft.com/office/drawing/2014/main" id="{81AE96F2-4B3C-44DD-A652-285D8ED8F73A}"/>
              </a:ext>
            </a:extLst>
          </p:cNvPr>
          <p:cNvSpPr>
            <a:spLocks xmlns:a="http://schemas.openxmlformats.org/drawingml/2006/main" noGrp="1"/>
          </p:cNvSpPr>
          <p:nvPr/>
        </p:nvSpPr>
        <p:spPr>
          <a:xfrm xmlns:a="http://schemas.openxmlformats.org/drawingml/2006/main">
            <a:off x="4762500" y="2495550"/>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-1 à +1</a:t>
            </a:r>
          </a:p>
        </p:txBody>
      </p:sp>
      <p:sp>
        <p:nvSpPr>
          <p:cNvPr id="13" name="">
            <a:extLst xmlns:a="http://schemas.openxmlformats.org/drawingml/2006/main">
              <a:ext uri="{FF2B5EF4-FFF2-40B4-BE49-F238E27FC236}">
                <a16:creationId xmlns:a16="http://schemas.microsoft.com/office/drawing/2014/main" id="{4631AB45-F5CD-4591-AD28-BAC90D3C8D97}"/>
              </a:ext>
            </a:extLst>
          </p:cNvPr>
          <p:cNvSpPr>
            <a:spLocks xmlns:a="http://schemas.openxmlformats.org/drawingml/2006/main" noGrp="1"/>
          </p:cNvSpPr>
          <p:nvPr/>
        </p:nvSpPr>
        <p:spPr>
          <a:xfrm xmlns:a="http://schemas.openxmlformats.org/drawingml/2006/main">
            <a:off x="7667625" y="219075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D673F95D-B1C2-428D-9363-F246441447A6}"/>
              </a:ext>
            </a:extLst>
          </p:cNvPr>
          <p:cNvSpPr>
            <a:spLocks xmlns:a="http://schemas.openxmlformats.org/drawingml/2006/main" noGrp="1"/>
          </p:cNvSpPr>
          <p:nvPr/>
        </p:nvSpPr>
        <p:spPr>
          <a:xfrm xmlns:a="http://schemas.openxmlformats.org/drawingml/2006/main">
            <a:off x="8524875" y="2000250"/>
            <a:ext cx="27622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5AF8E46-2A6C-461F-9247-4EF4E7AC67E1}"/>
              </a:ext>
            </a:extLst>
          </p:cNvPr>
          <p:cNvSpPr>
            <a:spLocks xmlns:a="http://schemas.openxmlformats.org/drawingml/2006/main" noGrp="1"/>
          </p:cNvSpPr>
          <p:nvPr/>
        </p:nvSpPr>
        <p:spPr>
          <a:xfrm xmlns:a="http://schemas.openxmlformats.org/drawingml/2006/main">
            <a:off x="8524875" y="2000250"/>
            <a:ext cx="66675" cy="9525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08F90DF-700B-4C9D-8A0C-3EF4D7C273B5}"/>
              </a:ext>
            </a:extLst>
          </p:cNvPr>
          <p:cNvSpPr>
            <a:spLocks xmlns:a="http://schemas.openxmlformats.org/drawingml/2006/main" noGrp="1"/>
          </p:cNvSpPr>
          <p:nvPr/>
        </p:nvSpPr>
        <p:spPr>
          <a:xfrm xmlns:a="http://schemas.openxmlformats.org/drawingml/2006/main">
            <a:off x="8715375" y="2114550"/>
            <a:ext cx="2457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Sortie</a:t>
            </a:r>
          </a:p>
        </p:txBody>
      </p:sp>
      <p:sp>
        <p:nvSpPr>
          <p:cNvPr id="17" name="">
            <a:extLst xmlns:a="http://schemas.openxmlformats.org/drawingml/2006/main">
              <a:ext uri="{FF2B5EF4-FFF2-40B4-BE49-F238E27FC236}">
                <a16:creationId xmlns:a16="http://schemas.microsoft.com/office/drawing/2014/main" id="{312163B3-0C5E-4844-ADA0-58AE56D72842}"/>
              </a:ext>
            </a:extLst>
          </p:cNvPr>
          <p:cNvSpPr>
            <a:spLocks xmlns:a="http://schemas.openxmlformats.org/drawingml/2006/main" noGrp="1"/>
          </p:cNvSpPr>
          <p:nvPr/>
        </p:nvSpPr>
        <p:spPr>
          <a:xfrm xmlns:a="http://schemas.openxmlformats.org/drawingml/2006/main">
            <a:off x="8715375" y="2495550"/>
            <a:ext cx="2457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label + thèmes</a:t>
            </a:r>
          </a:p>
        </p:txBody>
      </p:sp>
      <p:sp>
        <p:nvSpPr>
          <p:cNvPr id="18" name="">
            <a:extLst xmlns:a="http://schemas.openxmlformats.org/drawingml/2006/main">
              <a:ext uri="{FF2B5EF4-FFF2-40B4-BE49-F238E27FC236}">
                <a16:creationId xmlns:a16="http://schemas.microsoft.com/office/drawing/2014/main" id="{5293B94E-40BC-424C-BE88-AF3A49E8156E}"/>
              </a:ext>
            </a:extLst>
          </p:cNvPr>
          <p:cNvSpPr>
            <a:spLocks xmlns:a="http://schemas.openxmlformats.org/drawingml/2006/main" noGrp="1"/>
          </p:cNvSpPr>
          <p:nvPr/>
        </p:nvSpPr>
        <p:spPr>
          <a:xfrm xmlns:a="http://schemas.openxmlformats.org/drawingml/2006/main">
            <a:off x="762000" y="38576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ED3C6"/>
                </a:solidFill>
                <a:latin typeface="Arial"/>
                <a:ea typeface="Arial"/>
                <a:cs typeface="Arial"/>
              </a:defRPr>
            </a:pPr>
            <a:r>
              <a:rPr sz="1425" b="1">
                <a:solidFill>
                  <a:srgbClr val="2ED3C6"/>
                </a:solidFill>
                <a:latin typeface="Arial"/>
                <a:ea typeface="Arial"/>
                <a:cs typeface="Arial"/>
              </a:rPr>
              <a:t>SENTIMENT</a:t>
            </a:r>
          </a:p>
        </p:txBody>
      </p:sp>
      <p:sp>
        <p:nvSpPr>
          <p:cNvPr id="19" name="">
            <a:extLst xmlns:a="http://schemas.openxmlformats.org/drawingml/2006/main">
              <a:ext uri="{FF2B5EF4-FFF2-40B4-BE49-F238E27FC236}">
                <a16:creationId xmlns:a16="http://schemas.microsoft.com/office/drawing/2014/main" id="{5F6B2B3B-A347-4812-AEA0-33AB1AB807A5}"/>
              </a:ext>
            </a:extLst>
          </p:cNvPr>
          <p:cNvSpPr>
            <a:spLocks xmlns:a="http://schemas.openxmlformats.org/drawingml/2006/main" noGrp="1"/>
          </p:cNvSpPr>
          <p:nvPr/>
        </p:nvSpPr>
        <p:spPr>
          <a:xfrm xmlns:a="http://schemas.openxmlformats.org/drawingml/2006/main">
            <a:off x="3429000" y="4029075"/>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0D387D7-6F75-4245-96B5-32C79F8341E2}"/>
              </a:ext>
            </a:extLst>
          </p:cNvPr>
          <p:cNvSpPr>
            <a:spLocks xmlns:a="http://schemas.openxmlformats.org/drawingml/2006/main" noGrp="1"/>
          </p:cNvSpPr>
          <p:nvPr/>
        </p:nvSpPr>
        <p:spPr>
          <a:xfrm xmlns:a="http://schemas.openxmlformats.org/drawingml/2006/main">
            <a:off x="4381500" y="383857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positif, neutre ou négatif</a:t>
            </a:r>
          </a:p>
        </p:txBody>
      </p:sp>
      <p:sp>
        <p:nvSpPr>
          <p:cNvPr id="21" name="">
            <a:extLst xmlns:a="http://schemas.openxmlformats.org/drawingml/2006/main">
              <a:ext uri="{FF2B5EF4-FFF2-40B4-BE49-F238E27FC236}">
                <a16:creationId xmlns:a16="http://schemas.microsoft.com/office/drawing/2014/main" id="{1F7DF0BC-632E-4D83-B13A-B9CA82BE6F8D}"/>
              </a:ext>
            </a:extLst>
          </p:cNvPr>
          <p:cNvSpPr>
            <a:spLocks xmlns:a="http://schemas.openxmlformats.org/drawingml/2006/main" noGrp="1"/>
          </p:cNvSpPr>
          <p:nvPr/>
        </p:nvSpPr>
        <p:spPr>
          <a:xfrm xmlns:a="http://schemas.openxmlformats.org/drawingml/2006/main">
            <a:off x="762000" y="46672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FFB454"/>
                </a:solidFill>
                <a:latin typeface="Arial"/>
                <a:ea typeface="Arial"/>
                <a:cs typeface="Arial"/>
              </a:defRPr>
            </a:pPr>
            <a:r>
              <a:rPr sz="1425" b="1">
                <a:solidFill>
                  <a:srgbClr val="FFB454"/>
                </a:solidFill>
                <a:latin typeface="Arial"/>
                <a:ea typeface="Arial"/>
                <a:cs typeface="Arial"/>
              </a:rPr>
              <a:t>THÈMES</a:t>
            </a:r>
          </a:p>
        </p:txBody>
      </p:sp>
      <p:sp>
        <p:nvSpPr>
          <p:cNvPr id="22" name="">
            <a:extLst xmlns:a="http://schemas.openxmlformats.org/drawingml/2006/main">
              <a:ext uri="{FF2B5EF4-FFF2-40B4-BE49-F238E27FC236}">
                <a16:creationId xmlns:a16="http://schemas.microsoft.com/office/drawing/2014/main" id="{8EF84C82-43BA-4974-90B4-7C1488AC560B}"/>
              </a:ext>
            </a:extLst>
          </p:cNvPr>
          <p:cNvSpPr>
            <a:spLocks xmlns:a="http://schemas.openxmlformats.org/drawingml/2006/main" noGrp="1"/>
          </p:cNvSpPr>
          <p:nvPr/>
        </p:nvSpPr>
        <p:spPr>
          <a:xfrm xmlns:a="http://schemas.openxmlformats.org/drawingml/2006/main">
            <a:off x="3429000" y="4838700"/>
            <a:ext cx="666750" cy="381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AB492CF-DB7A-4307-A928-C125B254EF44}"/>
              </a:ext>
            </a:extLst>
          </p:cNvPr>
          <p:cNvSpPr>
            <a:spLocks xmlns:a="http://schemas.openxmlformats.org/drawingml/2006/main" noGrp="1"/>
          </p:cNvSpPr>
          <p:nvPr/>
        </p:nvSpPr>
        <p:spPr>
          <a:xfrm xmlns:a="http://schemas.openxmlformats.org/drawingml/2006/main">
            <a:off x="4381500" y="46482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bitcoin, ethereum, DeFi, sécurité, marchés</a:t>
            </a:r>
          </a:p>
        </p:txBody>
      </p:sp>
    </p:spTree>
    <p:extLst>
      <p:ext uri="{BB962C8B-B14F-4D97-AF65-F5344CB8AC3E}">
        <p14:creationId xmlns:p14="http://schemas.microsoft.com/office/powerpoint/2010/main" val="186751411"/>
      </p:ext>
    </p:extLst>
  </p:cSld>
</p:sld>
</file>

<file path=ppt/slides/slide12.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B4722B8-AA3B-457B-8959-BAE6D3438F10}"/>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Événement enrichi</a:t>
            </a:r>
          </a:p>
        </p:txBody>
      </p:sp>
      <p:sp>
        <p:nvSpPr>
          <p:cNvPr id="2" name="">
            <a:extLst xmlns:a="http://schemas.openxmlformats.org/drawingml/2006/main">
              <a:ext uri="{FF2B5EF4-FFF2-40B4-BE49-F238E27FC236}">
                <a16:creationId xmlns:a16="http://schemas.microsoft.com/office/drawing/2014/main" id="{A12A6629-7584-48BC-8E6D-D23EE7DC38FC}"/>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7BC8EB52-CD7B-4E33-A2F7-7DB83411448D}"/>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3A04EE5-E3B8-4E7C-A948-EBF1016289FE}"/>
              </a:ext>
            </a:extLst>
          </p:cNvPr>
          <p:cNvSpPr>
            <a:spLocks xmlns:a="http://schemas.openxmlformats.org/drawingml/2006/main" noGrp="1"/>
          </p:cNvSpPr>
          <p:nvPr/>
        </p:nvSpPr>
        <p:spPr>
          <a:xfrm xmlns:a="http://schemas.openxmlformats.org/drawingml/2006/main">
            <a:off x="609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438BFF"/>
                </a:solidFill>
                <a:latin typeface="Arial"/>
                <a:ea typeface="Arial"/>
                <a:cs typeface="Arial"/>
              </a:defRPr>
            </a:pPr>
            <a:r>
              <a:rPr sz="1125" b="1">
                <a:solidFill>
                  <a:srgbClr val="438BFF"/>
                </a:solidFill>
                <a:latin typeface="Arial"/>
                <a:ea typeface="Arial"/>
                <a:cs typeface="Arial"/>
              </a:rPr>
              <a:t>CONSERVÉ</a:t>
            </a:r>
          </a:p>
        </p:txBody>
      </p:sp>
      <p:sp>
        <p:nvSpPr>
          <p:cNvPr id="5" name="">
            <a:extLst xmlns:a="http://schemas.openxmlformats.org/drawingml/2006/main">
              <a:ext uri="{FF2B5EF4-FFF2-40B4-BE49-F238E27FC236}">
                <a16:creationId xmlns:a16="http://schemas.microsoft.com/office/drawing/2014/main" id="{7417DC51-7FEB-4E92-A326-E7E5BED6E26C}"/>
              </a:ext>
            </a:extLst>
          </p:cNvPr>
          <p:cNvSpPr>
            <a:spLocks xmlns:a="http://schemas.openxmlformats.org/drawingml/2006/main" noGrp="1"/>
          </p:cNvSpPr>
          <p:nvPr/>
        </p:nvSpPr>
        <p:spPr>
          <a:xfrm xmlns:a="http://schemas.openxmlformats.org/drawingml/2006/main">
            <a:off x="609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6F51377-68E3-4732-B31C-901D453AE582}"/>
              </a:ext>
            </a:extLst>
          </p:cNvPr>
          <p:cNvSpPr>
            <a:spLocks xmlns:a="http://schemas.openxmlformats.org/drawingml/2006/main" noGrp="1"/>
          </p:cNvSpPr>
          <p:nvPr/>
        </p:nvSpPr>
        <p:spPr>
          <a:xfrm xmlns:a="http://schemas.openxmlformats.org/drawingml/2006/main">
            <a:off x="847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Identité, source, texte et temps</a:t>
            </a:r>
          </a:p>
        </p:txBody>
      </p:sp>
      <p:sp>
        <p:nvSpPr>
          <p:cNvPr id="7" name="">
            <a:extLst xmlns:a="http://schemas.openxmlformats.org/drawingml/2006/main">
              <a:ext uri="{FF2B5EF4-FFF2-40B4-BE49-F238E27FC236}">
                <a16:creationId xmlns:a16="http://schemas.microsoft.com/office/drawing/2014/main" id="{7619AAEB-3B40-4E65-9431-A5FBE26C5FC5}"/>
              </a:ext>
            </a:extLst>
          </p:cNvPr>
          <p:cNvSpPr>
            <a:spLocks xmlns:a="http://schemas.openxmlformats.org/drawingml/2006/main" noGrp="1"/>
          </p:cNvSpPr>
          <p:nvPr/>
        </p:nvSpPr>
        <p:spPr>
          <a:xfrm xmlns:a="http://schemas.openxmlformats.org/drawingml/2006/main">
            <a:off x="43561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ED3C6"/>
                </a:solidFill>
                <a:latin typeface="Arial"/>
                <a:ea typeface="Arial"/>
                <a:cs typeface="Arial"/>
              </a:defRPr>
            </a:pPr>
            <a:r>
              <a:rPr sz="1125" b="1">
                <a:solidFill>
                  <a:srgbClr val="2ED3C6"/>
                </a:solidFill>
                <a:latin typeface="Arial"/>
                <a:ea typeface="Arial"/>
                <a:cs typeface="Arial"/>
              </a:rPr>
              <a:t>AJOUTÉ</a:t>
            </a:r>
          </a:p>
        </p:txBody>
      </p:sp>
      <p:sp>
        <p:nvSpPr>
          <p:cNvPr id="8" name="">
            <a:extLst xmlns:a="http://schemas.openxmlformats.org/drawingml/2006/main">
              <a:ext uri="{FF2B5EF4-FFF2-40B4-BE49-F238E27FC236}">
                <a16:creationId xmlns:a16="http://schemas.microsoft.com/office/drawing/2014/main" id="{58699B04-A04D-4199-A34D-6CF572BEFE1F}"/>
              </a:ext>
            </a:extLst>
          </p:cNvPr>
          <p:cNvSpPr>
            <a:spLocks xmlns:a="http://schemas.openxmlformats.org/drawingml/2006/main" noGrp="1"/>
          </p:cNvSpPr>
          <p:nvPr/>
        </p:nvSpPr>
        <p:spPr>
          <a:xfrm xmlns:a="http://schemas.openxmlformats.org/drawingml/2006/main">
            <a:off x="43561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08DDF64-5C15-4355-BA7E-C30AD156DB0A}"/>
              </a:ext>
            </a:extLst>
          </p:cNvPr>
          <p:cNvSpPr>
            <a:spLocks xmlns:a="http://schemas.openxmlformats.org/drawingml/2006/main" noGrp="1"/>
          </p:cNvSpPr>
          <p:nvPr/>
        </p:nvSpPr>
        <p:spPr>
          <a:xfrm xmlns:a="http://schemas.openxmlformats.org/drawingml/2006/main">
            <a:off x="45942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Score, label de sentiment et liste de thèmes</a:t>
            </a:r>
          </a:p>
        </p:txBody>
      </p:sp>
      <p:sp>
        <p:nvSpPr>
          <p:cNvPr id="10" name="">
            <a:extLst xmlns:a="http://schemas.openxmlformats.org/drawingml/2006/main">
              <a:ext uri="{FF2B5EF4-FFF2-40B4-BE49-F238E27FC236}">
                <a16:creationId xmlns:a16="http://schemas.microsoft.com/office/drawing/2014/main" id="{A4339A90-C0EE-49B9-B2CE-3F166F5E64FD}"/>
              </a:ext>
            </a:extLst>
          </p:cNvPr>
          <p:cNvSpPr>
            <a:spLocks xmlns:a="http://schemas.openxmlformats.org/drawingml/2006/main" noGrp="1"/>
          </p:cNvSpPr>
          <p:nvPr/>
        </p:nvSpPr>
        <p:spPr>
          <a:xfrm xmlns:a="http://schemas.openxmlformats.org/drawingml/2006/main">
            <a:off x="8102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FFB454"/>
                </a:solidFill>
                <a:latin typeface="Arial"/>
                <a:ea typeface="Arial"/>
                <a:cs typeface="Arial"/>
              </a:defRPr>
            </a:pPr>
            <a:r>
              <a:rPr sz="1125" b="1">
                <a:solidFill>
                  <a:srgbClr val="FFB454"/>
                </a:solidFill>
                <a:latin typeface="Arial"/>
                <a:ea typeface="Arial"/>
                <a:cs typeface="Arial"/>
              </a:rPr>
              <a:t>TRAÇABLE</a:t>
            </a:r>
          </a:p>
        </p:txBody>
      </p:sp>
      <p:sp>
        <p:nvSpPr>
          <p:cNvPr id="11" name="">
            <a:extLst xmlns:a="http://schemas.openxmlformats.org/drawingml/2006/main">
              <a:ext uri="{FF2B5EF4-FFF2-40B4-BE49-F238E27FC236}">
                <a16:creationId xmlns:a16="http://schemas.microsoft.com/office/drawing/2014/main" id="{E9283296-780E-42FE-8B7A-167688CBA76C}"/>
              </a:ext>
            </a:extLst>
          </p:cNvPr>
          <p:cNvSpPr>
            <a:spLocks xmlns:a="http://schemas.openxmlformats.org/drawingml/2006/main" noGrp="1"/>
          </p:cNvSpPr>
          <p:nvPr/>
        </p:nvSpPr>
        <p:spPr>
          <a:xfrm xmlns:a="http://schemas.openxmlformats.org/drawingml/2006/main">
            <a:off x="8102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2117497-B3EB-4C5F-8CA0-B1C0611000DB}"/>
              </a:ext>
            </a:extLst>
          </p:cNvPr>
          <p:cNvSpPr>
            <a:spLocks xmlns:a="http://schemas.openxmlformats.org/drawingml/2006/main" noGrp="1"/>
          </p:cNvSpPr>
          <p:nvPr/>
        </p:nvSpPr>
        <p:spPr>
          <a:xfrm xmlns:a="http://schemas.openxmlformats.org/drawingml/2006/main">
            <a:off x="8340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Même article_id pendant tout le parcours</a:t>
            </a:r>
          </a:p>
        </p:txBody>
      </p:sp>
      <p:sp>
        <p:nvSpPr>
          <p:cNvPr id="13" name="">
            <a:extLst xmlns:a="http://schemas.openxmlformats.org/drawingml/2006/main">
              <a:ext uri="{FF2B5EF4-FFF2-40B4-BE49-F238E27FC236}">
                <a16:creationId xmlns:a16="http://schemas.microsoft.com/office/drawing/2014/main" id="{1DD62022-0A4A-4F66-A117-76A654CD2883}"/>
              </a:ext>
            </a:extLst>
          </p:cNvPr>
          <p:cNvSpPr>
            <a:spLocks xmlns:a="http://schemas.openxmlformats.org/drawingml/2006/main" noGrp="1"/>
          </p:cNvSpPr>
          <p:nvPr/>
        </p:nvSpPr>
        <p:spPr>
          <a:xfrm xmlns:a="http://schemas.openxmlformats.org/drawingml/2006/main">
            <a:off x="1571625" y="5334000"/>
            <a:ext cx="904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EEF6FF"/>
                </a:solidFill>
                <a:latin typeface="Arial"/>
                <a:ea typeface="Arial"/>
                <a:cs typeface="Arial"/>
              </a:defRPr>
            </a:pPr>
            <a:r>
              <a:rPr sz="1800" b="1">
                <a:solidFill>
                  <a:srgbClr val="EEF6FF"/>
                </a:solidFill>
                <a:latin typeface="Arial"/>
                <a:ea typeface="Arial"/>
                <a:cs typeface="Arial"/>
              </a:rPr>
              <a:t>enriched_news devient le contrat d’entrée du stockage</a:t>
            </a:r>
          </a:p>
        </p:txBody>
      </p:sp>
    </p:spTree>
    <p:extLst>
      <p:ext uri="{BB962C8B-B14F-4D97-AF65-F5344CB8AC3E}">
        <p14:creationId xmlns:p14="http://schemas.microsoft.com/office/powerpoint/2010/main" val="1241678290"/>
      </p:ext>
    </p:extLst>
  </p:cSld>
</p:sld>
</file>

<file path=ppt/slides/slide13.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9C1FA80-133A-451E-93E3-CE4919DE29A1}"/>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Stockage transactionnel</a:t>
            </a:r>
          </a:p>
        </p:txBody>
      </p:sp>
      <p:sp>
        <p:nvSpPr>
          <p:cNvPr id="2" name="">
            <a:extLst xmlns:a="http://schemas.openxmlformats.org/drawingml/2006/main">
              <a:ext uri="{FF2B5EF4-FFF2-40B4-BE49-F238E27FC236}">
                <a16:creationId xmlns:a16="http://schemas.microsoft.com/office/drawing/2014/main" id="{8E9250B0-91C9-41C9-8A0B-5E86B2F770E8}"/>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5639D1AC-436E-43DE-9A80-2FEF770A9FD9}"/>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0BAAC2B-799B-4640-AE09-29CB9713A4D6}"/>
              </a:ext>
            </a:extLst>
          </p:cNvPr>
          <p:cNvSpPr>
            <a:spLocks xmlns:a="http://schemas.openxmlformats.org/drawingml/2006/main" noGrp="1"/>
          </p:cNvSpPr>
          <p:nvPr/>
        </p:nvSpPr>
        <p:spPr>
          <a:xfrm xmlns:a="http://schemas.openxmlformats.org/drawingml/2006/main">
            <a:off x="857250" y="1714500"/>
            <a:ext cx="24765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A9B079F-34E8-449C-BBCC-57A900FE58C1}"/>
              </a:ext>
            </a:extLst>
          </p:cNvPr>
          <p:cNvSpPr>
            <a:spLocks xmlns:a="http://schemas.openxmlformats.org/drawingml/2006/main" noGrp="1"/>
          </p:cNvSpPr>
          <p:nvPr/>
        </p:nvSpPr>
        <p:spPr>
          <a:xfrm xmlns:a="http://schemas.openxmlformats.org/drawingml/2006/main">
            <a:off x="857250" y="1714500"/>
            <a:ext cx="66675" cy="9525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29A3C4C-EED3-4744-9ED0-A8F49B2C07DC}"/>
              </a:ext>
            </a:extLst>
          </p:cNvPr>
          <p:cNvSpPr>
            <a:spLocks xmlns:a="http://schemas.openxmlformats.org/drawingml/2006/main" noGrp="1"/>
          </p:cNvSpPr>
          <p:nvPr/>
        </p:nvSpPr>
        <p:spPr>
          <a:xfrm xmlns:a="http://schemas.openxmlformats.org/drawingml/2006/main">
            <a:off x="1047750" y="18288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enriched_news</a:t>
            </a:r>
          </a:p>
        </p:txBody>
      </p:sp>
      <p:sp>
        <p:nvSpPr>
          <p:cNvPr id="7" name="">
            <a:extLst xmlns:a="http://schemas.openxmlformats.org/drawingml/2006/main">
              <a:ext uri="{FF2B5EF4-FFF2-40B4-BE49-F238E27FC236}">
                <a16:creationId xmlns:a16="http://schemas.microsoft.com/office/drawing/2014/main" id="{D36011DD-387E-458A-87C7-F8736E74FFFE}"/>
              </a:ext>
            </a:extLst>
          </p:cNvPr>
          <p:cNvSpPr>
            <a:spLocks xmlns:a="http://schemas.openxmlformats.org/drawingml/2006/main" noGrp="1"/>
          </p:cNvSpPr>
          <p:nvPr/>
        </p:nvSpPr>
        <p:spPr>
          <a:xfrm xmlns:a="http://schemas.openxmlformats.org/drawingml/2006/main">
            <a:off x="1047750" y="2209800"/>
            <a:ext cx="217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événement</a:t>
            </a:r>
          </a:p>
        </p:txBody>
      </p:sp>
      <p:sp>
        <p:nvSpPr>
          <p:cNvPr id="8" name="">
            <a:extLst xmlns:a="http://schemas.openxmlformats.org/drawingml/2006/main">
              <a:ext uri="{FF2B5EF4-FFF2-40B4-BE49-F238E27FC236}">
                <a16:creationId xmlns:a16="http://schemas.microsoft.com/office/drawing/2014/main" id="{EA773B96-E7F4-4091-ACB2-711898DD3099}"/>
              </a:ext>
            </a:extLst>
          </p:cNvPr>
          <p:cNvSpPr>
            <a:spLocks xmlns:a="http://schemas.openxmlformats.org/drawingml/2006/main" noGrp="1"/>
          </p:cNvSpPr>
          <p:nvPr/>
        </p:nvSpPr>
        <p:spPr>
          <a:xfrm xmlns:a="http://schemas.openxmlformats.org/drawingml/2006/main">
            <a:off x="3571875" y="19050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BAF5B0C6-669A-454D-AB44-9A3DA488D9B8}"/>
              </a:ext>
            </a:extLst>
          </p:cNvPr>
          <p:cNvSpPr>
            <a:spLocks xmlns:a="http://schemas.openxmlformats.org/drawingml/2006/main" noGrp="1"/>
          </p:cNvSpPr>
          <p:nvPr/>
        </p:nvSpPr>
        <p:spPr>
          <a:xfrm xmlns:a="http://schemas.openxmlformats.org/drawingml/2006/main">
            <a:off x="4476750" y="1714500"/>
            <a:ext cx="28575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5EA0324-D63E-41CE-BB1C-3414B4363AC2}"/>
              </a:ext>
            </a:extLst>
          </p:cNvPr>
          <p:cNvSpPr>
            <a:spLocks xmlns:a="http://schemas.openxmlformats.org/drawingml/2006/main" noGrp="1"/>
          </p:cNvSpPr>
          <p:nvPr/>
        </p:nvSpPr>
        <p:spPr>
          <a:xfrm xmlns:a="http://schemas.openxmlformats.org/drawingml/2006/main">
            <a:off x="4476750" y="1714500"/>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43C3AD7-B8E5-4BA0-988F-DA128F420BF7}"/>
              </a:ext>
            </a:extLst>
          </p:cNvPr>
          <p:cNvSpPr>
            <a:spLocks xmlns:a="http://schemas.openxmlformats.org/drawingml/2006/main" noGrp="1"/>
          </p:cNvSpPr>
          <p:nvPr/>
        </p:nvSpPr>
        <p:spPr>
          <a:xfrm xmlns:a="http://schemas.openxmlformats.org/drawingml/2006/main">
            <a:off x="4667250" y="1828800"/>
            <a:ext cx="2552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Storage</a:t>
            </a:r>
          </a:p>
        </p:txBody>
      </p:sp>
      <p:sp>
        <p:nvSpPr>
          <p:cNvPr id="12" name="">
            <a:extLst xmlns:a="http://schemas.openxmlformats.org/drawingml/2006/main">
              <a:ext uri="{FF2B5EF4-FFF2-40B4-BE49-F238E27FC236}">
                <a16:creationId xmlns:a16="http://schemas.microsoft.com/office/drawing/2014/main" id="{8CD5ADB9-1304-42D0-A0DC-1E00DE87EBDF}"/>
              </a:ext>
            </a:extLst>
          </p:cNvPr>
          <p:cNvSpPr>
            <a:spLocks xmlns:a="http://schemas.openxmlformats.org/drawingml/2006/main" noGrp="1"/>
          </p:cNvSpPr>
          <p:nvPr/>
        </p:nvSpPr>
        <p:spPr>
          <a:xfrm xmlns:a="http://schemas.openxmlformats.org/drawingml/2006/main">
            <a:off x="4667250" y="2209800"/>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transaction SQL</a:t>
            </a:r>
          </a:p>
        </p:txBody>
      </p:sp>
      <p:sp>
        <p:nvSpPr>
          <p:cNvPr id="13" name="">
            <a:extLst xmlns:a="http://schemas.openxmlformats.org/drawingml/2006/main">
              <a:ext uri="{FF2B5EF4-FFF2-40B4-BE49-F238E27FC236}">
                <a16:creationId xmlns:a16="http://schemas.microsoft.com/office/drawing/2014/main" id="{116F901C-1ACF-48E8-A149-683477E4C631}"/>
              </a:ext>
            </a:extLst>
          </p:cNvPr>
          <p:cNvSpPr>
            <a:spLocks xmlns:a="http://schemas.openxmlformats.org/drawingml/2006/main" noGrp="1"/>
          </p:cNvSpPr>
          <p:nvPr/>
        </p:nvSpPr>
        <p:spPr>
          <a:xfrm xmlns:a="http://schemas.openxmlformats.org/drawingml/2006/main">
            <a:off x="7572375" y="19050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A73BBA2D-D3C8-48D5-9853-4BF665B80FA3}"/>
              </a:ext>
            </a:extLst>
          </p:cNvPr>
          <p:cNvSpPr>
            <a:spLocks xmlns:a="http://schemas.openxmlformats.org/drawingml/2006/main" noGrp="1"/>
          </p:cNvSpPr>
          <p:nvPr/>
        </p:nvSpPr>
        <p:spPr>
          <a:xfrm xmlns:a="http://schemas.openxmlformats.org/drawingml/2006/main">
            <a:off x="8477250" y="1714500"/>
            <a:ext cx="27622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41F7E3E-C00B-43FB-B6B0-F077DAFD0B3A}"/>
              </a:ext>
            </a:extLst>
          </p:cNvPr>
          <p:cNvSpPr>
            <a:spLocks xmlns:a="http://schemas.openxmlformats.org/drawingml/2006/main" noGrp="1"/>
          </p:cNvSpPr>
          <p:nvPr/>
        </p:nvSpPr>
        <p:spPr>
          <a:xfrm xmlns:a="http://schemas.openxmlformats.org/drawingml/2006/main">
            <a:off x="8477250" y="1714500"/>
            <a:ext cx="66675" cy="9525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A867ECF-5638-4688-A535-202C11F9E416}"/>
              </a:ext>
            </a:extLst>
          </p:cNvPr>
          <p:cNvSpPr>
            <a:spLocks xmlns:a="http://schemas.openxmlformats.org/drawingml/2006/main" noGrp="1"/>
          </p:cNvSpPr>
          <p:nvPr/>
        </p:nvSpPr>
        <p:spPr>
          <a:xfrm xmlns:a="http://schemas.openxmlformats.org/drawingml/2006/main">
            <a:off x="8667750" y="1828800"/>
            <a:ext cx="2457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MySQL</a:t>
            </a:r>
          </a:p>
        </p:txBody>
      </p:sp>
      <p:sp>
        <p:nvSpPr>
          <p:cNvPr id="17" name="">
            <a:extLst xmlns:a="http://schemas.openxmlformats.org/drawingml/2006/main">
              <a:ext uri="{FF2B5EF4-FFF2-40B4-BE49-F238E27FC236}">
                <a16:creationId xmlns:a16="http://schemas.microsoft.com/office/drawing/2014/main" id="{E3E0F0D1-C37A-4209-9AE0-B4FDEF1CDDBF}"/>
              </a:ext>
            </a:extLst>
          </p:cNvPr>
          <p:cNvSpPr>
            <a:spLocks xmlns:a="http://schemas.openxmlformats.org/drawingml/2006/main" noGrp="1"/>
          </p:cNvSpPr>
          <p:nvPr/>
        </p:nvSpPr>
        <p:spPr>
          <a:xfrm xmlns:a="http://schemas.openxmlformats.org/drawingml/2006/main">
            <a:off x="8667750" y="2209800"/>
            <a:ext cx="2457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faits + agrégats</a:t>
            </a:r>
          </a:p>
        </p:txBody>
      </p:sp>
      <p:sp>
        <p:nvSpPr>
          <p:cNvPr id="18" name="">
            <a:extLst xmlns:a="http://schemas.openxmlformats.org/drawingml/2006/main">
              <a:ext uri="{FF2B5EF4-FFF2-40B4-BE49-F238E27FC236}">
                <a16:creationId xmlns:a16="http://schemas.microsoft.com/office/drawing/2014/main" id="{1E39FB07-2AE5-4474-B51E-E77B4EB9D58C}"/>
              </a:ext>
            </a:extLst>
          </p:cNvPr>
          <p:cNvSpPr>
            <a:spLocks xmlns:a="http://schemas.openxmlformats.org/drawingml/2006/main" noGrp="1"/>
          </p:cNvSpPr>
          <p:nvPr/>
        </p:nvSpPr>
        <p:spPr>
          <a:xfrm xmlns:a="http://schemas.openxmlformats.org/drawingml/2006/main">
            <a:off x="762000" y="34290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FFB454"/>
                </a:solidFill>
                <a:latin typeface="Arial"/>
                <a:ea typeface="Arial"/>
                <a:cs typeface="Arial"/>
              </a:defRPr>
            </a:pPr>
            <a:r>
              <a:rPr sz="1425" b="1">
                <a:solidFill>
                  <a:srgbClr val="FFB454"/>
                </a:solidFill>
                <a:latin typeface="Arial"/>
                <a:ea typeface="Arial"/>
                <a:cs typeface="Arial"/>
              </a:rPr>
              <a:t>1</a:t>
            </a:r>
          </a:p>
        </p:txBody>
      </p:sp>
      <p:sp>
        <p:nvSpPr>
          <p:cNvPr id="19" name="">
            <a:extLst xmlns:a="http://schemas.openxmlformats.org/drawingml/2006/main">
              <a:ext uri="{FF2B5EF4-FFF2-40B4-BE49-F238E27FC236}">
                <a16:creationId xmlns:a16="http://schemas.microsoft.com/office/drawing/2014/main" id="{5CFB1A6E-77FB-4430-8EEF-38B16A875BAF}"/>
              </a:ext>
            </a:extLst>
          </p:cNvPr>
          <p:cNvSpPr>
            <a:spLocks xmlns:a="http://schemas.openxmlformats.org/drawingml/2006/main" noGrp="1"/>
          </p:cNvSpPr>
          <p:nvPr/>
        </p:nvSpPr>
        <p:spPr>
          <a:xfrm xmlns:a="http://schemas.openxmlformats.org/drawingml/2006/main">
            <a:off x="3429000" y="3600450"/>
            <a:ext cx="666750" cy="381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F8C33FA-77F0-441A-9805-D7D3096D8B91}"/>
              </a:ext>
            </a:extLst>
          </p:cNvPr>
          <p:cNvSpPr>
            <a:spLocks xmlns:a="http://schemas.openxmlformats.org/drawingml/2006/main" noGrp="1"/>
          </p:cNvSpPr>
          <p:nvPr/>
        </p:nvSpPr>
        <p:spPr>
          <a:xfrm xmlns:a="http://schemas.openxmlformats.org/drawingml/2006/main">
            <a:off x="4381500" y="34099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Insertion de l’article</a:t>
            </a:r>
          </a:p>
        </p:txBody>
      </p:sp>
      <p:sp>
        <p:nvSpPr>
          <p:cNvPr id="21" name="">
            <a:extLst xmlns:a="http://schemas.openxmlformats.org/drawingml/2006/main">
              <a:ext uri="{FF2B5EF4-FFF2-40B4-BE49-F238E27FC236}">
                <a16:creationId xmlns:a16="http://schemas.microsoft.com/office/drawing/2014/main" id="{6739A75D-4834-4427-BD47-F6190C61A70B}"/>
              </a:ext>
            </a:extLst>
          </p:cNvPr>
          <p:cNvSpPr>
            <a:spLocks xmlns:a="http://schemas.openxmlformats.org/drawingml/2006/main" noGrp="1"/>
          </p:cNvSpPr>
          <p:nvPr/>
        </p:nvSpPr>
        <p:spPr>
          <a:xfrm xmlns:a="http://schemas.openxmlformats.org/drawingml/2006/main">
            <a:off x="762000" y="42386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ED3C6"/>
                </a:solidFill>
                <a:latin typeface="Arial"/>
                <a:ea typeface="Arial"/>
                <a:cs typeface="Arial"/>
              </a:defRPr>
            </a:pPr>
            <a:r>
              <a:rPr sz="1425" b="1">
                <a:solidFill>
                  <a:srgbClr val="2ED3C6"/>
                </a:solidFill>
                <a:latin typeface="Arial"/>
                <a:ea typeface="Arial"/>
                <a:cs typeface="Arial"/>
              </a:rPr>
              <a:t>2</a:t>
            </a:r>
          </a:p>
        </p:txBody>
      </p:sp>
      <p:sp>
        <p:nvSpPr>
          <p:cNvPr id="22" name="">
            <a:extLst xmlns:a="http://schemas.openxmlformats.org/drawingml/2006/main">
              <a:ext uri="{FF2B5EF4-FFF2-40B4-BE49-F238E27FC236}">
                <a16:creationId xmlns:a16="http://schemas.microsoft.com/office/drawing/2014/main" id="{D1F14D15-D9C5-4962-860D-864FB6CA44B1}"/>
              </a:ext>
            </a:extLst>
          </p:cNvPr>
          <p:cNvSpPr>
            <a:spLocks xmlns:a="http://schemas.openxmlformats.org/drawingml/2006/main" noGrp="1"/>
          </p:cNvSpPr>
          <p:nvPr/>
        </p:nvSpPr>
        <p:spPr>
          <a:xfrm xmlns:a="http://schemas.openxmlformats.org/drawingml/2006/main">
            <a:off x="3429000" y="4410075"/>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F7B3FD6-9C5F-4C81-9309-0399B85DD51A}"/>
              </a:ext>
            </a:extLst>
          </p:cNvPr>
          <p:cNvSpPr>
            <a:spLocks xmlns:a="http://schemas.openxmlformats.org/drawingml/2006/main" noGrp="1"/>
          </p:cNvSpPr>
          <p:nvPr/>
        </p:nvSpPr>
        <p:spPr>
          <a:xfrm xmlns:a="http://schemas.openxmlformats.org/drawingml/2006/main">
            <a:off x="4381500" y="421957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Mise à jour des agrégats</a:t>
            </a:r>
          </a:p>
        </p:txBody>
      </p:sp>
      <p:sp>
        <p:nvSpPr>
          <p:cNvPr id="24" name="">
            <a:extLst xmlns:a="http://schemas.openxmlformats.org/drawingml/2006/main">
              <a:ext uri="{FF2B5EF4-FFF2-40B4-BE49-F238E27FC236}">
                <a16:creationId xmlns:a16="http://schemas.microsoft.com/office/drawing/2014/main" id="{AC47AC32-A147-4DDE-9BBD-D2FF1ABDAD86}"/>
              </a:ext>
            </a:extLst>
          </p:cNvPr>
          <p:cNvSpPr>
            <a:spLocks xmlns:a="http://schemas.openxmlformats.org/drawingml/2006/main" noGrp="1"/>
          </p:cNvSpPr>
          <p:nvPr/>
        </p:nvSpPr>
        <p:spPr>
          <a:xfrm xmlns:a="http://schemas.openxmlformats.org/drawingml/2006/main">
            <a:off x="762000" y="50482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438BFF"/>
                </a:solidFill>
                <a:latin typeface="Arial"/>
                <a:ea typeface="Arial"/>
                <a:cs typeface="Arial"/>
              </a:defRPr>
            </a:pPr>
            <a:r>
              <a:rPr sz="1425" b="1">
                <a:solidFill>
                  <a:srgbClr val="438B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139AC2BD-4355-47DA-B74E-37EB490778F9}"/>
              </a:ext>
            </a:extLst>
          </p:cNvPr>
          <p:cNvSpPr>
            <a:spLocks xmlns:a="http://schemas.openxmlformats.org/drawingml/2006/main" noGrp="1"/>
          </p:cNvSpPr>
          <p:nvPr/>
        </p:nvSpPr>
        <p:spPr>
          <a:xfrm xmlns:a="http://schemas.openxmlformats.org/drawingml/2006/main">
            <a:off x="3429000" y="5219700"/>
            <a:ext cx="666750" cy="381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3AE8864-9D85-4318-B1CE-B4A998DEE8E4}"/>
              </a:ext>
            </a:extLst>
          </p:cNvPr>
          <p:cNvSpPr>
            <a:spLocks xmlns:a="http://schemas.openxmlformats.org/drawingml/2006/main" noGrp="1"/>
          </p:cNvSpPr>
          <p:nvPr/>
        </p:nvSpPr>
        <p:spPr>
          <a:xfrm xmlns:a="http://schemas.openxmlformats.org/drawingml/2006/main">
            <a:off x="4381500" y="50292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Commit puis ACK</a:t>
            </a:r>
          </a:p>
        </p:txBody>
      </p:sp>
    </p:spTree>
    <p:extLst>
      <p:ext uri="{BB962C8B-B14F-4D97-AF65-F5344CB8AC3E}">
        <p14:creationId xmlns:p14="http://schemas.microsoft.com/office/powerpoint/2010/main" val="995282420"/>
      </p:ext>
    </p:extLst>
  </p:cSld>
</p:sld>
</file>

<file path=ppt/slides/slide14.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D11AFDD-890C-4EEE-815F-0265706E9EA2}"/>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Agrégations horaires</a:t>
            </a:r>
          </a:p>
        </p:txBody>
      </p:sp>
      <p:sp>
        <p:nvSpPr>
          <p:cNvPr id="2" name="">
            <a:extLst xmlns:a="http://schemas.openxmlformats.org/drawingml/2006/main">
              <a:ext uri="{FF2B5EF4-FFF2-40B4-BE49-F238E27FC236}">
                <a16:creationId xmlns:a16="http://schemas.microsoft.com/office/drawing/2014/main" id="{157F8AF4-1AEC-45B1-A2ED-E01F8097EC00}"/>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AD6793A1-946A-4094-A222-A37CFA545B89}"/>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B297F12-FDAA-4FE1-89BD-5DE1D9667277}"/>
              </a:ext>
            </a:extLst>
          </p:cNvPr>
          <p:cNvSpPr>
            <a:spLocks xmlns:a="http://schemas.openxmlformats.org/drawingml/2006/main" noGrp="1"/>
          </p:cNvSpPr>
          <p:nvPr/>
        </p:nvSpPr>
        <p:spPr>
          <a:xfrm xmlns:a="http://schemas.openxmlformats.org/drawingml/2006/main">
            <a:off x="609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FFB454"/>
                </a:solidFill>
                <a:latin typeface="Arial"/>
                <a:ea typeface="Arial"/>
                <a:cs typeface="Arial"/>
              </a:defRPr>
            </a:pPr>
            <a:r>
              <a:rPr sz="1125" b="1">
                <a:solidFill>
                  <a:srgbClr val="FFB454"/>
                </a:solidFill>
                <a:latin typeface="Arial"/>
                <a:ea typeface="Arial"/>
                <a:cs typeface="Arial"/>
              </a:rPr>
              <a:t>NEWS_ARTICLES</a:t>
            </a:r>
          </a:p>
        </p:txBody>
      </p:sp>
      <p:sp>
        <p:nvSpPr>
          <p:cNvPr id="5" name="">
            <a:extLst xmlns:a="http://schemas.openxmlformats.org/drawingml/2006/main">
              <a:ext uri="{FF2B5EF4-FFF2-40B4-BE49-F238E27FC236}">
                <a16:creationId xmlns:a16="http://schemas.microsoft.com/office/drawing/2014/main" id="{5A701433-21A6-4746-BA51-85911C832FD0}"/>
              </a:ext>
            </a:extLst>
          </p:cNvPr>
          <p:cNvSpPr>
            <a:spLocks xmlns:a="http://schemas.openxmlformats.org/drawingml/2006/main" noGrp="1"/>
          </p:cNvSpPr>
          <p:nvPr/>
        </p:nvSpPr>
        <p:spPr>
          <a:xfrm xmlns:a="http://schemas.openxmlformats.org/drawingml/2006/main">
            <a:off x="609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BA13B6A-97F3-44D7-AAB8-7BF2AD19979E}"/>
              </a:ext>
            </a:extLst>
          </p:cNvPr>
          <p:cNvSpPr>
            <a:spLocks xmlns:a="http://schemas.openxmlformats.org/drawingml/2006/main" noGrp="1"/>
          </p:cNvSpPr>
          <p:nvPr/>
        </p:nvSpPr>
        <p:spPr>
          <a:xfrm xmlns:a="http://schemas.openxmlformats.org/drawingml/2006/main">
            <a:off x="847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Détail des articles enrichis</a:t>
            </a:r>
          </a:p>
        </p:txBody>
      </p:sp>
      <p:sp>
        <p:nvSpPr>
          <p:cNvPr id="7" name="">
            <a:extLst xmlns:a="http://schemas.openxmlformats.org/drawingml/2006/main">
              <a:ext uri="{FF2B5EF4-FFF2-40B4-BE49-F238E27FC236}">
                <a16:creationId xmlns:a16="http://schemas.microsoft.com/office/drawing/2014/main" id="{6A4CAD86-E069-407D-B2D4-DA4D6B74CBB0}"/>
              </a:ext>
            </a:extLst>
          </p:cNvPr>
          <p:cNvSpPr>
            <a:spLocks xmlns:a="http://schemas.openxmlformats.org/drawingml/2006/main" noGrp="1"/>
          </p:cNvSpPr>
          <p:nvPr/>
        </p:nvSpPr>
        <p:spPr>
          <a:xfrm xmlns:a="http://schemas.openxmlformats.org/drawingml/2006/main">
            <a:off x="43561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ED3C6"/>
                </a:solidFill>
                <a:latin typeface="Arial"/>
                <a:ea typeface="Arial"/>
                <a:cs typeface="Arial"/>
              </a:defRPr>
            </a:pPr>
            <a:r>
              <a:rPr sz="1125" b="1">
                <a:solidFill>
                  <a:srgbClr val="2ED3C6"/>
                </a:solidFill>
                <a:latin typeface="Arial"/>
                <a:ea typeface="Arial"/>
                <a:cs typeface="Arial"/>
              </a:rPr>
              <a:t>ANALYTICS_HOURLY</a:t>
            </a:r>
          </a:p>
        </p:txBody>
      </p:sp>
      <p:sp>
        <p:nvSpPr>
          <p:cNvPr id="8" name="">
            <a:extLst xmlns:a="http://schemas.openxmlformats.org/drawingml/2006/main">
              <a:ext uri="{FF2B5EF4-FFF2-40B4-BE49-F238E27FC236}">
                <a16:creationId xmlns:a16="http://schemas.microsoft.com/office/drawing/2014/main" id="{2AAA5F8B-E590-4EB6-B9AA-EF1DF7940640}"/>
              </a:ext>
            </a:extLst>
          </p:cNvPr>
          <p:cNvSpPr>
            <a:spLocks xmlns:a="http://schemas.openxmlformats.org/drawingml/2006/main" noGrp="1"/>
          </p:cNvSpPr>
          <p:nvPr/>
        </p:nvSpPr>
        <p:spPr>
          <a:xfrm xmlns:a="http://schemas.openxmlformats.org/drawingml/2006/main">
            <a:off x="43561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4DE1C5C-7DEB-46B6-A674-7F797C97AC5E}"/>
              </a:ext>
            </a:extLst>
          </p:cNvPr>
          <p:cNvSpPr>
            <a:spLocks xmlns:a="http://schemas.openxmlformats.org/drawingml/2006/main" noGrp="1"/>
          </p:cNvSpPr>
          <p:nvPr/>
        </p:nvSpPr>
        <p:spPr>
          <a:xfrm xmlns:a="http://schemas.openxmlformats.org/drawingml/2006/main">
            <a:off x="45942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Volumes et sentiments par thème</a:t>
            </a:r>
          </a:p>
        </p:txBody>
      </p:sp>
      <p:sp>
        <p:nvSpPr>
          <p:cNvPr id="10" name="">
            <a:extLst xmlns:a="http://schemas.openxmlformats.org/drawingml/2006/main">
              <a:ext uri="{FF2B5EF4-FFF2-40B4-BE49-F238E27FC236}">
                <a16:creationId xmlns:a16="http://schemas.microsoft.com/office/drawing/2014/main" id="{583C76D0-4BC2-4A19-A7EA-C6891AD27D5D}"/>
              </a:ext>
            </a:extLst>
          </p:cNvPr>
          <p:cNvSpPr>
            <a:spLocks xmlns:a="http://schemas.openxmlformats.org/drawingml/2006/main" noGrp="1"/>
          </p:cNvSpPr>
          <p:nvPr/>
        </p:nvSpPr>
        <p:spPr>
          <a:xfrm xmlns:a="http://schemas.openxmlformats.org/drawingml/2006/main">
            <a:off x="8102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438BFF"/>
                </a:solidFill>
                <a:latin typeface="Arial"/>
                <a:ea typeface="Arial"/>
                <a:cs typeface="Arial"/>
              </a:defRPr>
            </a:pPr>
            <a:r>
              <a:rPr sz="1125" b="1">
                <a:solidFill>
                  <a:srgbClr val="438BFF"/>
                </a:solidFill>
                <a:latin typeface="Arial"/>
                <a:ea typeface="Arial"/>
                <a:cs typeface="Arial"/>
              </a:rPr>
              <a:t>PIPELINE_HOURLY</a:t>
            </a:r>
          </a:p>
        </p:txBody>
      </p:sp>
      <p:sp>
        <p:nvSpPr>
          <p:cNvPr id="11" name="">
            <a:extLst xmlns:a="http://schemas.openxmlformats.org/drawingml/2006/main">
              <a:ext uri="{FF2B5EF4-FFF2-40B4-BE49-F238E27FC236}">
                <a16:creationId xmlns:a16="http://schemas.microsoft.com/office/drawing/2014/main" id="{9114B655-555B-4FE2-BDDD-94689164ECC2}"/>
              </a:ext>
            </a:extLst>
          </p:cNvPr>
          <p:cNvSpPr>
            <a:spLocks xmlns:a="http://schemas.openxmlformats.org/drawingml/2006/main" noGrp="1"/>
          </p:cNvSpPr>
          <p:nvPr/>
        </p:nvSpPr>
        <p:spPr>
          <a:xfrm xmlns:a="http://schemas.openxmlformats.org/drawingml/2006/main">
            <a:off x="8102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B7F0C42-AC48-4A82-AEF0-D42E0E22B3C2}"/>
              </a:ext>
            </a:extLst>
          </p:cNvPr>
          <p:cNvSpPr>
            <a:spLocks xmlns:a="http://schemas.openxmlformats.org/drawingml/2006/main" noGrp="1"/>
          </p:cNvSpPr>
          <p:nvPr/>
        </p:nvSpPr>
        <p:spPr>
          <a:xfrm xmlns:a="http://schemas.openxmlformats.org/drawingml/2006/main">
            <a:off x="8340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Débit et latence par source</a:t>
            </a:r>
          </a:p>
        </p:txBody>
      </p:sp>
      <p:sp>
        <p:nvSpPr>
          <p:cNvPr id="13" name="">
            <a:extLst xmlns:a="http://schemas.openxmlformats.org/drawingml/2006/main">
              <a:ext uri="{FF2B5EF4-FFF2-40B4-BE49-F238E27FC236}">
                <a16:creationId xmlns:a16="http://schemas.microsoft.com/office/drawing/2014/main" id="{DFA670E4-EC44-4576-A1EA-7C7204BC498C}"/>
              </a:ext>
            </a:extLst>
          </p:cNvPr>
          <p:cNvSpPr>
            <a:spLocks xmlns:a="http://schemas.openxmlformats.org/drawingml/2006/main" noGrp="1"/>
          </p:cNvSpPr>
          <p:nvPr/>
        </p:nvSpPr>
        <p:spPr>
          <a:xfrm xmlns:a="http://schemas.openxmlformats.org/drawingml/2006/main">
            <a:off x="1381125" y="5381625"/>
            <a:ext cx="942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EEF6FF"/>
                </a:solidFill>
                <a:latin typeface="Arial"/>
                <a:ea typeface="Arial"/>
                <a:cs typeface="Arial"/>
              </a:defRPr>
            </a:pPr>
            <a:r>
              <a:rPr sz="1800" b="1">
                <a:solidFill>
                  <a:srgbClr val="EEF6FF"/>
                </a:solidFill>
                <a:latin typeface="Arial"/>
                <a:ea typeface="Arial"/>
                <a:cs typeface="Arial"/>
              </a:rPr>
              <a:t>Les tableaux de bord lisent des résultats déjà calculés</a:t>
            </a:r>
          </a:p>
        </p:txBody>
      </p:sp>
    </p:spTree>
    <p:extLst>
      <p:ext uri="{BB962C8B-B14F-4D97-AF65-F5344CB8AC3E}">
        <p14:creationId xmlns:p14="http://schemas.microsoft.com/office/powerpoint/2010/main" val="487693528"/>
      </p:ext>
    </p:extLst>
  </p:cSld>
</p:sld>
</file>

<file path=ppt/slides/slide15.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C895722-3CD5-4964-89A7-409C8B26DA01}"/>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Dashboard Grafana</a:t>
            </a:r>
          </a:p>
        </p:txBody>
      </p:sp>
      <p:sp>
        <p:nvSpPr>
          <p:cNvPr id="2" name="">
            <a:extLst xmlns:a="http://schemas.openxmlformats.org/drawingml/2006/main">
              <a:ext uri="{FF2B5EF4-FFF2-40B4-BE49-F238E27FC236}">
                <a16:creationId xmlns:a16="http://schemas.microsoft.com/office/drawing/2014/main" id="{2BCFA7D6-62B8-42FB-8B36-429421C6BF19}"/>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F394EEB4-266B-4049-AC17-1F981234582F}"/>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9C3FC03-7A2B-4BBD-A2E3-932853176F10}"/>
              </a:ext>
            </a:extLst>
          </p:cNvPr>
          <p:cNvSpPr>
            <a:spLocks xmlns:a="http://schemas.openxmlformats.org/drawingml/2006/main" noGrp="1"/>
          </p:cNvSpPr>
          <p:nvPr/>
        </p:nvSpPr>
        <p:spPr>
          <a:xfrm xmlns:a="http://schemas.openxmlformats.org/drawingml/2006/main">
            <a:off x="762000" y="15240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FFB454"/>
                </a:solidFill>
                <a:latin typeface="Arial"/>
                <a:ea typeface="Arial"/>
                <a:cs typeface="Arial"/>
              </a:defRPr>
            </a:pPr>
            <a:r>
              <a:rPr sz="1425" b="1">
                <a:solidFill>
                  <a:srgbClr val="FFB454"/>
                </a:solidFill>
                <a:latin typeface="Arial"/>
                <a:ea typeface="Arial"/>
                <a:cs typeface="Arial"/>
              </a:rPr>
              <a:t>CONTENU</a:t>
            </a:r>
          </a:p>
        </p:txBody>
      </p:sp>
      <p:sp>
        <p:nvSpPr>
          <p:cNvPr id="5" name="">
            <a:extLst xmlns:a="http://schemas.openxmlformats.org/drawingml/2006/main">
              <a:ext uri="{FF2B5EF4-FFF2-40B4-BE49-F238E27FC236}">
                <a16:creationId xmlns:a16="http://schemas.microsoft.com/office/drawing/2014/main" id="{6C37DC53-15E8-4233-AB4F-79D311EE4BFD}"/>
              </a:ext>
            </a:extLst>
          </p:cNvPr>
          <p:cNvSpPr>
            <a:spLocks xmlns:a="http://schemas.openxmlformats.org/drawingml/2006/main" noGrp="1"/>
          </p:cNvSpPr>
          <p:nvPr/>
        </p:nvSpPr>
        <p:spPr>
          <a:xfrm xmlns:a="http://schemas.openxmlformats.org/drawingml/2006/main">
            <a:off x="3429000" y="1695450"/>
            <a:ext cx="666750" cy="381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4577D82-B238-4FB5-9321-A8D64F1ED1A2}"/>
              </a:ext>
            </a:extLst>
          </p:cNvPr>
          <p:cNvSpPr>
            <a:spLocks xmlns:a="http://schemas.openxmlformats.org/drawingml/2006/main" noGrp="1"/>
          </p:cNvSpPr>
          <p:nvPr/>
        </p:nvSpPr>
        <p:spPr>
          <a:xfrm xmlns:a="http://schemas.openxmlformats.org/drawingml/2006/main">
            <a:off x="4381500" y="15049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Volume, sentiment et derniers articles</a:t>
            </a:r>
          </a:p>
        </p:txBody>
      </p:sp>
      <p:sp>
        <p:nvSpPr>
          <p:cNvPr id="7" name="">
            <a:extLst xmlns:a="http://schemas.openxmlformats.org/drawingml/2006/main">
              <a:ext uri="{FF2B5EF4-FFF2-40B4-BE49-F238E27FC236}">
                <a16:creationId xmlns:a16="http://schemas.microsoft.com/office/drawing/2014/main" id="{E9C356CF-AB64-40C5-A7E9-7CC777D7ED63}"/>
              </a:ext>
            </a:extLst>
          </p:cNvPr>
          <p:cNvSpPr>
            <a:spLocks xmlns:a="http://schemas.openxmlformats.org/drawingml/2006/main" noGrp="1"/>
          </p:cNvSpPr>
          <p:nvPr/>
        </p:nvSpPr>
        <p:spPr>
          <a:xfrm xmlns:a="http://schemas.openxmlformats.org/drawingml/2006/main">
            <a:off x="762000" y="23336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ED3C6"/>
                </a:solidFill>
                <a:latin typeface="Arial"/>
                <a:ea typeface="Arial"/>
                <a:cs typeface="Arial"/>
              </a:defRPr>
            </a:pPr>
            <a:r>
              <a:rPr sz="1425" b="1">
                <a:solidFill>
                  <a:srgbClr val="2ED3C6"/>
                </a:solidFill>
                <a:latin typeface="Arial"/>
                <a:ea typeface="Arial"/>
                <a:cs typeface="Arial"/>
              </a:rPr>
              <a:t>TEMPS</a:t>
            </a:r>
          </a:p>
        </p:txBody>
      </p:sp>
      <p:sp>
        <p:nvSpPr>
          <p:cNvPr id="8" name="">
            <a:extLst xmlns:a="http://schemas.openxmlformats.org/drawingml/2006/main">
              <a:ext uri="{FF2B5EF4-FFF2-40B4-BE49-F238E27FC236}">
                <a16:creationId xmlns:a16="http://schemas.microsoft.com/office/drawing/2014/main" id="{F9EA6E18-BDB7-4044-BC5E-46A0C7FACBEF}"/>
              </a:ext>
            </a:extLst>
          </p:cNvPr>
          <p:cNvSpPr>
            <a:spLocks xmlns:a="http://schemas.openxmlformats.org/drawingml/2006/main" noGrp="1"/>
          </p:cNvSpPr>
          <p:nvPr/>
        </p:nvSpPr>
        <p:spPr>
          <a:xfrm xmlns:a="http://schemas.openxmlformats.org/drawingml/2006/main">
            <a:off x="3429000" y="2505075"/>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947782E-A701-4DF2-904C-4E10B949DBDD}"/>
              </a:ext>
            </a:extLst>
          </p:cNvPr>
          <p:cNvSpPr>
            <a:spLocks xmlns:a="http://schemas.openxmlformats.org/drawingml/2006/main" noGrp="1"/>
          </p:cNvSpPr>
          <p:nvPr/>
        </p:nvSpPr>
        <p:spPr>
          <a:xfrm xmlns:a="http://schemas.openxmlformats.org/drawingml/2006/main">
            <a:off x="4381500" y="231457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Filtre temporel et rafraîchissement 30 s</a:t>
            </a:r>
          </a:p>
        </p:txBody>
      </p:sp>
      <p:sp>
        <p:nvSpPr>
          <p:cNvPr id="10" name="">
            <a:extLst xmlns:a="http://schemas.openxmlformats.org/drawingml/2006/main">
              <a:ext uri="{FF2B5EF4-FFF2-40B4-BE49-F238E27FC236}">
                <a16:creationId xmlns:a16="http://schemas.microsoft.com/office/drawing/2014/main" id="{E57EA270-3FF1-49B8-AEBF-08CC40D3AAC6}"/>
              </a:ext>
            </a:extLst>
          </p:cNvPr>
          <p:cNvSpPr>
            <a:spLocks xmlns:a="http://schemas.openxmlformats.org/drawingml/2006/main" noGrp="1"/>
          </p:cNvSpPr>
          <p:nvPr/>
        </p:nvSpPr>
        <p:spPr>
          <a:xfrm xmlns:a="http://schemas.openxmlformats.org/drawingml/2006/main">
            <a:off x="762000" y="31432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438BFF"/>
                </a:solidFill>
                <a:latin typeface="Arial"/>
                <a:ea typeface="Arial"/>
                <a:cs typeface="Arial"/>
              </a:defRPr>
            </a:pPr>
            <a:r>
              <a:rPr sz="1425" b="1">
                <a:solidFill>
                  <a:srgbClr val="438BFF"/>
                </a:solidFill>
                <a:latin typeface="Arial"/>
                <a:ea typeface="Arial"/>
                <a:cs typeface="Arial"/>
              </a:rPr>
              <a:t>PIPELINE</a:t>
            </a:r>
          </a:p>
        </p:txBody>
      </p:sp>
      <p:sp>
        <p:nvSpPr>
          <p:cNvPr id="11" name="">
            <a:extLst xmlns:a="http://schemas.openxmlformats.org/drawingml/2006/main">
              <a:ext uri="{FF2B5EF4-FFF2-40B4-BE49-F238E27FC236}">
                <a16:creationId xmlns:a16="http://schemas.microsoft.com/office/drawing/2014/main" id="{1EE0FF2D-E520-485E-A3AA-2E0915E40C13}"/>
              </a:ext>
            </a:extLst>
          </p:cNvPr>
          <p:cNvSpPr>
            <a:spLocks xmlns:a="http://schemas.openxmlformats.org/drawingml/2006/main" noGrp="1"/>
          </p:cNvSpPr>
          <p:nvPr/>
        </p:nvSpPr>
        <p:spPr>
          <a:xfrm xmlns:a="http://schemas.openxmlformats.org/drawingml/2006/main">
            <a:off x="3429000" y="3314700"/>
            <a:ext cx="666750" cy="381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AB1B240-A542-4127-8B3E-45B241875794}"/>
              </a:ext>
            </a:extLst>
          </p:cNvPr>
          <p:cNvSpPr>
            <a:spLocks xmlns:a="http://schemas.openxmlformats.org/drawingml/2006/main" noGrp="1"/>
          </p:cNvSpPr>
          <p:nvPr/>
        </p:nvSpPr>
        <p:spPr>
          <a:xfrm xmlns:a="http://schemas.openxmlformats.org/drawingml/2006/main">
            <a:off x="4381500" y="31242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Throughput et latence par source</a:t>
            </a:r>
          </a:p>
        </p:txBody>
      </p:sp>
      <p:sp>
        <p:nvSpPr>
          <p:cNvPr id="13" name="">
            <a:extLst xmlns:a="http://schemas.openxmlformats.org/drawingml/2006/main">
              <a:ext uri="{FF2B5EF4-FFF2-40B4-BE49-F238E27FC236}">
                <a16:creationId xmlns:a16="http://schemas.microsoft.com/office/drawing/2014/main" id="{CCD8E5BC-681C-4712-851D-3FEC3B995946}"/>
              </a:ext>
            </a:extLst>
          </p:cNvPr>
          <p:cNvSpPr>
            <a:spLocks xmlns:a="http://schemas.openxmlformats.org/drawingml/2006/main" noGrp="1"/>
          </p:cNvSpPr>
          <p:nvPr/>
        </p:nvSpPr>
        <p:spPr>
          <a:xfrm xmlns:a="http://schemas.openxmlformats.org/drawingml/2006/main">
            <a:off x="1524000" y="4953000"/>
            <a:ext cx="914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EEF6FF"/>
                </a:solidFill>
                <a:latin typeface="Arial"/>
                <a:ea typeface="Arial"/>
                <a:cs typeface="Arial"/>
              </a:defRPr>
            </a:pPr>
            <a:r>
              <a:rPr sz="1950" b="1">
                <a:solidFill>
                  <a:srgbClr val="EEF6FF"/>
                </a:solidFill>
                <a:latin typeface="Arial"/>
                <a:ea typeface="Arial"/>
                <a:cs typeface="Arial"/>
              </a:rPr>
              <a:t>Le dashboard et la datasource sont versionnés dans Git</a:t>
            </a:r>
          </a:p>
        </p:txBody>
      </p:sp>
    </p:spTree>
    <p:extLst>
      <p:ext uri="{BB962C8B-B14F-4D97-AF65-F5344CB8AC3E}">
        <p14:creationId xmlns:p14="http://schemas.microsoft.com/office/powerpoint/2010/main" val="422948478"/>
      </p:ext>
    </p:extLst>
  </p:cSld>
</p:sld>
</file>

<file path=ppt/slides/slide16.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E90D704-8293-4859-8A80-DCFFCB3F75C4}"/>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Parcours de bout en bout</a:t>
            </a:r>
          </a:p>
        </p:txBody>
      </p:sp>
      <p:sp>
        <p:nvSpPr>
          <p:cNvPr id="2" name="">
            <a:extLst xmlns:a="http://schemas.openxmlformats.org/drawingml/2006/main">
              <a:ext uri="{FF2B5EF4-FFF2-40B4-BE49-F238E27FC236}">
                <a16:creationId xmlns:a16="http://schemas.microsoft.com/office/drawing/2014/main" id="{0DF17E76-CB6F-4B82-8E44-3388C17766A0}"/>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1C08F5C0-38FB-481A-9023-7DB213A223DA}"/>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63122B9-688F-4057-ABF7-5333B7C4FC03}"/>
              </a:ext>
            </a:extLst>
          </p:cNvPr>
          <p:cNvSpPr>
            <a:spLocks xmlns:a="http://schemas.openxmlformats.org/drawingml/2006/main" noGrp="1"/>
          </p:cNvSpPr>
          <p:nvPr/>
        </p:nvSpPr>
        <p:spPr>
          <a:xfrm xmlns:a="http://schemas.openxmlformats.org/drawingml/2006/main">
            <a:off x="619125" y="1762125"/>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2ED3C6"/>
                </a:solidFill>
                <a:latin typeface="Arial"/>
                <a:ea typeface="Arial"/>
                <a:cs typeface="Arial"/>
              </a:defRPr>
            </a:pPr>
            <a:r>
              <a:rPr sz="1875" b="1">
                <a:solidFill>
                  <a:srgbClr val="2ED3C6"/>
                </a:solidFill>
                <a:latin typeface="Arial"/>
                <a:ea typeface="Arial"/>
                <a:cs typeface="Arial"/>
              </a:rPr>
              <a:t>T0</a:t>
            </a:r>
          </a:p>
        </p:txBody>
      </p:sp>
      <p:sp>
        <p:nvSpPr>
          <p:cNvPr id="5" name="">
            <a:extLst xmlns:a="http://schemas.openxmlformats.org/drawingml/2006/main">
              <a:ext uri="{FF2B5EF4-FFF2-40B4-BE49-F238E27FC236}">
                <a16:creationId xmlns:a16="http://schemas.microsoft.com/office/drawing/2014/main" id="{72FA8613-83E7-4DC0-8C57-80E20C6BB5F3}"/>
              </a:ext>
            </a:extLst>
          </p:cNvPr>
          <p:cNvSpPr>
            <a:spLocks xmlns:a="http://schemas.openxmlformats.org/drawingml/2006/main" noGrp="1"/>
          </p:cNvSpPr>
          <p:nvPr/>
        </p:nvSpPr>
        <p:spPr>
          <a:xfrm xmlns:a="http://schemas.openxmlformats.org/drawingml/2006/main">
            <a:off x="619125" y="2381250"/>
            <a:ext cx="18097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EDC3AF1-6715-4CEA-BA1E-58829FBC892F}"/>
              </a:ext>
            </a:extLst>
          </p:cNvPr>
          <p:cNvSpPr>
            <a:spLocks xmlns:a="http://schemas.openxmlformats.org/drawingml/2006/main" noGrp="1"/>
          </p:cNvSpPr>
          <p:nvPr/>
        </p:nvSpPr>
        <p:spPr>
          <a:xfrm xmlns:a="http://schemas.openxmlformats.org/drawingml/2006/main">
            <a:off x="762000" y="2571750"/>
            <a:ext cx="152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EEF6FF"/>
                </a:solidFill>
                <a:latin typeface="Arial"/>
                <a:ea typeface="Arial"/>
                <a:cs typeface="Arial"/>
              </a:defRPr>
            </a:pPr>
            <a:r>
              <a:rPr sz="1650" b="1">
                <a:solidFill>
                  <a:srgbClr val="EEF6FF"/>
                </a:solidFill>
                <a:latin typeface="Arial"/>
                <a:ea typeface="Arial"/>
                <a:cs typeface="Arial"/>
              </a:rPr>
              <a:t>Publié</a:t>
            </a:r>
          </a:p>
        </p:txBody>
      </p:sp>
      <p:sp>
        <p:nvSpPr>
          <p:cNvPr id="7" name="">
            <a:extLst xmlns:a="http://schemas.openxmlformats.org/drawingml/2006/main">
              <a:ext uri="{FF2B5EF4-FFF2-40B4-BE49-F238E27FC236}">
                <a16:creationId xmlns:a16="http://schemas.microsoft.com/office/drawing/2014/main" id="{E66568E9-20E3-4376-8E42-0E7F4EB16C89}"/>
              </a:ext>
            </a:extLst>
          </p:cNvPr>
          <p:cNvSpPr>
            <a:spLocks xmlns:a="http://schemas.openxmlformats.org/drawingml/2006/main" noGrp="1"/>
          </p:cNvSpPr>
          <p:nvPr/>
        </p:nvSpPr>
        <p:spPr>
          <a:xfrm xmlns:a="http://schemas.openxmlformats.org/drawingml/2006/main">
            <a:off x="2428875" y="2571750"/>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B2B6EBFF-CB33-4C52-8668-CE333E6A710E}"/>
              </a:ext>
            </a:extLst>
          </p:cNvPr>
          <p:cNvSpPr>
            <a:spLocks xmlns:a="http://schemas.openxmlformats.org/drawingml/2006/main" noGrp="1"/>
          </p:cNvSpPr>
          <p:nvPr/>
        </p:nvSpPr>
        <p:spPr>
          <a:xfrm xmlns:a="http://schemas.openxmlformats.org/drawingml/2006/main">
            <a:off x="2905125" y="1762125"/>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FB454"/>
                </a:solidFill>
                <a:latin typeface="Arial"/>
                <a:ea typeface="Arial"/>
                <a:cs typeface="Arial"/>
              </a:defRPr>
            </a:pPr>
            <a:r>
              <a:rPr sz="1875" b="1">
                <a:solidFill>
                  <a:srgbClr val="FFB454"/>
                </a:solidFill>
                <a:latin typeface="Arial"/>
                <a:ea typeface="Arial"/>
                <a:cs typeface="Arial"/>
              </a:rPr>
              <a:t>T1</a:t>
            </a:r>
          </a:p>
        </p:txBody>
      </p:sp>
      <p:sp>
        <p:nvSpPr>
          <p:cNvPr id="9" name="">
            <a:extLst xmlns:a="http://schemas.openxmlformats.org/drawingml/2006/main">
              <a:ext uri="{FF2B5EF4-FFF2-40B4-BE49-F238E27FC236}">
                <a16:creationId xmlns:a16="http://schemas.microsoft.com/office/drawing/2014/main" id="{92FEE830-26EA-4941-AEDC-32E87F5533A0}"/>
              </a:ext>
            </a:extLst>
          </p:cNvPr>
          <p:cNvSpPr>
            <a:spLocks xmlns:a="http://schemas.openxmlformats.org/drawingml/2006/main" noGrp="1"/>
          </p:cNvSpPr>
          <p:nvPr/>
        </p:nvSpPr>
        <p:spPr>
          <a:xfrm xmlns:a="http://schemas.openxmlformats.org/drawingml/2006/main">
            <a:off x="2905125" y="2381250"/>
            <a:ext cx="18097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5912CCA-F506-47D6-8BF8-BD6AF3C28F34}"/>
              </a:ext>
            </a:extLst>
          </p:cNvPr>
          <p:cNvSpPr>
            <a:spLocks xmlns:a="http://schemas.openxmlformats.org/drawingml/2006/main" noGrp="1"/>
          </p:cNvSpPr>
          <p:nvPr/>
        </p:nvSpPr>
        <p:spPr>
          <a:xfrm xmlns:a="http://schemas.openxmlformats.org/drawingml/2006/main">
            <a:off x="3048000" y="2571750"/>
            <a:ext cx="152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EEF6FF"/>
                </a:solidFill>
                <a:latin typeface="Arial"/>
                <a:ea typeface="Arial"/>
                <a:cs typeface="Arial"/>
              </a:defRPr>
            </a:pPr>
            <a:r>
              <a:rPr sz="1650" b="1">
                <a:solidFill>
                  <a:srgbClr val="EEF6FF"/>
                </a:solidFill>
                <a:latin typeface="Arial"/>
                <a:ea typeface="Arial"/>
                <a:cs typeface="Arial"/>
              </a:rPr>
              <a:t>Collecté</a:t>
            </a:r>
          </a:p>
        </p:txBody>
      </p:sp>
      <p:sp>
        <p:nvSpPr>
          <p:cNvPr id="11" name="">
            <a:extLst xmlns:a="http://schemas.openxmlformats.org/drawingml/2006/main">
              <a:ext uri="{FF2B5EF4-FFF2-40B4-BE49-F238E27FC236}">
                <a16:creationId xmlns:a16="http://schemas.microsoft.com/office/drawing/2014/main" id="{2CE14E3E-0C79-4849-8296-B77E6E1FE47E}"/>
              </a:ext>
            </a:extLst>
          </p:cNvPr>
          <p:cNvSpPr>
            <a:spLocks xmlns:a="http://schemas.openxmlformats.org/drawingml/2006/main" noGrp="1"/>
          </p:cNvSpPr>
          <p:nvPr/>
        </p:nvSpPr>
        <p:spPr>
          <a:xfrm xmlns:a="http://schemas.openxmlformats.org/drawingml/2006/main">
            <a:off x="4714875" y="2571750"/>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CC761873-EBE3-414F-8682-C8BDDA3FC3C9}"/>
              </a:ext>
            </a:extLst>
          </p:cNvPr>
          <p:cNvSpPr>
            <a:spLocks xmlns:a="http://schemas.openxmlformats.org/drawingml/2006/main" noGrp="1"/>
          </p:cNvSpPr>
          <p:nvPr/>
        </p:nvSpPr>
        <p:spPr>
          <a:xfrm xmlns:a="http://schemas.openxmlformats.org/drawingml/2006/main">
            <a:off x="5191125" y="1762125"/>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2ED3C6"/>
                </a:solidFill>
                <a:latin typeface="Arial"/>
                <a:ea typeface="Arial"/>
                <a:cs typeface="Arial"/>
              </a:defRPr>
            </a:pPr>
            <a:r>
              <a:rPr sz="1875" b="1">
                <a:solidFill>
                  <a:srgbClr val="2ED3C6"/>
                </a:solidFill>
                <a:latin typeface="Arial"/>
                <a:ea typeface="Arial"/>
                <a:cs typeface="Arial"/>
              </a:rPr>
              <a:t>T2</a:t>
            </a:r>
          </a:p>
        </p:txBody>
      </p:sp>
      <p:sp>
        <p:nvSpPr>
          <p:cNvPr id="13" name="">
            <a:extLst xmlns:a="http://schemas.openxmlformats.org/drawingml/2006/main">
              <a:ext uri="{FF2B5EF4-FFF2-40B4-BE49-F238E27FC236}">
                <a16:creationId xmlns:a16="http://schemas.microsoft.com/office/drawing/2014/main" id="{DC8CE234-3953-4F42-86F2-C2E5B24E4A31}"/>
              </a:ext>
            </a:extLst>
          </p:cNvPr>
          <p:cNvSpPr>
            <a:spLocks xmlns:a="http://schemas.openxmlformats.org/drawingml/2006/main" noGrp="1"/>
          </p:cNvSpPr>
          <p:nvPr/>
        </p:nvSpPr>
        <p:spPr>
          <a:xfrm xmlns:a="http://schemas.openxmlformats.org/drawingml/2006/main">
            <a:off x="5191125" y="2381250"/>
            <a:ext cx="18097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BFEA300-2DBA-4B19-84B7-2BE62566A3FF}"/>
              </a:ext>
            </a:extLst>
          </p:cNvPr>
          <p:cNvSpPr>
            <a:spLocks xmlns:a="http://schemas.openxmlformats.org/drawingml/2006/main" noGrp="1"/>
          </p:cNvSpPr>
          <p:nvPr/>
        </p:nvSpPr>
        <p:spPr>
          <a:xfrm xmlns:a="http://schemas.openxmlformats.org/drawingml/2006/main">
            <a:off x="5334000" y="2571750"/>
            <a:ext cx="152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EEF6FF"/>
                </a:solidFill>
                <a:latin typeface="Arial"/>
                <a:ea typeface="Arial"/>
                <a:cs typeface="Arial"/>
              </a:defRPr>
            </a:pPr>
            <a:r>
              <a:rPr sz="1650" b="1">
                <a:solidFill>
                  <a:srgbClr val="EEF6FF"/>
                </a:solidFill>
                <a:latin typeface="Arial"/>
                <a:ea typeface="Arial"/>
                <a:cs typeface="Arial"/>
              </a:rPr>
              <a:t>Enrichi</a:t>
            </a:r>
          </a:p>
        </p:txBody>
      </p:sp>
      <p:sp>
        <p:nvSpPr>
          <p:cNvPr id="15" name="">
            <a:extLst xmlns:a="http://schemas.openxmlformats.org/drawingml/2006/main">
              <a:ext uri="{FF2B5EF4-FFF2-40B4-BE49-F238E27FC236}">
                <a16:creationId xmlns:a16="http://schemas.microsoft.com/office/drawing/2014/main" id="{7C803EAC-1259-4E97-83AF-87C407B1B791}"/>
              </a:ext>
            </a:extLst>
          </p:cNvPr>
          <p:cNvSpPr>
            <a:spLocks xmlns:a="http://schemas.openxmlformats.org/drawingml/2006/main" noGrp="1"/>
          </p:cNvSpPr>
          <p:nvPr/>
        </p:nvSpPr>
        <p:spPr>
          <a:xfrm xmlns:a="http://schemas.openxmlformats.org/drawingml/2006/main">
            <a:off x="7000875" y="2571750"/>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9688932D-0D83-4951-B71D-78AFF46684FC}"/>
              </a:ext>
            </a:extLst>
          </p:cNvPr>
          <p:cNvSpPr>
            <a:spLocks xmlns:a="http://schemas.openxmlformats.org/drawingml/2006/main" noGrp="1"/>
          </p:cNvSpPr>
          <p:nvPr/>
        </p:nvSpPr>
        <p:spPr>
          <a:xfrm xmlns:a="http://schemas.openxmlformats.org/drawingml/2006/main">
            <a:off x="7477125" y="1762125"/>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FB454"/>
                </a:solidFill>
                <a:latin typeface="Arial"/>
                <a:ea typeface="Arial"/>
                <a:cs typeface="Arial"/>
              </a:defRPr>
            </a:pPr>
            <a:r>
              <a:rPr sz="1875" b="1">
                <a:solidFill>
                  <a:srgbClr val="FFB454"/>
                </a:solidFill>
                <a:latin typeface="Arial"/>
                <a:ea typeface="Arial"/>
                <a:cs typeface="Arial"/>
              </a:rPr>
              <a:t>T3</a:t>
            </a:r>
          </a:p>
        </p:txBody>
      </p:sp>
      <p:sp>
        <p:nvSpPr>
          <p:cNvPr id="17" name="">
            <a:extLst xmlns:a="http://schemas.openxmlformats.org/drawingml/2006/main">
              <a:ext uri="{FF2B5EF4-FFF2-40B4-BE49-F238E27FC236}">
                <a16:creationId xmlns:a16="http://schemas.microsoft.com/office/drawing/2014/main" id="{BEE317E3-593A-48F5-A359-D3FBBEBED921}"/>
              </a:ext>
            </a:extLst>
          </p:cNvPr>
          <p:cNvSpPr>
            <a:spLocks xmlns:a="http://schemas.openxmlformats.org/drawingml/2006/main" noGrp="1"/>
          </p:cNvSpPr>
          <p:nvPr/>
        </p:nvSpPr>
        <p:spPr>
          <a:xfrm xmlns:a="http://schemas.openxmlformats.org/drawingml/2006/main">
            <a:off x="7477125" y="2381250"/>
            <a:ext cx="18097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65624F9-810E-4182-885E-C1997AB9A116}"/>
              </a:ext>
            </a:extLst>
          </p:cNvPr>
          <p:cNvSpPr>
            <a:spLocks xmlns:a="http://schemas.openxmlformats.org/drawingml/2006/main" noGrp="1"/>
          </p:cNvSpPr>
          <p:nvPr/>
        </p:nvSpPr>
        <p:spPr>
          <a:xfrm xmlns:a="http://schemas.openxmlformats.org/drawingml/2006/main">
            <a:off x="7620000" y="2571750"/>
            <a:ext cx="152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EEF6FF"/>
                </a:solidFill>
                <a:latin typeface="Arial"/>
                <a:ea typeface="Arial"/>
                <a:cs typeface="Arial"/>
              </a:defRPr>
            </a:pPr>
            <a:r>
              <a:rPr sz="1650" b="1">
                <a:solidFill>
                  <a:srgbClr val="EEF6FF"/>
                </a:solidFill>
                <a:latin typeface="Arial"/>
                <a:ea typeface="Arial"/>
                <a:cs typeface="Arial"/>
              </a:rPr>
              <a:t>Stocké</a:t>
            </a:r>
          </a:p>
        </p:txBody>
      </p:sp>
      <p:sp>
        <p:nvSpPr>
          <p:cNvPr id="19" name="">
            <a:extLst xmlns:a="http://schemas.openxmlformats.org/drawingml/2006/main">
              <a:ext uri="{FF2B5EF4-FFF2-40B4-BE49-F238E27FC236}">
                <a16:creationId xmlns:a16="http://schemas.microsoft.com/office/drawing/2014/main" id="{27003B54-C7F8-4D31-B64F-82E01B00CA88}"/>
              </a:ext>
            </a:extLst>
          </p:cNvPr>
          <p:cNvSpPr>
            <a:spLocks xmlns:a="http://schemas.openxmlformats.org/drawingml/2006/main" noGrp="1"/>
          </p:cNvSpPr>
          <p:nvPr/>
        </p:nvSpPr>
        <p:spPr>
          <a:xfrm xmlns:a="http://schemas.openxmlformats.org/drawingml/2006/main">
            <a:off x="9286875" y="2571750"/>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2F142F0F-2D66-4662-BACB-8C245C06CDDA}"/>
              </a:ext>
            </a:extLst>
          </p:cNvPr>
          <p:cNvSpPr>
            <a:spLocks xmlns:a="http://schemas.openxmlformats.org/drawingml/2006/main" noGrp="1"/>
          </p:cNvSpPr>
          <p:nvPr/>
        </p:nvSpPr>
        <p:spPr>
          <a:xfrm xmlns:a="http://schemas.openxmlformats.org/drawingml/2006/main">
            <a:off x="9763125" y="1762125"/>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2ED3C6"/>
                </a:solidFill>
                <a:latin typeface="Arial"/>
                <a:ea typeface="Arial"/>
                <a:cs typeface="Arial"/>
              </a:defRPr>
            </a:pPr>
            <a:r>
              <a:rPr sz="1875" b="1">
                <a:solidFill>
                  <a:srgbClr val="2ED3C6"/>
                </a:solidFill>
                <a:latin typeface="Arial"/>
                <a:ea typeface="Arial"/>
                <a:cs typeface="Arial"/>
              </a:rPr>
              <a:t>T4</a:t>
            </a:r>
          </a:p>
        </p:txBody>
      </p:sp>
      <p:sp>
        <p:nvSpPr>
          <p:cNvPr id="21" name="">
            <a:extLst xmlns:a="http://schemas.openxmlformats.org/drawingml/2006/main">
              <a:ext uri="{FF2B5EF4-FFF2-40B4-BE49-F238E27FC236}">
                <a16:creationId xmlns:a16="http://schemas.microsoft.com/office/drawing/2014/main" id="{921BFE5B-4570-48C4-8319-B4E52D6C07D5}"/>
              </a:ext>
            </a:extLst>
          </p:cNvPr>
          <p:cNvSpPr>
            <a:spLocks xmlns:a="http://schemas.openxmlformats.org/drawingml/2006/main" noGrp="1"/>
          </p:cNvSpPr>
          <p:nvPr/>
        </p:nvSpPr>
        <p:spPr>
          <a:xfrm xmlns:a="http://schemas.openxmlformats.org/drawingml/2006/main">
            <a:off x="9763125" y="2381250"/>
            <a:ext cx="18097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DC3BAAD-064F-48CD-AF87-44B08700C024}"/>
              </a:ext>
            </a:extLst>
          </p:cNvPr>
          <p:cNvSpPr>
            <a:spLocks xmlns:a="http://schemas.openxmlformats.org/drawingml/2006/main" noGrp="1"/>
          </p:cNvSpPr>
          <p:nvPr/>
        </p:nvSpPr>
        <p:spPr>
          <a:xfrm xmlns:a="http://schemas.openxmlformats.org/drawingml/2006/main">
            <a:off x="9906000" y="2571750"/>
            <a:ext cx="152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EEF6FF"/>
                </a:solidFill>
                <a:latin typeface="Arial"/>
                <a:ea typeface="Arial"/>
                <a:cs typeface="Arial"/>
              </a:defRPr>
            </a:pPr>
            <a:r>
              <a:rPr sz="1650" b="1">
                <a:solidFill>
                  <a:srgbClr val="EEF6FF"/>
                </a:solidFill>
                <a:latin typeface="Arial"/>
                <a:ea typeface="Arial"/>
                <a:cs typeface="Arial"/>
              </a:rPr>
              <a:t>Visible</a:t>
            </a:r>
          </a:p>
        </p:txBody>
      </p:sp>
      <p:sp>
        <p:nvSpPr>
          <p:cNvPr id="23" name="">
            <a:extLst xmlns:a="http://schemas.openxmlformats.org/drawingml/2006/main">
              <a:ext uri="{FF2B5EF4-FFF2-40B4-BE49-F238E27FC236}">
                <a16:creationId xmlns:a16="http://schemas.microsoft.com/office/drawing/2014/main" id="{1CDF53B1-7D58-43D3-8FD3-FABC50B307EA}"/>
              </a:ext>
            </a:extLst>
          </p:cNvPr>
          <p:cNvSpPr>
            <a:spLocks xmlns:a="http://schemas.openxmlformats.org/drawingml/2006/main" noGrp="1"/>
          </p:cNvSpPr>
          <p:nvPr/>
        </p:nvSpPr>
        <p:spPr>
          <a:xfrm xmlns:a="http://schemas.openxmlformats.org/drawingml/2006/main">
            <a:off x="1714500" y="4238625"/>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438BFF"/>
                </a:solidFill>
                <a:latin typeface="Arial"/>
                <a:ea typeface="Arial"/>
                <a:cs typeface="Arial"/>
              </a:defRPr>
            </a:pPr>
            <a:r>
              <a:rPr sz="2025" b="1">
                <a:solidFill>
                  <a:srgbClr val="438BFF"/>
                </a:solidFill>
                <a:latin typeface="Arial"/>
                <a:ea typeface="Arial"/>
                <a:cs typeface="Arial"/>
              </a:rPr>
              <a:t>Latence mesurée : collected_at → écriture Storage</a:t>
            </a:r>
          </a:p>
        </p:txBody>
      </p:sp>
      <p:sp>
        <p:nvSpPr>
          <p:cNvPr id="24" name="">
            <a:extLst xmlns:a="http://schemas.openxmlformats.org/drawingml/2006/main">
              <a:ext uri="{FF2B5EF4-FFF2-40B4-BE49-F238E27FC236}">
                <a16:creationId xmlns:a16="http://schemas.microsoft.com/office/drawing/2014/main" id="{1597821A-D3F8-45B5-8337-56B882335F7A}"/>
              </a:ext>
            </a:extLst>
          </p:cNvPr>
          <p:cNvSpPr>
            <a:spLocks xmlns:a="http://schemas.openxmlformats.org/drawingml/2006/main" noGrp="1"/>
          </p:cNvSpPr>
          <p:nvPr/>
        </p:nvSpPr>
        <p:spPr>
          <a:xfrm xmlns:a="http://schemas.openxmlformats.org/drawingml/2006/main">
            <a:off x="1809750" y="490537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9CB1C5"/>
                </a:solidFill>
                <a:latin typeface="Arial"/>
                <a:ea typeface="Arial"/>
                <a:cs typeface="Arial"/>
              </a:defRPr>
            </a:pPr>
            <a:r>
              <a:rPr sz="1575" b="1">
                <a:solidFill>
                  <a:srgbClr val="9CB1C5"/>
                </a:solidFill>
                <a:latin typeface="Arial"/>
                <a:ea typeface="Arial"/>
                <a:cs typeface="Arial"/>
              </a:rPr>
              <a:t>Le délai de publication chez l’éditeur reste hors mesure</a:t>
            </a:r>
          </a:p>
        </p:txBody>
      </p:sp>
    </p:spTree>
    <p:extLst>
      <p:ext uri="{BB962C8B-B14F-4D97-AF65-F5344CB8AC3E}">
        <p14:creationId xmlns:p14="http://schemas.microsoft.com/office/powerpoint/2010/main" val="230391954"/>
      </p:ext>
    </p:extLst>
  </p:cSld>
</p:sld>
</file>

<file path=ppt/slides/slide17.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9E4553B-862B-4F23-AAE5-473300712A20}"/>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Sémantique de livraison</a:t>
            </a:r>
          </a:p>
        </p:txBody>
      </p:sp>
      <p:sp>
        <p:nvSpPr>
          <p:cNvPr id="2" name="">
            <a:extLst xmlns:a="http://schemas.openxmlformats.org/drawingml/2006/main">
              <a:ext uri="{FF2B5EF4-FFF2-40B4-BE49-F238E27FC236}">
                <a16:creationId xmlns:a16="http://schemas.microsoft.com/office/drawing/2014/main" id="{7EB403EF-A723-4D25-A571-EC36EEEB9DA5}"/>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63E449F2-25F5-4375-B58D-E708A02E28DB}"/>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CD6B48A-8EA4-46A3-BF9C-A9C9C94C86FB}"/>
              </a:ext>
            </a:extLst>
          </p:cNvPr>
          <p:cNvSpPr>
            <a:spLocks xmlns:a="http://schemas.openxmlformats.org/drawingml/2006/main" noGrp="1"/>
          </p:cNvSpPr>
          <p:nvPr/>
        </p:nvSpPr>
        <p:spPr>
          <a:xfrm xmlns:a="http://schemas.openxmlformats.org/drawingml/2006/main">
            <a:off x="609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ED3C6"/>
                </a:solidFill>
                <a:latin typeface="Arial"/>
                <a:ea typeface="Arial"/>
                <a:cs typeface="Arial"/>
              </a:defRPr>
            </a:pPr>
            <a:r>
              <a:rPr sz="1125" b="1">
                <a:solidFill>
                  <a:srgbClr val="2ED3C6"/>
                </a:solidFill>
                <a:latin typeface="Arial"/>
                <a:ea typeface="Arial"/>
                <a:cs typeface="Arial"/>
              </a:rPr>
              <a:t>SUCCÈS</a:t>
            </a:r>
          </a:p>
        </p:txBody>
      </p:sp>
      <p:sp>
        <p:nvSpPr>
          <p:cNvPr id="5" name="">
            <a:extLst xmlns:a="http://schemas.openxmlformats.org/drawingml/2006/main">
              <a:ext uri="{FF2B5EF4-FFF2-40B4-BE49-F238E27FC236}">
                <a16:creationId xmlns:a16="http://schemas.microsoft.com/office/drawing/2014/main" id="{513D4FAE-43A0-4EEA-90AA-1636F9C8989A}"/>
              </a:ext>
            </a:extLst>
          </p:cNvPr>
          <p:cNvSpPr>
            <a:spLocks xmlns:a="http://schemas.openxmlformats.org/drawingml/2006/main" noGrp="1"/>
          </p:cNvSpPr>
          <p:nvPr/>
        </p:nvSpPr>
        <p:spPr>
          <a:xfrm xmlns:a="http://schemas.openxmlformats.org/drawingml/2006/main">
            <a:off x="609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B16328D-C38C-4A39-9DE6-DBCA0C5304B5}"/>
              </a:ext>
            </a:extLst>
          </p:cNvPr>
          <p:cNvSpPr>
            <a:spLocks xmlns:a="http://schemas.openxmlformats.org/drawingml/2006/main" noGrp="1"/>
          </p:cNvSpPr>
          <p:nvPr/>
        </p:nvSpPr>
        <p:spPr>
          <a:xfrm xmlns:a="http://schemas.openxmlformats.org/drawingml/2006/main">
            <a:off x="847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Traitement terminé</a:t>
            </a:r>
          </a:p>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ACK envoyé</a:t>
            </a:r>
          </a:p>
        </p:txBody>
      </p:sp>
      <p:sp>
        <p:nvSpPr>
          <p:cNvPr id="7" name="">
            <a:extLst xmlns:a="http://schemas.openxmlformats.org/drawingml/2006/main">
              <a:ext uri="{FF2B5EF4-FFF2-40B4-BE49-F238E27FC236}">
                <a16:creationId xmlns:a16="http://schemas.microsoft.com/office/drawing/2014/main" id="{65A31C45-DD97-43D1-BD25-F4F5277EDC4D}"/>
              </a:ext>
            </a:extLst>
          </p:cNvPr>
          <p:cNvSpPr>
            <a:spLocks xmlns:a="http://schemas.openxmlformats.org/drawingml/2006/main" noGrp="1"/>
          </p:cNvSpPr>
          <p:nvPr/>
        </p:nvSpPr>
        <p:spPr>
          <a:xfrm xmlns:a="http://schemas.openxmlformats.org/drawingml/2006/main">
            <a:off x="43561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FFB454"/>
                </a:solidFill>
                <a:latin typeface="Arial"/>
                <a:ea typeface="Arial"/>
                <a:cs typeface="Arial"/>
              </a:defRPr>
            </a:pPr>
            <a:r>
              <a:rPr sz="1125" b="1">
                <a:solidFill>
                  <a:srgbClr val="FFB454"/>
                </a:solidFill>
                <a:latin typeface="Arial"/>
                <a:ea typeface="Arial"/>
                <a:cs typeface="Arial"/>
              </a:rPr>
              <a:t>ERREUR TRANSITOIRE</a:t>
            </a:r>
          </a:p>
        </p:txBody>
      </p:sp>
      <p:sp>
        <p:nvSpPr>
          <p:cNvPr id="8" name="">
            <a:extLst xmlns:a="http://schemas.openxmlformats.org/drawingml/2006/main">
              <a:ext uri="{FF2B5EF4-FFF2-40B4-BE49-F238E27FC236}">
                <a16:creationId xmlns:a16="http://schemas.microsoft.com/office/drawing/2014/main" id="{6F172718-8EEC-4F4F-A0D3-3537A20F815C}"/>
              </a:ext>
            </a:extLst>
          </p:cNvPr>
          <p:cNvSpPr>
            <a:spLocks xmlns:a="http://schemas.openxmlformats.org/drawingml/2006/main" noGrp="1"/>
          </p:cNvSpPr>
          <p:nvPr/>
        </p:nvSpPr>
        <p:spPr>
          <a:xfrm xmlns:a="http://schemas.openxmlformats.org/drawingml/2006/main">
            <a:off x="43561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78D4BA3-A213-43C9-AB6D-35915D3779F8}"/>
              </a:ext>
            </a:extLst>
          </p:cNvPr>
          <p:cNvSpPr>
            <a:spLocks xmlns:a="http://schemas.openxmlformats.org/drawingml/2006/main" noGrp="1"/>
          </p:cNvSpPr>
          <p:nvPr/>
        </p:nvSpPr>
        <p:spPr>
          <a:xfrm xmlns:a="http://schemas.openxmlformats.org/drawingml/2006/main">
            <a:off x="45942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NACK avec requeue</a:t>
            </a:r>
          </a:p>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Nouvelle tentative</a:t>
            </a:r>
          </a:p>
        </p:txBody>
      </p:sp>
      <p:sp>
        <p:nvSpPr>
          <p:cNvPr id="10" name="">
            <a:extLst xmlns:a="http://schemas.openxmlformats.org/drawingml/2006/main">
              <a:ext uri="{FF2B5EF4-FFF2-40B4-BE49-F238E27FC236}">
                <a16:creationId xmlns:a16="http://schemas.microsoft.com/office/drawing/2014/main" id="{8307F438-8743-4B1C-9D1A-9197885CE32E}"/>
              </a:ext>
            </a:extLst>
          </p:cNvPr>
          <p:cNvSpPr>
            <a:spLocks xmlns:a="http://schemas.openxmlformats.org/drawingml/2006/main" noGrp="1"/>
          </p:cNvSpPr>
          <p:nvPr/>
        </p:nvSpPr>
        <p:spPr>
          <a:xfrm xmlns:a="http://schemas.openxmlformats.org/drawingml/2006/main">
            <a:off x="8102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FF6B75"/>
                </a:solidFill>
                <a:latin typeface="Arial"/>
                <a:ea typeface="Arial"/>
                <a:cs typeface="Arial"/>
              </a:defRPr>
            </a:pPr>
            <a:r>
              <a:rPr sz="1125" b="1">
                <a:solidFill>
                  <a:srgbClr val="FF6B75"/>
                </a:solidFill>
                <a:latin typeface="Arial"/>
                <a:ea typeface="Arial"/>
                <a:cs typeface="Arial"/>
              </a:rPr>
              <a:t>MESSAGE INVALIDE</a:t>
            </a:r>
          </a:p>
        </p:txBody>
      </p:sp>
      <p:sp>
        <p:nvSpPr>
          <p:cNvPr id="11" name="">
            <a:extLst xmlns:a="http://schemas.openxmlformats.org/drawingml/2006/main">
              <a:ext uri="{FF2B5EF4-FFF2-40B4-BE49-F238E27FC236}">
                <a16:creationId xmlns:a16="http://schemas.microsoft.com/office/drawing/2014/main" id="{DD5E615F-8278-4BCF-ABA8-EC92D807F77D}"/>
              </a:ext>
            </a:extLst>
          </p:cNvPr>
          <p:cNvSpPr>
            <a:spLocks xmlns:a="http://schemas.openxmlformats.org/drawingml/2006/main" noGrp="1"/>
          </p:cNvSpPr>
          <p:nvPr/>
        </p:nvSpPr>
        <p:spPr>
          <a:xfrm xmlns:a="http://schemas.openxmlformats.org/drawingml/2006/main">
            <a:off x="8102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6F9D41D-537A-467B-A9C0-2DA7ACEF7DDB}"/>
              </a:ext>
            </a:extLst>
          </p:cNvPr>
          <p:cNvSpPr>
            <a:spLocks xmlns:a="http://schemas.openxmlformats.org/drawingml/2006/main" noGrp="1"/>
          </p:cNvSpPr>
          <p:nvPr/>
        </p:nvSpPr>
        <p:spPr>
          <a:xfrm xmlns:a="http://schemas.openxmlformats.org/drawingml/2006/main">
            <a:off x="8340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Reject sans requeue</a:t>
            </a:r>
          </a:p>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Envoi vers la DLQ</a:t>
            </a:r>
          </a:p>
        </p:txBody>
      </p:sp>
      <p:sp>
        <p:nvSpPr>
          <p:cNvPr id="13" name="">
            <a:extLst xmlns:a="http://schemas.openxmlformats.org/drawingml/2006/main">
              <a:ext uri="{FF2B5EF4-FFF2-40B4-BE49-F238E27FC236}">
                <a16:creationId xmlns:a16="http://schemas.microsoft.com/office/drawing/2014/main" id="{A7A94E33-B3A4-4F83-823B-E8D0443DADB5}"/>
              </a:ext>
            </a:extLst>
          </p:cNvPr>
          <p:cNvSpPr>
            <a:spLocks xmlns:a="http://schemas.openxmlformats.org/drawingml/2006/main" noGrp="1"/>
          </p:cNvSpPr>
          <p:nvPr/>
        </p:nvSpPr>
        <p:spPr>
          <a:xfrm xmlns:a="http://schemas.openxmlformats.org/drawingml/2006/main">
            <a:off x="1952625" y="5334000"/>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EEF6FF"/>
                </a:solidFill>
                <a:latin typeface="Arial"/>
                <a:ea typeface="Arial"/>
                <a:cs typeface="Arial"/>
              </a:defRPr>
            </a:pPr>
            <a:r>
              <a:rPr sz="2100" b="1">
                <a:solidFill>
                  <a:srgbClr val="EEF6FF"/>
                </a:solidFill>
                <a:latin typeface="Arial"/>
                <a:ea typeface="Arial"/>
                <a:cs typeface="Arial"/>
              </a:rPr>
              <a:t>Garantie visée : au moins une livraison</a:t>
            </a:r>
          </a:p>
        </p:txBody>
      </p:sp>
    </p:spTree>
    <p:extLst>
      <p:ext uri="{BB962C8B-B14F-4D97-AF65-F5344CB8AC3E}">
        <p14:creationId xmlns:p14="http://schemas.microsoft.com/office/powerpoint/2010/main" val="1392211405"/>
      </p:ext>
    </p:extLst>
  </p:cSld>
</p:sld>
</file>

<file path=ppt/slides/slide18.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EB6A267-8F6C-45C5-A304-B17124337E3C}"/>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Idempotence après un crash</a:t>
            </a:r>
          </a:p>
        </p:txBody>
      </p:sp>
      <p:sp>
        <p:nvSpPr>
          <p:cNvPr id="2" name="">
            <a:extLst xmlns:a="http://schemas.openxmlformats.org/drawingml/2006/main">
              <a:ext uri="{FF2B5EF4-FFF2-40B4-BE49-F238E27FC236}">
                <a16:creationId xmlns:a16="http://schemas.microsoft.com/office/drawing/2014/main" id="{BBD6DD9D-E581-456C-8533-A2DB9A352A28}"/>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A3719286-2F1E-402E-AE59-BFF21FA0B1ED}"/>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A8BECD4-ABB2-4A83-A931-3736FEF701E5}"/>
              </a:ext>
            </a:extLst>
          </p:cNvPr>
          <p:cNvSpPr>
            <a:spLocks xmlns:a="http://schemas.openxmlformats.org/drawingml/2006/main" noGrp="1"/>
          </p:cNvSpPr>
          <p:nvPr/>
        </p:nvSpPr>
        <p:spPr>
          <a:xfrm xmlns:a="http://schemas.openxmlformats.org/drawingml/2006/main">
            <a:off x="762000" y="15240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ED3C6"/>
                </a:solidFill>
                <a:latin typeface="Arial"/>
                <a:ea typeface="Arial"/>
                <a:cs typeface="Arial"/>
              </a:defRPr>
            </a:pPr>
            <a:r>
              <a:rPr sz="1425" b="1">
                <a:solidFill>
                  <a:srgbClr val="2ED3C6"/>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C4947CCD-43D9-410A-AA16-63B798029C60}"/>
              </a:ext>
            </a:extLst>
          </p:cNvPr>
          <p:cNvSpPr>
            <a:spLocks xmlns:a="http://schemas.openxmlformats.org/drawingml/2006/main" noGrp="1"/>
          </p:cNvSpPr>
          <p:nvPr/>
        </p:nvSpPr>
        <p:spPr>
          <a:xfrm xmlns:a="http://schemas.openxmlformats.org/drawingml/2006/main">
            <a:off x="3429000" y="1695450"/>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8F2BFD3-0D02-49B8-AE4E-119593C391B0}"/>
              </a:ext>
            </a:extLst>
          </p:cNvPr>
          <p:cNvSpPr>
            <a:spLocks xmlns:a="http://schemas.openxmlformats.org/drawingml/2006/main" noGrp="1"/>
          </p:cNvSpPr>
          <p:nvPr/>
        </p:nvSpPr>
        <p:spPr>
          <a:xfrm xmlns:a="http://schemas.openxmlformats.org/drawingml/2006/main">
            <a:off x="4381500" y="15049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Storage insère l’article et les agrégats</a:t>
            </a:r>
          </a:p>
        </p:txBody>
      </p:sp>
      <p:sp>
        <p:nvSpPr>
          <p:cNvPr id="7" name="">
            <a:extLst xmlns:a="http://schemas.openxmlformats.org/drawingml/2006/main">
              <a:ext uri="{FF2B5EF4-FFF2-40B4-BE49-F238E27FC236}">
                <a16:creationId xmlns:a16="http://schemas.microsoft.com/office/drawing/2014/main" id="{1EAD1E14-0817-42B9-8CAA-EA36BD6B7C42}"/>
              </a:ext>
            </a:extLst>
          </p:cNvPr>
          <p:cNvSpPr>
            <a:spLocks xmlns:a="http://schemas.openxmlformats.org/drawingml/2006/main" noGrp="1"/>
          </p:cNvSpPr>
          <p:nvPr/>
        </p:nvSpPr>
        <p:spPr>
          <a:xfrm xmlns:a="http://schemas.openxmlformats.org/drawingml/2006/main">
            <a:off x="762000" y="23336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FF6B75"/>
                </a:solidFill>
                <a:latin typeface="Arial"/>
                <a:ea typeface="Arial"/>
                <a:cs typeface="Arial"/>
              </a:defRPr>
            </a:pPr>
            <a:r>
              <a:rPr sz="1425" b="1">
                <a:solidFill>
                  <a:srgbClr val="FF6B75"/>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1750F74A-B1C8-465F-8750-A3C3B6344031}"/>
              </a:ext>
            </a:extLst>
          </p:cNvPr>
          <p:cNvSpPr>
            <a:spLocks xmlns:a="http://schemas.openxmlformats.org/drawingml/2006/main" noGrp="1"/>
          </p:cNvSpPr>
          <p:nvPr/>
        </p:nvSpPr>
        <p:spPr>
          <a:xfrm xmlns:a="http://schemas.openxmlformats.org/drawingml/2006/main">
            <a:off x="3429000" y="2505075"/>
            <a:ext cx="666750" cy="38100"/>
          </a:xfrm>
          <a:prstGeom xmlns:a="http://schemas.openxmlformats.org/drawingml/2006/main" prst="rect">
            <a:avLst/>
          </a:prstGeom>
          <a:solidFill xmlns:a="http://schemas.openxmlformats.org/drawingml/2006/main">
            <a:srgbClr val="FF6B7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6EF6C60-5F33-4554-973A-3463E7262790}"/>
              </a:ext>
            </a:extLst>
          </p:cNvPr>
          <p:cNvSpPr>
            <a:spLocks xmlns:a="http://schemas.openxmlformats.org/drawingml/2006/main" noGrp="1"/>
          </p:cNvSpPr>
          <p:nvPr/>
        </p:nvSpPr>
        <p:spPr>
          <a:xfrm xmlns:a="http://schemas.openxmlformats.org/drawingml/2006/main">
            <a:off x="4381500" y="231457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Le commit réussit, puis le worker tombe avant l’ACK</a:t>
            </a:r>
          </a:p>
        </p:txBody>
      </p:sp>
      <p:sp>
        <p:nvSpPr>
          <p:cNvPr id="10" name="">
            <a:extLst xmlns:a="http://schemas.openxmlformats.org/drawingml/2006/main">
              <a:ext uri="{FF2B5EF4-FFF2-40B4-BE49-F238E27FC236}">
                <a16:creationId xmlns:a16="http://schemas.microsoft.com/office/drawing/2014/main" id="{F0091974-2655-481E-8715-2E245E73B569}"/>
              </a:ext>
            </a:extLst>
          </p:cNvPr>
          <p:cNvSpPr>
            <a:spLocks xmlns:a="http://schemas.openxmlformats.org/drawingml/2006/main" noGrp="1"/>
          </p:cNvSpPr>
          <p:nvPr/>
        </p:nvSpPr>
        <p:spPr>
          <a:xfrm xmlns:a="http://schemas.openxmlformats.org/drawingml/2006/main">
            <a:off x="762000" y="31432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FFB454"/>
                </a:solidFill>
                <a:latin typeface="Arial"/>
                <a:ea typeface="Arial"/>
                <a:cs typeface="Arial"/>
              </a:defRPr>
            </a:pPr>
            <a:r>
              <a:rPr sz="1425" b="1">
                <a:solidFill>
                  <a:srgbClr val="FFB454"/>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DAA76141-535E-489D-82A2-C169ADE7D090}"/>
              </a:ext>
            </a:extLst>
          </p:cNvPr>
          <p:cNvSpPr>
            <a:spLocks xmlns:a="http://schemas.openxmlformats.org/drawingml/2006/main" noGrp="1"/>
          </p:cNvSpPr>
          <p:nvPr/>
        </p:nvSpPr>
        <p:spPr>
          <a:xfrm xmlns:a="http://schemas.openxmlformats.org/drawingml/2006/main">
            <a:off x="3429000" y="3314700"/>
            <a:ext cx="666750" cy="381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4D716F0-8330-41DB-AFF1-13883AECB782}"/>
              </a:ext>
            </a:extLst>
          </p:cNvPr>
          <p:cNvSpPr>
            <a:spLocks xmlns:a="http://schemas.openxmlformats.org/drawingml/2006/main" noGrp="1"/>
          </p:cNvSpPr>
          <p:nvPr/>
        </p:nvSpPr>
        <p:spPr>
          <a:xfrm xmlns:a="http://schemas.openxmlformats.org/drawingml/2006/main">
            <a:off x="4381500" y="31242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RabbitMQ redélivre le même article</a:t>
            </a:r>
          </a:p>
        </p:txBody>
      </p:sp>
      <p:sp>
        <p:nvSpPr>
          <p:cNvPr id="13" name="">
            <a:extLst xmlns:a="http://schemas.openxmlformats.org/drawingml/2006/main">
              <a:ext uri="{FF2B5EF4-FFF2-40B4-BE49-F238E27FC236}">
                <a16:creationId xmlns:a16="http://schemas.microsoft.com/office/drawing/2014/main" id="{3DA684C6-17BC-4A7B-B14B-7143AD9675AF}"/>
              </a:ext>
            </a:extLst>
          </p:cNvPr>
          <p:cNvSpPr>
            <a:spLocks xmlns:a="http://schemas.openxmlformats.org/drawingml/2006/main" noGrp="1"/>
          </p:cNvSpPr>
          <p:nvPr/>
        </p:nvSpPr>
        <p:spPr>
          <a:xfrm xmlns:a="http://schemas.openxmlformats.org/drawingml/2006/main">
            <a:off x="762000" y="395287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438BFF"/>
                </a:solidFill>
                <a:latin typeface="Arial"/>
                <a:ea typeface="Arial"/>
                <a:cs typeface="Arial"/>
              </a:defRPr>
            </a:pPr>
            <a:r>
              <a:rPr sz="1425" b="1">
                <a:solidFill>
                  <a:srgbClr val="438BFF"/>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60A9EF5A-607D-45FE-A2AF-FFC312772884}"/>
              </a:ext>
            </a:extLst>
          </p:cNvPr>
          <p:cNvSpPr>
            <a:spLocks xmlns:a="http://schemas.openxmlformats.org/drawingml/2006/main" noGrp="1"/>
          </p:cNvSpPr>
          <p:nvPr/>
        </p:nvSpPr>
        <p:spPr>
          <a:xfrm xmlns:a="http://schemas.openxmlformats.org/drawingml/2006/main">
            <a:off x="3429000" y="4124325"/>
            <a:ext cx="666750" cy="381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FE6407D-DC83-4256-9CFE-D4FE05EC949B}"/>
              </a:ext>
            </a:extLst>
          </p:cNvPr>
          <p:cNvSpPr>
            <a:spLocks xmlns:a="http://schemas.openxmlformats.org/drawingml/2006/main" noGrp="1"/>
          </p:cNvSpPr>
          <p:nvPr/>
        </p:nvSpPr>
        <p:spPr>
          <a:xfrm xmlns:a="http://schemas.openxmlformats.org/drawingml/2006/main">
            <a:off x="4381500" y="393382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1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La clé primaire bloque le doublon et aucun agrégat ne progresse</a:t>
            </a:r>
          </a:p>
        </p:txBody>
      </p:sp>
      <p:sp>
        <p:nvSpPr>
          <p:cNvPr id="16" name="">
            <a:extLst xmlns:a="http://schemas.openxmlformats.org/drawingml/2006/main">
              <a:ext uri="{FF2B5EF4-FFF2-40B4-BE49-F238E27FC236}">
                <a16:creationId xmlns:a16="http://schemas.microsoft.com/office/drawing/2014/main" id="{A1802C10-289A-4157-A156-E82791BE73DE}"/>
              </a:ext>
            </a:extLst>
          </p:cNvPr>
          <p:cNvSpPr>
            <a:spLocks xmlns:a="http://schemas.openxmlformats.org/drawingml/2006/main" noGrp="1"/>
          </p:cNvSpPr>
          <p:nvPr/>
        </p:nvSpPr>
        <p:spPr>
          <a:xfrm xmlns:a="http://schemas.openxmlformats.org/drawingml/2006/main">
            <a:off x="2000250" y="5286375"/>
            <a:ext cx="819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EEF6FF"/>
                </a:solidFill>
                <a:latin typeface="Arial"/>
                <a:ea typeface="Arial"/>
                <a:cs typeface="Arial"/>
              </a:defRPr>
            </a:pPr>
            <a:r>
              <a:rPr sz="2025" b="1">
                <a:solidFill>
                  <a:srgbClr val="EEF6FF"/>
                </a:solidFill>
                <a:latin typeface="Arial"/>
                <a:ea typeface="Arial"/>
                <a:cs typeface="Arial"/>
              </a:rPr>
              <a:t>Même événement rejoué, même état final</a:t>
            </a:r>
          </a:p>
        </p:txBody>
      </p:sp>
    </p:spTree>
    <p:extLst>
      <p:ext uri="{BB962C8B-B14F-4D97-AF65-F5344CB8AC3E}">
        <p14:creationId xmlns:p14="http://schemas.microsoft.com/office/powerpoint/2010/main" val="706032362"/>
      </p:ext>
    </p:extLst>
  </p:cSld>
</p:sld>
</file>

<file path=ppt/slides/slide19.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75BF048-3FBF-456A-AFE5-6A4627F50DB6}"/>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Dead-letter queues</a:t>
            </a:r>
          </a:p>
        </p:txBody>
      </p:sp>
      <p:sp>
        <p:nvSpPr>
          <p:cNvPr id="2" name="">
            <a:extLst xmlns:a="http://schemas.openxmlformats.org/drawingml/2006/main">
              <a:ext uri="{FF2B5EF4-FFF2-40B4-BE49-F238E27FC236}">
                <a16:creationId xmlns:a16="http://schemas.microsoft.com/office/drawing/2014/main" id="{2AFF62C7-60E2-42F1-8CA1-DC4FA6FEB379}"/>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EEBF12AB-E3ED-4B91-967A-B873ACC2E224}"/>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36013D2-0E8A-447C-A391-14733FE0D648}"/>
              </a:ext>
            </a:extLst>
          </p:cNvPr>
          <p:cNvSpPr>
            <a:spLocks xmlns:a="http://schemas.openxmlformats.org/drawingml/2006/main" noGrp="1"/>
          </p:cNvSpPr>
          <p:nvPr/>
        </p:nvSpPr>
        <p:spPr>
          <a:xfrm xmlns:a="http://schemas.openxmlformats.org/drawingml/2006/main">
            <a:off x="714375" y="1905000"/>
            <a:ext cx="24765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4C1E3D0-7932-4850-84F5-39B56C48C344}"/>
              </a:ext>
            </a:extLst>
          </p:cNvPr>
          <p:cNvSpPr>
            <a:spLocks xmlns:a="http://schemas.openxmlformats.org/drawingml/2006/main" noGrp="1"/>
          </p:cNvSpPr>
          <p:nvPr/>
        </p:nvSpPr>
        <p:spPr>
          <a:xfrm xmlns:a="http://schemas.openxmlformats.org/drawingml/2006/main">
            <a:off x="714375" y="1905000"/>
            <a:ext cx="66675" cy="9525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879B25B-AEA0-4CE5-A047-9550F6322779}"/>
              </a:ext>
            </a:extLst>
          </p:cNvPr>
          <p:cNvSpPr>
            <a:spLocks xmlns:a="http://schemas.openxmlformats.org/drawingml/2006/main" noGrp="1"/>
          </p:cNvSpPr>
          <p:nvPr/>
        </p:nvSpPr>
        <p:spPr>
          <a:xfrm xmlns:a="http://schemas.openxmlformats.org/drawingml/2006/main">
            <a:off x="904875" y="20193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raw_news</a:t>
            </a:r>
          </a:p>
        </p:txBody>
      </p:sp>
      <p:sp>
        <p:nvSpPr>
          <p:cNvPr id="7" name="">
            <a:extLst xmlns:a="http://schemas.openxmlformats.org/drawingml/2006/main">
              <a:ext uri="{FF2B5EF4-FFF2-40B4-BE49-F238E27FC236}">
                <a16:creationId xmlns:a16="http://schemas.microsoft.com/office/drawing/2014/main" id="{FD6EF266-913C-4B35-9868-8A2D07BA4E26}"/>
              </a:ext>
            </a:extLst>
          </p:cNvPr>
          <p:cNvSpPr>
            <a:spLocks xmlns:a="http://schemas.openxmlformats.org/drawingml/2006/main" noGrp="1"/>
          </p:cNvSpPr>
          <p:nvPr/>
        </p:nvSpPr>
        <p:spPr>
          <a:xfrm xmlns:a="http://schemas.openxmlformats.org/drawingml/2006/main">
            <a:off x="904875" y="2400300"/>
            <a:ext cx="217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message invalide</a:t>
            </a:r>
          </a:p>
        </p:txBody>
      </p:sp>
      <p:sp>
        <p:nvSpPr>
          <p:cNvPr id="8" name="">
            <a:extLst xmlns:a="http://schemas.openxmlformats.org/drawingml/2006/main">
              <a:ext uri="{FF2B5EF4-FFF2-40B4-BE49-F238E27FC236}">
                <a16:creationId xmlns:a16="http://schemas.microsoft.com/office/drawing/2014/main" id="{9403AAF5-3D9A-4528-8E7C-031556CDA303}"/>
              </a:ext>
            </a:extLst>
          </p:cNvPr>
          <p:cNvSpPr>
            <a:spLocks xmlns:a="http://schemas.openxmlformats.org/drawingml/2006/main" noGrp="1"/>
          </p:cNvSpPr>
          <p:nvPr/>
        </p:nvSpPr>
        <p:spPr>
          <a:xfrm xmlns:a="http://schemas.openxmlformats.org/drawingml/2006/main">
            <a:off x="3429000" y="20955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A4894A72-659F-4E44-BC8B-96964F0C3D11}"/>
              </a:ext>
            </a:extLst>
          </p:cNvPr>
          <p:cNvSpPr>
            <a:spLocks xmlns:a="http://schemas.openxmlformats.org/drawingml/2006/main" noGrp="1"/>
          </p:cNvSpPr>
          <p:nvPr/>
        </p:nvSpPr>
        <p:spPr>
          <a:xfrm xmlns:a="http://schemas.openxmlformats.org/drawingml/2006/main">
            <a:off x="4381500" y="1905000"/>
            <a:ext cx="28575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1C41AE4-23E9-4BCD-A004-8247FD8ADE74}"/>
              </a:ext>
            </a:extLst>
          </p:cNvPr>
          <p:cNvSpPr>
            <a:spLocks xmlns:a="http://schemas.openxmlformats.org/drawingml/2006/main" noGrp="1"/>
          </p:cNvSpPr>
          <p:nvPr/>
        </p:nvSpPr>
        <p:spPr>
          <a:xfrm xmlns:a="http://schemas.openxmlformats.org/drawingml/2006/main">
            <a:off x="4381500" y="1905000"/>
            <a:ext cx="66675" cy="952500"/>
          </a:xfrm>
          <a:prstGeom xmlns:a="http://schemas.openxmlformats.org/drawingml/2006/main" prst="rect">
            <a:avLst/>
          </a:prstGeom>
          <a:solidFill xmlns:a="http://schemas.openxmlformats.org/drawingml/2006/main">
            <a:srgbClr val="FF6B7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944586E-CC17-47A0-B8FF-1739A723F422}"/>
              </a:ext>
            </a:extLst>
          </p:cNvPr>
          <p:cNvSpPr>
            <a:spLocks xmlns:a="http://schemas.openxmlformats.org/drawingml/2006/main" noGrp="1"/>
          </p:cNvSpPr>
          <p:nvPr/>
        </p:nvSpPr>
        <p:spPr>
          <a:xfrm xmlns:a="http://schemas.openxmlformats.org/drawingml/2006/main">
            <a:off x="4572000" y="2019300"/>
            <a:ext cx="2552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dead_letter</a:t>
            </a:r>
          </a:p>
        </p:txBody>
      </p:sp>
      <p:sp>
        <p:nvSpPr>
          <p:cNvPr id="12" name="">
            <a:extLst xmlns:a="http://schemas.openxmlformats.org/drawingml/2006/main">
              <a:ext uri="{FF2B5EF4-FFF2-40B4-BE49-F238E27FC236}">
                <a16:creationId xmlns:a16="http://schemas.microsoft.com/office/drawing/2014/main" id="{ADC7D550-CF6E-49E9-AEC9-9D94C713D991}"/>
              </a:ext>
            </a:extLst>
          </p:cNvPr>
          <p:cNvSpPr>
            <a:spLocks xmlns:a="http://schemas.openxmlformats.org/drawingml/2006/main" noGrp="1"/>
          </p:cNvSpPr>
          <p:nvPr/>
        </p:nvSpPr>
        <p:spPr>
          <a:xfrm xmlns:a="http://schemas.openxmlformats.org/drawingml/2006/main">
            <a:off x="4572000" y="2400300"/>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exchange direct</a:t>
            </a:r>
          </a:p>
        </p:txBody>
      </p:sp>
      <p:sp>
        <p:nvSpPr>
          <p:cNvPr id="13" name="">
            <a:extLst xmlns:a="http://schemas.openxmlformats.org/drawingml/2006/main">
              <a:ext uri="{FF2B5EF4-FFF2-40B4-BE49-F238E27FC236}">
                <a16:creationId xmlns:a16="http://schemas.microsoft.com/office/drawing/2014/main" id="{6934F63A-442C-42AA-A15C-932213FFF641}"/>
              </a:ext>
            </a:extLst>
          </p:cNvPr>
          <p:cNvSpPr>
            <a:spLocks xmlns:a="http://schemas.openxmlformats.org/drawingml/2006/main" noGrp="1"/>
          </p:cNvSpPr>
          <p:nvPr/>
        </p:nvSpPr>
        <p:spPr>
          <a:xfrm xmlns:a="http://schemas.openxmlformats.org/drawingml/2006/main">
            <a:off x="7477125" y="20955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4180A862-5B11-44C3-A848-B669EA50CC39}"/>
              </a:ext>
            </a:extLst>
          </p:cNvPr>
          <p:cNvSpPr>
            <a:spLocks xmlns:a="http://schemas.openxmlformats.org/drawingml/2006/main" noGrp="1"/>
          </p:cNvSpPr>
          <p:nvPr/>
        </p:nvSpPr>
        <p:spPr>
          <a:xfrm xmlns:a="http://schemas.openxmlformats.org/drawingml/2006/main">
            <a:off x="8429625" y="1905000"/>
            <a:ext cx="28575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F542121-1C2E-402C-9B76-44836C4F2C34}"/>
              </a:ext>
            </a:extLst>
          </p:cNvPr>
          <p:cNvSpPr>
            <a:spLocks xmlns:a="http://schemas.openxmlformats.org/drawingml/2006/main" noGrp="1"/>
          </p:cNvSpPr>
          <p:nvPr/>
        </p:nvSpPr>
        <p:spPr>
          <a:xfrm xmlns:a="http://schemas.openxmlformats.org/drawingml/2006/main">
            <a:off x="8429625" y="1905000"/>
            <a:ext cx="66675" cy="9525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D06A35C-F973-4F35-8DFC-4E106DA1B36B}"/>
              </a:ext>
            </a:extLst>
          </p:cNvPr>
          <p:cNvSpPr>
            <a:spLocks xmlns:a="http://schemas.openxmlformats.org/drawingml/2006/main" noGrp="1"/>
          </p:cNvSpPr>
          <p:nvPr/>
        </p:nvSpPr>
        <p:spPr>
          <a:xfrm xmlns:a="http://schemas.openxmlformats.org/drawingml/2006/main">
            <a:off x="8620125" y="2019300"/>
            <a:ext cx="2552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raw_news.dlq</a:t>
            </a:r>
          </a:p>
        </p:txBody>
      </p:sp>
      <p:sp>
        <p:nvSpPr>
          <p:cNvPr id="17" name="">
            <a:extLst xmlns:a="http://schemas.openxmlformats.org/drawingml/2006/main">
              <a:ext uri="{FF2B5EF4-FFF2-40B4-BE49-F238E27FC236}">
                <a16:creationId xmlns:a16="http://schemas.microsoft.com/office/drawing/2014/main" id="{67953380-9677-46E0-A64A-021701DAEFB4}"/>
              </a:ext>
            </a:extLst>
          </p:cNvPr>
          <p:cNvSpPr>
            <a:spLocks xmlns:a="http://schemas.openxmlformats.org/drawingml/2006/main" noGrp="1"/>
          </p:cNvSpPr>
          <p:nvPr/>
        </p:nvSpPr>
        <p:spPr>
          <a:xfrm xmlns:a="http://schemas.openxmlformats.org/drawingml/2006/main">
            <a:off x="8620125" y="2400300"/>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inspection et replay</a:t>
            </a:r>
          </a:p>
        </p:txBody>
      </p:sp>
      <p:sp>
        <p:nvSpPr>
          <p:cNvPr id="18" name="">
            <a:extLst xmlns:a="http://schemas.openxmlformats.org/drawingml/2006/main">
              <a:ext uri="{FF2B5EF4-FFF2-40B4-BE49-F238E27FC236}">
                <a16:creationId xmlns:a16="http://schemas.microsoft.com/office/drawing/2014/main" id="{3222AA8F-91B6-401E-8F50-C920DB17BBF6}"/>
              </a:ext>
            </a:extLst>
          </p:cNvPr>
          <p:cNvSpPr>
            <a:spLocks xmlns:a="http://schemas.openxmlformats.org/drawingml/2006/main" noGrp="1"/>
          </p:cNvSpPr>
          <p:nvPr/>
        </p:nvSpPr>
        <p:spPr>
          <a:xfrm xmlns:a="http://schemas.openxmlformats.org/drawingml/2006/main">
            <a:off x="1809750" y="3714750"/>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EEF6FF"/>
                </a:solidFill>
                <a:latin typeface="Arial"/>
                <a:ea typeface="Arial"/>
                <a:cs typeface="Arial"/>
              </a:defRPr>
            </a:pPr>
            <a:r>
              <a:rPr sz="2025" b="1">
                <a:solidFill>
                  <a:srgbClr val="EEF6FF"/>
                </a:solidFill>
                <a:latin typeface="Arial"/>
                <a:ea typeface="Arial"/>
                <a:cs typeface="Arial"/>
              </a:rPr>
              <a:t>Le même mécanisme protège enriched_news.dlq</a:t>
            </a:r>
          </a:p>
        </p:txBody>
      </p:sp>
      <p:sp>
        <p:nvSpPr>
          <p:cNvPr id="19" name="">
            <a:extLst xmlns:a="http://schemas.openxmlformats.org/drawingml/2006/main">
              <a:ext uri="{FF2B5EF4-FFF2-40B4-BE49-F238E27FC236}">
                <a16:creationId xmlns:a16="http://schemas.microsoft.com/office/drawing/2014/main" id="{69ABEB52-5D90-4EE8-9BAE-7B29CD6B8E4C}"/>
              </a:ext>
            </a:extLst>
          </p:cNvPr>
          <p:cNvSpPr>
            <a:spLocks xmlns:a="http://schemas.openxmlformats.org/drawingml/2006/main" noGrp="1"/>
          </p:cNvSpPr>
          <p:nvPr/>
        </p:nvSpPr>
        <p:spPr>
          <a:xfrm xmlns:a="http://schemas.openxmlformats.org/drawingml/2006/main">
            <a:off x="762000" y="452437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ED3C6"/>
                </a:solidFill>
                <a:latin typeface="Arial"/>
                <a:ea typeface="Arial"/>
                <a:cs typeface="Arial"/>
              </a:defRPr>
            </a:pPr>
            <a:r>
              <a:rPr sz="1425" b="1">
                <a:solidFill>
                  <a:srgbClr val="2ED3C6"/>
                </a:solidFill>
                <a:latin typeface="Arial"/>
                <a:ea typeface="Arial"/>
                <a:cs typeface="Arial"/>
              </a:rPr>
              <a:t>DIAGNOSTIC</a:t>
            </a:r>
          </a:p>
        </p:txBody>
      </p:sp>
      <p:sp>
        <p:nvSpPr>
          <p:cNvPr id="20" name="">
            <a:extLst xmlns:a="http://schemas.openxmlformats.org/drawingml/2006/main">
              <a:ext uri="{FF2B5EF4-FFF2-40B4-BE49-F238E27FC236}">
                <a16:creationId xmlns:a16="http://schemas.microsoft.com/office/drawing/2014/main" id="{B2F56270-84E1-4A97-A0A5-6FA62164525E}"/>
              </a:ext>
            </a:extLst>
          </p:cNvPr>
          <p:cNvSpPr>
            <a:spLocks xmlns:a="http://schemas.openxmlformats.org/drawingml/2006/main" noGrp="1"/>
          </p:cNvSpPr>
          <p:nvPr/>
        </p:nvSpPr>
        <p:spPr>
          <a:xfrm xmlns:a="http://schemas.openxmlformats.org/drawingml/2006/main">
            <a:off x="3429000" y="4695825"/>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47F077B-54D5-4912-A6F4-FC19D3830CFE}"/>
              </a:ext>
            </a:extLst>
          </p:cNvPr>
          <p:cNvSpPr>
            <a:spLocks xmlns:a="http://schemas.openxmlformats.org/drawingml/2006/main" noGrp="1"/>
          </p:cNvSpPr>
          <p:nvPr/>
        </p:nvSpPr>
        <p:spPr>
          <a:xfrm xmlns:a="http://schemas.openxmlformats.org/drawingml/2006/main">
            <a:off x="4381500" y="450532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Le payload fautif reste disponible</a:t>
            </a:r>
          </a:p>
        </p:txBody>
      </p:sp>
      <p:sp>
        <p:nvSpPr>
          <p:cNvPr id="22" name="">
            <a:extLst xmlns:a="http://schemas.openxmlformats.org/drawingml/2006/main">
              <a:ext uri="{FF2B5EF4-FFF2-40B4-BE49-F238E27FC236}">
                <a16:creationId xmlns:a16="http://schemas.microsoft.com/office/drawing/2014/main" id="{860CA027-8F7F-48D2-9B91-ECD1F6DC5086}"/>
              </a:ext>
            </a:extLst>
          </p:cNvPr>
          <p:cNvSpPr>
            <a:spLocks xmlns:a="http://schemas.openxmlformats.org/drawingml/2006/main" noGrp="1"/>
          </p:cNvSpPr>
          <p:nvPr/>
        </p:nvSpPr>
        <p:spPr>
          <a:xfrm xmlns:a="http://schemas.openxmlformats.org/drawingml/2006/main">
            <a:off x="762000" y="53340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438BFF"/>
                </a:solidFill>
                <a:latin typeface="Arial"/>
                <a:ea typeface="Arial"/>
                <a:cs typeface="Arial"/>
              </a:defRPr>
            </a:pPr>
            <a:r>
              <a:rPr sz="1425" b="1">
                <a:solidFill>
                  <a:srgbClr val="438BFF"/>
                </a:solidFill>
                <a:latin typeface="Arial"/>
                <a:ea typeface="Arial"/>
                <a:cs typeface="Arial"/>
              </a:rPr>
              <a:t>CONTRÔLE</a:t>
            </a:r>
          </a:p>
        </p:txBody>
      </p:sp>
      <p:sp>
        <p:nvSpPr>
          <p:cNvPr id="23" name="">
            <a:extLst xmlns:a="http://schemas.openxmlformats.org/drawingml/2006/main">
              <a:ext uri="{FF2B5EF4-FFF2-40B4-BE49-F238E27FC236}">
                <a16:creationId xmlns:a16="http://schemas.microsoft.com/office/drawing/2014/main" id="{0057D1DD-BEC4-4CC9-9EBA-71CC77617028}"/>
              </a:ext>
            </a:extLst>
          </p:cNvPr>
          <p:cNvSpPr>
            <a:spLocks xmlns:a="http://schemas.openxmlformats.org/drawingml/2006/main" noGrp="1"/>
          </p:cNvSpPr>
          <p:nvPr/>
        </p:nvSpPr>
        <p:spPr>
          <a:xfrm xmlns:a="http://schemas.openxmlformats.org/drawingml/2006/main">
            <a:off x="3429000" y="5505450"/>
            <a:ext cx="666750" cy="381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18E7BC7-575E-4311-B1B1-2FF055D715A3}"/>
              </a:ext>
            </a:extLst>
          </p:cNvPr>
          <p:cNvSpPr>
            <a:spLocks xmlns:a="http://schemas.openxmlformats.org/drawingml/2006/main" noGrp="1"/>
          </p:cNvSpPr>
          <p:nvPr/>
        </p:nvSpPr>
        <p:spPr>
          <a:xfrm xmlns:a="http://schemas.openxmlformats.org/drawingml/2006/main">
            <a:off x="4381500" y="53149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Le rejeu devient une action explicite</a:t>
            </a:r>
          </a:p>
        </p:txBody>
      </p:sp>
    </p:spTree>
    <p:extLst>
      <p:ext uri="{BB962C8B-B14F-4D97-AF65-F5344CB8AC3E}">
        <p14:creationId xmlns:p14="http://schemas.microsoft.com/office/powerpoint/2010/main" val="2105457162"/>
      </p:ext>
    </p:extLst>
  </p:cSld>
</p:sld>
</file>

<file path=ppt/slides/slide20.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B53A283-2A99-4326-A680-A6BC0577CA03}"/>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Scaling horizontal d’Analytics</a:t>
            </a:r>
          </a:p>
        </p:txBody>
      </p:sp>
      <p:sp>
        <p:nvSpPr>
          <p:cNvPr id="2" name="">
            <a:extLst xmlns:a="http://schemas.openxmlformats.org/drawingml/2006/main">
              <a:ext uri="{FF2B5EF4-FFF2-40B4-BE49-F238E27FC236}">
                <a16:creationId xmlns:a16="http://schemas.microsoft.com/office/drawing/2014/main" id="{D390993D-2D39-4C30-B085-E8A12C285B8C}"/>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59F91F6C-6910-4060-9143-532D1DE50381}"/>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B61CF8-19AB-43BB-88A0-3FE69E4E86B8}"/>
              </a:ext>
            </a:extLst>
          </p:cNvPr>
          <p:cNvSpPr>
            <a:spLocks xmlns:a="http://schemas.openxmlformats.org/drawingml/2006/main" noGrp="1"/>
          </p:cNvSpPr>
          <p:nvPr/>
        </p:nvSpPr>
        <p:spPr>
          <a:xfrm xmlns:a="http://schemas.openxmlformats.org/drawingml/2006/main">
            <a:off x="714375" y="2381250"/>
            <a:ext cx="2238375"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725099-3B79-48D7-BC93-BE2F04042408}"/>
              </a:ext>
            </a:extLst>
          </p:cNvPr>
          <p:cNvSpPr>
            <a:spLocks xmlns:a="http://schemas.openxmlformats.org/drawingml/2006/main" noGrp="1"/>
          </p:cNvSpPr>
          <p:nvPr/>
        </p:nvSpPr>
        <p:spPr>
          <a:xfrm xmlns:a="http://schemas.openxmlformats.org/drawingml/2006/main">
            <a:off x="714375" y="2381250"/>
            <a:ext cx="66675" cy="9525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17E03D8-B43C-4849-9006-5CFB901B9805}"/>
              </a:ext>
            </a:extLst>
          </p:cNvPr>
          <p:cNvSpPr>
            <a:spLocks xmlns:a="http://schemas.openxmlformats.org/drawingml/2006/main" noGrp="1"/>
          </p:cNvSpPr>
          <p:nvPr/>
        </p:nvSpPr>
        <p:spPr>
          <a:xfrm xmlns:a="http://schemas.openxmlformats.org/drawingml/2006/main">
            <a:off x="904875" y="2495550"/>
            <a:ext cx="1933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raw_news</a:t>
            </a:r>
          </a:p>
        </p:txBody>
      </p:sp>
      <p:sp>
        <p:nvSpPr>
          <p:cNvPr id="7" name="">
            <a:extLst xmlns:a="http://schemas.openxmlformats.org/drawingml/2006/main">
              <a:ext uri="{FF2B5EF4-FFF2-40B4-BE49-F238E27FC236}">
                <a16:creationId xmlns:a16="http://schemas.microsoft.com/office/drawing/2014/main" id="{6BC72FD4-D805-45E5-9062-FB8B794BEE48}"/>
              </a:ext>
            </a:extLst>
          </p:cNvPr>
          <p:cNvSpPr>
            <a:spLocks xmlns:a="http://schemas.openxmlformats.org/drawingml/2006/main" noGrp="1"/>
          </p:cNvSpPr>
          <p:nvPr/>
        </p:nvSpPr>
        <p:spPr>
          <a:xfrm xmlns:a="http://schemas.openxmlformats.org/drawingml/2006/main">
            <a:off x="904875" y="2876550"/>
            <a:ext cx="1933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backlog</a:t>
            </a:r>
          </a:p>
        </p:txBody>
      </p:sp>
      <p:sp>
        <p:nvSpPr>
          <p:cNvPr id="8" name="">
            <a:extLst xmlns:a="http://schemas.openxmlformats.org/drawingml/2006/main">
              <a:ext uri="{FF2B5EF4-FFF2-40B4-BE49-F238E27FC236}">
                <a16:creationId xmlns:a16="http://schemas.microsoft.com/office/drawing/2014/main" id="{0553EA79-7BF7-44F4-AC51-4CA9B8D74674}"/>
              </a:ext>
            </a:extLst>
          </p:cNvPr>
          <p:cNvSpPr>
            <a:spLocks xmlns:a="http://schemas.openxmlformats.org/drawingml/2006/main" noGrp="1"/>
          </p:cNvSpPr>
          <p:nvPr/>
        </p:nvSpPr>
        <p:spPr>
          <a:xfrm xmlns:a="http://schemas.openxmlformats.org/drawingml/2006/main">
            <a:off x="3143250" y="257175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38489CE8-0254-4DCF-A336-A2C571C983F5}"/>
              </a:ext>
            </a:extLst>
          </p:cNvPr>
          <p:cNvSpPr>
            <a:spLocks xmlns:a="http://schemas.openxmlformats.org/drawingml/2006/main" noGrp="1"/>
          </p:cNvSpPr>
          <p:nvPr/>
        </p:nvSpPr>
        <p:spPr>
          <a:xfrm xmlns:a="http://schemas.openxmlformats.org/drawingml/2006/main">
            <a:off x="4238625" y="1381125"/>
            <a:ext cx="31432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D0B256D-4E9D-407A-959D-096A0CFB1580}"/>
              </a:ext>
            </a:extLst>
          </p:cNvPr>
          <p:cNvSpPr>
            <a:spLocks xmlns:a="http://schemas.openxmlformats.org/drawingml/2006/main" noGrp="1"/>
          </p:cNvSpPr>
          <p:nvPr/>
        </p:nvSpPr>
        <p:spPr>
          <a:xfrm xmlns:a="http://schemas.openxmlformats.org/drawingml/2006/main">
            <a:off x="4238625" y="1381125"/>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8504C6B-091C-4DB4-B69F-04B770B9E533}"/>
              </a:ext>
            </a:extLst>
          </p:cNvPr>
          <p:cNvSpPr>
            <a:spLocks xmlns:a="http://schemas.openxmlformats.org/drawingml/2006/main" noGrp="1"/>
          </p:cNvSpPr>
          <p:nvPr/>
        </p:nvSpPr>
        <p:spPr>
          <a:xfrm xmlns:a="http://schemas.openxmlformats.org/drawingml/2006/main">
            <a:off x="4429125" y="1495425"/>
            <a:ext cx="2838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Analytics 1</a:t>
            </a:r>
          </a:p>
        </p:txBody>
      </p:sp>
      <p:sp>
        <p:nvSpPr>
          <p:cNvPr id="12" name="">
            <a:extLst xmlns:a="http://schemas.openxmlformats.org/drawingml/2006/main">
              <a:ext uri="{FF2B5EF4-FFF2-40B4-BE49-F238E27FC236}">
                <a16:creationId xmlns:a16="http://schemas.microsoft.com/office/drawing/2014/main" id="{0546465A-9807-4055-886D-E7868F94DAD7}"/>
              </a:ext>
            </a:extLst>
          </p:cNvPr>
          <p:cNvSpPr>
            <a:spLocks xmlns:a="http://schemas.openxmlformats.org/drawingml/2006/main" noGrp="1"/>
          </p:cNvSpPr>
          <p:nvPr/>
        </p:nvSpPr>
        <p:spPr>
          <a:xfrm xmlns:a="http://schemas.openxmlformats.org/drawingml/2006/main">
            <a:off x="4429125" y="1876425"/>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consumer concurrent</a:t>
            </a:r>
          </a:p>
        </p:txBody>
      </p:sp>
      <p:sp>
        <p:nvSpPr>
          <p:cNvPr id="13" name="">
            <a:extLst xmlns:a="http://schemas.openxmlformats.org/drawingml/2006/main">
              <a:ext uri="{FF2B5EF4-FFF2-40B4-BE49-F238E27FC236}">
                <a16:creationId xmlns:a16="http://schemas.microsoft.com/office/drawing/2014/main" id="{29D9A932-5926-451D-B42C-1A7D5A513073}"/>
              </a:ext>
            </a:extLst>
          </p:cNvPr>
          <p:cNvSpPr>
            <a:spLocks xmlns:a="http://schemas.openxmlformats.org/drawingml/2006/main" noGrp="1"/>
          </p:cNvSpPr>
          <p:nvPr/>
        </p:nvSpPr>
        <p:spPr>
          <a:xfrm xmlns:a="http://schemas.openxmlformats.org/drawingml/2006/main">
            <a:off x="4238625" y="2667000"/>
            <a:ext cx="31432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9A8BE2D-F17F-4D5B-8BA3-50F910AF8DF7}"/>
              </a:ext>
            </a:extLst>
          </p:cNvPr>
          <p:cNvSpPr>
            <a:spLocks xmlns:a="http://schemas.openxmlformats.org/drawingml/2006/main" noGrp="1"/>
          </p:cNvSpPr>
          <p:nvPr/>
        </p:nvSpPr>
        <p:spPr>
          <a:xfrm xmlns:a="http://schemas.openxmlformats.org/drawingml/2006/main">
            <a:off x="4238625" y="2667000"/>
            <a:ext cx="66675" cy="9525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B2FDD38-9F2C-4603-8C34-8EA59280869D}"/>
              </a:ext>
            </a:extLst>
          </p:cNvPr>
          <p:cNvSpPr>
            <a:spLocks xmlns:a="http://schemas.openxmlformats.org/drawingml/2006/main" noGrp="1"/>
          </p:cNvSpPr>
          <p:nvPr/>
        </p:nvSpPr>
        <p:spPr>
          <a:xfrm xmlns:a="http://schemas.openxmlformats.org/drawingml/2006/main">
            <a:off x="4429125" y="2781300"/>
            <a:ext cx="2838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Analytics 2</a:t>
            </a:r>
          </a:p>
        </p:txBody>
      </p:sp>
      <p:sp>
        <p:nvSpPr>
          <p:cNvPr id="16" name="">
            <a:extLst xmlns:a="http://schemas.openxmlformats.org/drawingml/2006/main">
              <a:ext uri="{FF2B5EF4-FFF2-40B4-BE49-F238E27FC236}">
                <a16:creationId xmlns:a16="http://schemas.microsoft.com/office/drawing/2014/main" id="{F7833A9B-C2E0-45DE-933F-E23CD86927F5}"/>
              </a:ext>
            </a:extLst>
          </p:cNvPr>
          <p:cNvSpPr>
            <a:spLocks xmlns:a="http://schemas.openxmlformats.org/drawingml/2006/main" noGrp="1"/>
          </p:cNvSpPr>
          <p:nvPr/>
        </p:nvSpPr>
        <p:spPr>
          <a:xfrm xmlns:a="http://schemas.openxmlformats.org/drawingml/2006/main">
            <a:off x="4429125" y="3162300"/>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consumer concurrent</a:t>
            </a:r>
          </a:p>
        </p:txBody>
      </p:sp>
      <p:sp>
        <p:nvSpPr>
          <p:cNvPr id="17" name="">
            <a:extLst xmlns:a="http://schemas.openxmlformats.org/drawingml/2006/main">
              <a:ext uri="{FF2B5EF4-FFF2-40B4-BE49-F238E27FC236}">
                <a16:creationId xmlns:a16="http://schemas.microsoft.com/office/drawing/2014/main" id="{97A46300-3D68-40A2-B9EB-5DA011374DCC}"/>
              </a:ext>
            </a:extLst>
          </p:cNvPr>
          <p:cNvSpPr>
            <a:spLocks xmlns:a="http://schemas.openxmlformats.org/drawingml/2006/main" noGrp="1"/>
          </p:cNvSpPr>
          <p:nvPr/>
        </p:nvSpPr>
        <p:spPr>
          <a:xfrm xmlns:a="http://schemas.openxmlformats.org/drawingml/2006/main">
            <a:off x="4238625" y="3952875"/>
            <a:ext cx="314325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ECE2813-B5FE-4A59-8AF0-C0D540710EC9}"/>
              </a:ext>
            </a:extLst>
          </p:cNvPr>
          <p:cNvSpPr>
            <a:spLocks xmlns:a="http://schemas.openxmlformats.org/drawingml/2006/main" noGrp="1"/>
          </p:cNvSpPr>
          <p:nvPr/>
        </p:nvSpPr>
        <p:spPr>
          <a:xfrm xmlns:a="http://schemas.openxmlformats.org/drawingml/2006/main">
            <a:off x="4238625" y="3952875"/>
            <a:ext cx="66675" cy="9525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10F2FE8-288B-4427-9F3C-782BAD87C785}"/>
              </a:ext>
            </a:extLst>
          </p:cNvPr>
          <p:cNvSpPr>
            <a:spLocks xmlns:a="http://schemas.openxmlformats.org/drawingml/2006/main" noGrp="1"/>
          </p:cNvSpPr>
          <p:nvPr/>
        </p:nvSpPr>
        <p:spPr>
          <a:xfrm xmlns:a="http://schemas.openxmlformats.org/drawingml/2006/main">
            <a:off x="4429125" y="4067175"/>
            <a:ext cx="2838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Analytics 3</a:t>
            </a:r>
          </a:p>
        </p:txBody>
      </p:sp>
      <p:sp>
        <p:nvSpPr>
          <p:cNvPr id="20" name="">
            <a:extLst xmlns:a="http://schemas.openxmlformats.org/drawingml/2006/main">
              <a:ext uri="{FF2B5EF4-FFF2-40B4-BE49-F238E27FC236}">
                <a16:creationId xmlns:a16="http://schemas.microsoft.com/office/drawing/2014/main" id="{5C79CE51-A1E7-4D13-8A80-592F4A25C42E}"/>
              </a:ext>
            </a:extLst>
          </p:cNvPr>
          <p:cNvSpPr>
            <a:spLocks xmlns:a="http://schemas.openxmlformats.org/drawingml/2006/main" noGrp="1"/>
          </p:cNvSpPr>
          <p:nvPr/>
        </p:nvSpPr>
        <p:spPr>
          <a:xfrm xmlns:a="http://schemas.openxmlformats.org/drawingml/2006/main">
            <a:off x="4429125" y="4448175"/>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consumer concurrent</a:t>
            </a:r>
          </a:p>
        </p:txBody>
      </p:sp>
      <p:sp>
        <p:nvSpPr>
          <p:cNvPr id="21" name="">
            <a:extLst xmlns:a="http://schemas.openxmlformats.org/drawingml/2006/main">
              <a:ext uri="{FF2B5EF4-FFF2-40B4-BE49-F238E27FC236}">
                <a16:creationId xmlns:a16="http://schemas.microsoft.com/office/drawing/2014/main" id="{380BBE10-FC8F-49AB-B88A-85DAFDDFEF19}"/>
              </a:ext>
            </a:extLst>
          </p:cNvPr>
          <p:cNvSpPr>
            <a:spLocks xmlns:a="http://schemas.openxmlformats.org/drawingml/2006/main" noGrp="1"/>
          </p:cNvSpPr>
          <p:nvPr/>
        </p:nvSpPr>
        <p:spPr>
          <a:xfrm xmlns:a="http://schemas.openxmlformats.org/drawingml/2006/main">
            <a:off x="7620000" y="1571625"/>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4FD8A38B-B6DB-4CC7-90F3-48D570DA3E9B}"/>
              </a:ext>
            </a:extLst>
          </p:cNvPr>
          <p:cNvSpPr>
            <a:spLocks xmlns:a="http://schemas.openxmlformats.org/drawingml/2006/main" noGrp="1"/>
          </p:cNvSpPr>
          <p:nvPr/>
        </p:nvSpPr>
        <p:spPr>
          <a:xfrm xmlns:a="http://schemas.openxmlformats.org/drawingml/2006/main">
            <a:off x="7620000" y="2857500"/>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5FC12982-D671-4EA0-AE77-9650B1E1C2A9}"/>
              </a:ext>
            </a:extLst>
          </p:cNvPr>
          <p:cNvSpPr>
            <a:spLocks xmlns:a="http://schemas.openxmlformats.org/drawingml/2006/main" noGrp="1"/>
          </p:cNvSpPr>
          <p:nvPr/>
        </p:nvSpPr>
        <p:spPr>
          <a:xfrm xmlns:a="http://schemas.openxmlformats.org/drawingml/2006/main">
            <a:off x="7620000" y="4143375"/>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583"/>
          </a:bodyPr>
          <a:lstStyle xmlns:a="http://schemas.openxmlformats.org/drawingml/2006/main"/>
          <a:p xmlns:a="http://schemas.openxmlformats.org/drawingml/2006/main">
            <a:pPr algn="ctr">
              <a:defRPr sz="3000" b="1">
                <a:solidFill>
                  <a:srgbClr val="2ED3C6"/>
                </a:solidFill>
                <a:latin typeface="Arial"/>
                <a:ea typeface="Arial"/>
                <a:cs typeface="Arial"/>
              </a:defRPr>
            </a:pPr>
            <a:r>
              <a:rPr sz="3000" b="1">
                <a:solidFill>
                  <a:srgbClr val="2ED3C6"/>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85FDDA82-8B07-4A04-AD17-D468FA0C9F32}"/>
              </a:ext>
            </a:extLst>
          </p:cNvPr>
          <p:cNvSpPr>
            <a:spLocks xmlns:a="http://schemas.openxmlformats.org/drawingml/2006/main" noGrp="1"/>
          </p:cNvSpPr>
          <p:nvPr/>
        </p:nvSpPr>
        <p:spPr>
          <a:xfrm xmlns:a="http://schemas.openxmlformats.org/drawingml/2006/main">
            <a:off x="8572500" y="2381250"/>
            <a:ext cx="2667000" cy="952500"/>
          </a:xfrm>
          <a:prstGeom xmlns:a="http://schemas.openxmlformats.org/drawingml/2006/main" prst="roundRect">
            <a:avLst>
              <a:gd name="adj" fmla="val 8000"/>
            </a:avLst>
          </a:prstGeom>
          <a:solidFill xmlns:a="http://schemas.openxmlformats.org/drawingml/2006/main">
            <a:srgbClr val="12253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3B6360B-D99A-415E-94F1-CE539572B39E}"/>
              </a:ext>
            </a:extLst>
          </p:cNvPr>
          <p:cNvSpPr>
            <a:spLocks xmlns:a="http://schemas.openxmlformats.org/drawingml/2006/main" noGrp="1"/>
          </p:cNvSpPr>
          <p:nvPr/>
        </p:nvSpPr>
        <p:spPr>
          <a:xfrm xmlns:a="http://schemas.openxmlformats.org/drawingml/2006/main">
            <a:off x="8572500" y="2381250"/>
            <a:ext cx="66675" cy="9525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D00780D-A2B3-4EE9-95D0-B4526D2B0542}"/>
              </a:ext>
            </a:extLst>
          </p:cNvPr>
          <p:cNvSpPr>
            <a:spLocks xmlns:a="http://schemas.openxmlformats.org/drawingml/2006/main" noGrp="1"/>
          </p:cNvSpPr>
          <p:nvPr/>
        </p:nvSpPr>
        <p:spPr>
          <a:xfrm xmlns:a="http://schemas.openxmlformats.org/drawingml/2006/main">
            <a:off x="8763000" y="2495550"/>
            <a:ext cx="236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enriched_news</a:t>
            </a:r>
          </a:p>
        </p:txBody>
      </p:sp>
      <p:sp>
        <p:nvSpPr>
          <p:cNvPr id="27" name="">
            <a:extLst xmlns:a="http://schemas.openxmlformats.org/drawingml/2006/main">
              <a:ext uri="{FF2B5EF4-FFF2-40B4-BE49-F238E27FC236}">
                <a16:creationId xmlns:a16="http://schemas.microsoft.com/office/drawing/2014/main" id="{518D19EE-7414-4BD1-A9F5-072381EA1299}"/>
              </a:ext>
            </a:extLst>
          </p:cNvPr>
          <p:cNvSpPr>
            <a:spLocks xmlns:a="http://schemas.openxmlformats.org/drawingml/2006/main" noGrp="1"/>
          </p:cNvSpPr>
          <p:nvPr/>
        </p:nvSpPr>
        <p:spPr>
          <a:xfrm xmlns:a="http://schemas.openxmlformats.org/drawingml/2006/main">
            <a:off x="8763000" y="287655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9CB1C5"/>
                </a:solidFill>
                <a:latin typeface="Arial"/>
                <a:ea typeface="Arial"/>
                <a:cs typeface="Arial"/>
              </a:defRPr>
            </a:pPr>
            <a:r>
              <a:rPr sz="1125" b="0">
                <a:solidFill>
                  <a:srgbClr val="9CB1C5"/>
                </a:solidFill>
                <a:latin typeface="Arial"/>
                <a:ea typeface="Arial"/>
                <a:cs typeface="Arial"/>
              </a:rPr>
              <a:t>sortie commune</a:t>
            </a:r>
          </a:p>
        </p:txBody>
      </p:sp>
      <p:sp>
        <p:nvSpPr>
          <p:cNvPr id="28" name="">
            <a:extLst xmlns:a="http://schemas.openxmlformats.org/drawingml/2006/main">
              <a:ext uri="{FF2B5EF4-FFF2-40B4-BE49-F238E27FC236}">
                <a16:creationId xmlns:a16="http://schemas.microsoft.com/office/drawing/2014/main" id="{6FB9EBFE-B1D2-450B-B1DA-A8E22F7DB75B}"/>
              </a:ext>
            </a:extLst>
          </p:cNvPr>
          <p:cNvSpPr>
            <a:spLocks xmlns:a="http://schemas.openxmlformats.org/drawingml/2006/main" noGrp="1"/>
          </p:cNvSpPr>
          <p:nvPr/>
        </p:nvSpPr>
        <p:spPr>
          <a:xfrm xmlns:a="http://schemas.openxmlformats.org/drawingml/2006/main">
            <a:off x="3238500" y="5572125"/>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EEF6FF"/>
                </a:solidFill>
                <a:latin typeface="Arial"/>
                <a:ea typeface="Arial"/>
                <a:cs typeface="Arial"/>
              </a:defRPr>
            </a:pPr>
            <a:r>
              <a:rPr sz="1800" b="1">
                <a:solidFill>
                  <a:srgbClr val="EEF6FF"/>
                </a:solidFill>
                <a:latin typeface="Arial"/>
                <a:ea typeface="Arial"/>
                <a:cs typeface="Arial"/>
              </a:rPr>
              <a:t>docker compose up --scale analytics=3</a:t>
            </a:r>
          </a:p>
        </p:txBody>
      </p:sp>
    </p:spTree>
    <p:extLst>
      <p:ext uri="{BB962C8B-B14F-4D97-AF65-F5344CB8AC3E}">
        <p14:creationId xmlns:p14="http://schemas.microsoft.com/office/powerpoint/2010/main" val="447893403"/>
      </p:ext>
    </p:extLst>
  </p:cSld>
</p:sld>
</file>

<file path=ppt/slides/slide21.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0FBC106-E435-4B25-B60F-0F761EBE0DD8}"/>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Observabilité du pipeline</a:t>
            </a:r>
          </a:p>
        </p:txBody>
      </p:sp>
      <p:sp>
        <p:nvSpPr>
          <p:cNvPr id="2" name="">
            <a:extLst xmlns:a="http://schemas.openxmlformats.org/drawingml/2006/main">
              <a:ext uri="{FF2B5EF4-FFF2-40B4-BE49-F238E27FC236}">
                <a16:creationId xmlns:a16="http://schemas.microsoft.com/office/drawing/2014/main" id="{6D40B9B4-BAB2-489B-B9CC-B9270F42233F}"/>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CE05D493-3BD9-4BBD-80B3-B11DAF77B8C9}"/>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A73B8AA-86D7-4194-BFEE-BA807333DC72}"/>
              </a:ext>
            </a:extLst>
          </p:cNvPr>
          <p:cNvSpPr>
            <a:spLocks xmlns:a="http://schemas.openxmlformats.org/drawingml/2006/main" noGrp="1"/>
          </p:cNvSpPr>
          <p:nvPr/>
        </p:nvSpPr>
        <p:spPr>
          <a:xfrm xmlns:a="http://schemas.openxmlformats.org/drawingml/2006/main">
            <a:off x="609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ED3C6"/>
                </a:solidFill>
                <a:latin typeface="Arial"/>
                <a:ea typeface="Arial"/>
                <a:cs typeface="Arial"/>
              </a:defRPr>
            </a:pPr>
            <a:r>
              <a:rPr sz="1125" b="1">
                <a:solidFill>
                  <a:srgbClr val="2ED3C6"/>
                </a:solidFill>
                <a:latin typeface="Arial"/>
                <a:ea typeface="Arial"/>
                <a:cs typeface="Arial"/>
              </a:rPr>
              <a:t>THROUGHPUT</a:t>
            </a:r>
          </a:p>
        </p:txBody>
      </p:sp>
      <p:sp>
        <p:nvSpPr>
          <p:cNvPr id="5" name="">
            <a:extLst xmlns:a="http://schemas.openxmlformats.org/drawingml/2006/main">
              <a:ext uri="{FF2B5EF4-FFF2-40B4-BE49-F238E27FC236}">
                <a16:creationId xmlns:a16="http://schemas.microsoft.com/office/drawing/2014/main" id="{41F5AF5A-51A0-49BC-A66D-D4EDCE4D1CB0}"/>
              </a:ext>
            </a:extLst>
          </p:cNvPr>
          <p:cNvSpPr>
            <a:spLocks xmlns:a="http://schemas.openxmlformats.org/drawingml/2006/main" noGrp="1"/>
          </p:cNvSpPr>
          <p:nvPr/>
        </p:nvSpPr>
        <p:spPr>
          <a:xfrm xmlns:a="http://schemas.openxmlformats.org/drawingml/2006/main">
            <a:off x="609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DC3F87D-7F18-48E6-8931-BFF4959D8FC3}"/>
              </a:ext>
            </a:extLst>
          </p:cNvPr>
          <p:cNvSpPr>
            <a:spLocks xmlns:a="http://schemas.openxmlformats.org/drawingml/2006/main" noGrp="1"/>
          </p:cNvSpPr>
          <p:nvPr/>
        </p:nvSpPr>
        <p:spPr>
          <a:xfrm xmlns:a="http://schemas.openxmlformats.org/drawingml/2006/main">
            <a:off x="847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Articles stockés par heure et par source</a:t>
            </a:r>
          </a:p>
        </p:txBody>
      </p:sp>
      <p:sp>
        <p:nvSpPr>
          <p:cNvPr id="7" name="">
            <a:extLst xmlns:a="http://schemas.openxmlformats.org/drawingml/2006/main">
              <a:ext uri="{FF2B5EF4-FFF2-40B4-BE49-F238E27FC236}">
                <a16:creationId xmlns:a16="http://schemas.microsoft.com/office/drawing/2014/main" id="{9923866C-90E6-45D7-A584-BA7672EF7EFC}"/>
              </a:ext>
            </a:extLst>
          </p:cNvPr>
          <p:cNvSpPr>
            <a:spLocks xmlns:a="http://schemas.openxmlformats.org/drawingml/2006/main" noGrp="1"/>
          </p:cNvSpPr>
          <p:nvPr/>
        </p:nvSpPr>
        <p:spPr>
          <a:xfrm xmlns:a="http://schemas.openxmlformats.org/drawingml/2006/main">
            <a:off x="43561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438BFF"/>
                </a:solidFill>
                <a:latin typeface="Arial"/>
                <a:ea typeface="Arial"/>
                <a:cs typeface="Arial"/>
              </a:defRPr>
            </a:pPr>
            <a:r>
              <a:rPr sz="1125" b="1">
                <a:solidFill>
                  <a:srgbClr val="438BFF"/>
                </a:solidFill>
                <a:latin typeface="Arial"/>
                <a:ea typeface="Arial"/>
                <a:cs typeface="Arial"/>
              </a:rPr>
              <a:t>LATENCE</a:t>
            </a:r>
          </a:p>
        </p:txBody>
      </p:sp>
      <p:sp>
        <p:nvSpPr>
          <p:cNvPr id="8" name="">
            <a:extLst xmlns:a="http://schemas.openxmlformats.org/drawingml/2006/main">
              <a:ext uri="{FF2B5EF4-FFF2-40B4-BE49-F238E27FC236}">
                <a16:creationId xmlns:a16="http://schemas.microsoft.com/office/drawing/2014/main" id="{15BF448C-6761-4D84-9353-FAD30D2F37FE}"/>
              </a:ext>
            </a:extLst>
          </p:cNvPr>
          <p:cNvSpPr>
            <a:spLocks xmlns:a="http://schemas.openxmlformats.org/drawingml/2006/main" noGrp="1"/>
          </p:cNvSpPr>
          <p:nvPr/>
        </p:nvSpPr>
        <p:spPr>
          <a:xfrm xmlns:a="http://schemas.openxmlformats.org/drawingml/2006/main">
            <a:off x="43561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522A157-A5F2-4B11-B412-CD179B6FC617}"/>
              </a:ext>
            </a:extLst>
          </p:cNvPr>
          <p:cNvSpPr>
            <a:spLocks xmlns:a="http://schemas.openxmlformats.org/drawingml/2006/main" noGrp="1"/>
          </p:cNvSpPr>
          <p:nvPr/>
        </p:nvSpPr>
        <p:spPr>
          <a:xfrm xmlns:a="http://schemas.openxmlformats.org/drawingml/2006/main">
            <a:off x="45942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Moyenne et maximum entre collecte et stockage</a:t>
            </a:r>
          </a:p>
        </p:txBody>
      </p:sp>
      <p:sp>
        <p:nvSpPr>
          <p:cNvPr id="10" name="">
            <a:extLst xmlns:a="http://schemas.openxmlformats.org/drawingml/2006/main">
              <a:ext uri="{FF2B5EF4-FFF2-40B4-BE49-F238E27FC236}">
                <a16:creationId xmlns:a16="http://schemas.microsoft.com/office/drawing/2014/main" id="{FF395B38-0432-4DFD-A054-6E7C9DF282C6}"/>
              </a:ext>
            </a:extLst>
          </p:cNvPr>
          <p:cNvSpPr>
            <a:spLocks xmlns:a="http://schemas.openxmlformats.org/drawingml/2006/main" noGrp="1"/>
          </p:cNvSpPr>
          <p:nvPr/>
        </p:nvSpPr>
        <p:spPr>
          <a:xfrm xmlns:a="http://schemas.openxmlformats.org/drawingml/2006/main">
            <a:off x="8102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FFB454"/>
                </a:solidFill>
                <a:latin typeface="Arial"/>
                <a:ea typeface="Arial"/>
                <a:cs typeface="Arial"/>
              </a:defRPr>
            </a:pPr>
            <a:r>
              <a:rPr sz="1125" b="1">
                <a:solidFill>
                  <a:srgbClr val="FFB454"/>
                </a:solidFill>
                <a:latin typeface="Arial"/>
                <a:ea typeface="Arial"/>
                <a:cs typeface="Arial"/>
              </a:rPr>
              <a:t>BACKLOG</a:t>
            </a:r>
          </a:p>
        </p:txBody>
      </p:sp>
      <p:sp>
        <p:nvSpPr>
          <p:cNvPr id="11" name="">
            <a:extLst xmlns:a="http://schemas.openxmlformats.org/drawingml/2006/main">
              <a:ext uri="{FF2B5EF4-FFF2-40B4-BE49-F238E27FC236}">
                <a16:creationId xmlns:a16="http://schemas.microsoft.com/office/drawing/2014/main" id="{4D517212-FC4A-47B5-AA01-57674AB9A92A}"/>
              </a:ext>
            </a:extLst>
          </p:cNvPr>
          <p:cNvSpPr>
            <a:spLocks xmlns:a="http://schemas.openxmlformats.org/drawingml/2006/main" noGrp="1"/>
          </p:cNvSpPr>
          <p:nvPr/>
        </p:nvSpPr>
        <p:spPr>
          <a:xfrm xmlns:a="http://schemas.openxmlformats.org/drawingml/2006/main">
            <a:off x="8102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FAB40C8-F3FB-41D2-85BD-7B0CE8E4B12D}"/>
              </a:ext>
            </a:extLst>
          </p:cNvPr>
          <p:cNvSpPr>
            <a:spLocks xmlns:a="http://schemas.openxmlformats.org/drawingml/2006/main" noGrp="1"/>
          </p:cNvSpPr>
          <p:nvPr/>
        </p:nvSpPr>
        <p:spPr>
          <a:xfrm xmlns:a="http://schemas.openxmlformats.org/drawingml/2006/main">
            <a:off x="8340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Messages prêts et non acquittés dans RabbitMQ</a:t>
            </a:r>
          </a:p>
        </p:txBody>
      </p:sp>
      <p:sp>
        <p:nvSpPr>
          <p:cNvPr id="13" name="">
            <a:extLst xmlns:a="http://schemas.openxmlformats.org/drawingml/2006/main">
              <a:ext uri="{FF2B5EF4-FFF2-40B4-BE49-F238E27FC236}">
                <a16:creationId xmlns:a16="http://schemas.microsoft.com/office/drawing/2014/main" id="{95E9E742-3C6B-45B1-801C-7F92D7E42784}"/>
              </a:ext>
            </a:extLst>
          </p:cNvPr>
          <p:cNvSpPr>
            <a:spLocks xmlns:a="http://schemas.openxmlformats.org/drawingml/2006/main" noGrp="1"/>
          </p:cNvSpPr>
          <p:nvPr/>
        </p:nvSpPr>
        <p:spPr>
          <a:xfrm xmlns:a="http://schemas.openxmlformats.org/drawingml/2006/main">
            <a:off x="2762250" y="538162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75" b="1">
                <a:solidFill>
                  <a:srgbClr val="EEF6FF"/>
                </a:solidFill>
                <a:latin typeface="Arial"/>
                <a:ea typeface="Arial"/>
                <a:cs typeface="Arial"/>
              </a:defRPr>
            </a:pPr>
            <a:r>
              <a:rPr sz="2175" b="1">
                <a:solidFill>
                  <a:srgbClr val="EEF6FF"/>
                </a:solidFill>
                <a:latin typeface="Arial"/>
                <a:ea typeface="Arial"/>
                <a:cs typeface="Arial"/>
              </a:rPr>
              <a:t>Mesurer avant de dimensionner</a:t>
            </a:r>
          </a:p>
        </p:txBody>
      </p:sp>
    </p:spTree>
    <p:extLst>
      <p:ext uri="{BB962C8B-B14F-4D97-AF65-F5344CB8AC3E}">
        <p14:creationId xmlns:p14="http://schemas.microsoft.com/office/powerpoint/2010/main" val="1823538710"/>
      </p:ext>
    </p:extLst>
  </p:cSld>
</p:sld>
</file>

<file path=ppt/slides/slide22.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58A3955-C3F5-4F58-ABF7-D43E5BD33B17}"/>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Lecture Big Data</a:t>
            </a:r>
          </a:p>
        </p:txBody>
      </p:sp>
      <p:sp>
        <p:nvSpPr>
          <p:cNvPr id="2" name="">
            <a:extLst xmlns:a="http://schemas.openxmlformats.org/drawingml/2006/main">
              <a:ext uri="{FF2B5EF4-FFF2-40B4-BE49-F238E27FC236}">
                <a16:creationId xmlns:a16="http://schemas.microsoft.com/office/drawing/2014/main" id="{56FE9D6A-BB08-4AB2-9881-C08E0F48CBA5}"/>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6D7964C2-7852-493C-9A71-721E19A1128D}"/>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B0A90A2-D2B8-4BBC-A15A-6A338E991F28}"/>
              </a:ext>
            </a:extLst>
          </p:cNvPr>
          <p:cNvSpPr>
            <a:spLocks xmlns:a="http://schemas.openxmlformats.org/drawingml/2006/main" noGrp="1"/>
          </p:cNvSpPr>
          <p:nvPr/>
        </p:nvSpPr>
        <p:spPr>
          <a:xfrm xmlns:a="http://schemas.openxmlformats.org/drawingml/2006/main">
            <a:off x="762000" y="15240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FF6B75"/>
                </a:solidFill>
                <a:latin typeface="Arial"/>
                <a:ea typeface="Arial"/>
                <a:cs typeface="Arial"/>
              </a:defRPr>
            </a:pPr>
            <a:r>
              <a:rPr sz="1425" b="1">
                <a:solidFill>
                  <a:srgbClr val="FF6B75"/>
                </a:solidFill>
                <a:latin typeface="Arial"/>
                <a:ea typeface="Arial"/>
                <a:cs typeface="Arial"/>
              </a:rPr>
              <a:t>VOLUME</a:t>
            </a:r>
          </a:p>
        </p:txBody>
      </p:sp>
      <p:sp>
        <p:nvSpPr>
          <p:cNvPr id="5" name="">
            <a:extLst xmlns:a="http://schemas.openxmlformats.org/drawingml/2006/main">
              <a:ext uri="{FF2B5EF4-FFF2-40B4-BE49-F238E27FC236}">
                <a16:creationId xmlns:a16="http://schemas.microsoft.com/office/drawing/2014/main" id="{23CD94A9-0F50-4C14-AC54-1C5A10249ED2}"/>
              </a:ext>
            </a:extLst>
          </p:cNvPr>
          <p:cNvSpPr>
            <a:spLocks xmlns:a="http://schemas.openxmlformats.org/drawingml/2006/main" noGrp="1"/>
          </p:cNvSpPr>
          <p:nvPr/>
        </p:nvSpPr>
        <p:spPr>
          <a:xfrm xmlns:a="http://schemas.openxmlformats.org/drawingml/2006/main">
            <a:off x="3429000" y="1695450"/>
            <a:ext cx="666750" cy="38100"/>
          </a:xfrm>
          <a:prstGeom xmlns:a="http://schemas.openxmlformats.org/drawingml/2006/main" prst="rect">
            <a:avLst/>
          </a:prstGeom>
          <a:solidFill xmlns:a="http://schemas.openxmlformats.org/drawingml/2006/main">
            <a:srgbClr val="FF6B7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A272C0E-ACB4-4A2D-892F-73E1DC160132}"/>
              </a:ext>
            </a:extLst>
          </p:cNvPr>
          <p:cNvSpPr>
            <a:spLocks xmlns:a="http://schemas.openxmlformats.org/drawingml/2006/main" noGrp="1"/>
          </p:cNvSpPr>
          <p:nvPr/>
        </p:nvSpPr>
        <p:spPr>
          <a:xfrm xmlns:a="http://schemas.openxmlformats.org/drawingml/2006/main">
            <a:off x="4381500" y="15049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Faible dans la démonstration</a:t>
            </a:r>
          </a:p>
        </p:txBody>
      </p:sp>
      <p:sp>
        <p:nvSpPr>
          <p:cNvPr id="7" name="">
            <a:extLst xmlns:a="http://schemas.openxmlformats.org/drawingml/2006/main">
              <a:ext uri="{FF2B5EF4-FFF2-40B4-BE49-F238E27FC236}">
                <a16:creationId xmlns:a16="http://schemas.microsoft.com/office/drawing/2014/main" id="{ECE27D03-CA4A-46AB-88FF-77F72B954BB4}"/>
              </a:ext>
            </a:extLst>
          </p:cNvPr>
          <p:cNvSpPr>
            <a:spLocks xmlns:a="http://schemas.openxmlformats.org/drawingml/2006/main" noGrp="1"/>
          </p:cNvSpPr>
          <p:nvPr/>
        </p:nvSpPr>
        <p:spPr>
          <a:xfrm xmlns:a="http://schemas.openxmlformats.org/drawingml/2006/main">
            <a:off x="762000" y="233362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ED3C6"/>
                </a:solidFill>
                <a:latin typeface="Arial"/>
                <a:ea typeface="Arial"/>
                <a:cs typeface="Arial"/>
              </a:defRPr>
            </a:pPr>
            <a:r>
              <a:rPr sz="1425" b="1">
                <a:solidFill>
                  <a:srgbClr val="2ED3C6"/>
                </a:solidFill>
                <a:latin typeface="Arial"/>
                <a:ea typeface="Arial"/>
                <a:cs typeface="Arial"/>
              </a:rPr>
              <a:t>VÉLOCITÉ</a:t>
            </a:r>
          </a:p>
        </p:txBody>
      </p:sp>
      <p:sp>
        <p:nvSpPr>
          <p:cNvPr id="8" name="">
            <a:extLst xmlns:a="http://schemas.openxmlformats.org/drawingml/2006/main">
              <a:ext uri="{FF2B5EF4-FFF2-40B4-BE49-F238E27FC236}">
                <a16:creationId xmlns:a16="http://schemas.microsoft.com/office/drawing/2014/main" id="{7E895AA4-E19B-4FFA-A707-9D516ED0BC2D}"/>
              </a:ext>
            </a:extLst>
          </p:cNvPr>
          <p:cNvSpPr>
            <a:spLocks xmlns:a="http://schemas.openxmlformats.org/drawingml/2006/main" noGrp="1"/>
          </p:cNvSpPr>
          <p:nvPr/>
        </p:nvSpPr>
        <p:spPr>
          <a:xfrm xmlns:a="http://schemas.openxmlformats.org/drawingml/2006/main">
            <a:off x="3429000" y="2505075"/>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57BB03F-1D52-4307-A321-A38EB2C6D07A}"/>
              </a:ext>
            </a:extLst>
          </p:cNvPr>
          <p:cNvSpPr>
            <a:spLocks xmlns:a="http://schemas.openxmlformats.org/drawingml/2006/main" noGrp="1"/>
          </p:cNvSpPr>
          <p:nvPr/>
        </p:nvSpPr>
        <p:spPr>
          <a:xfrm xmlns:a="http://schemas.openxmlformats.org/drawingml/2006/main">
            <a:off x="4381500" y="231457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Flux continu et traitement en ligne</a:t>
            </a:r>
          </a:p>
        </p:txBody>
      </p:sp>
      <p:sp>
        <p:nvSpPr>
          <p:cNvPr id="10" name="">
            <a:extLst xmlns:a="http://schemas.openxmlformats.org/drawingml/2006/main">
              <a:ext uri="{FF2B5EF4-FFF2-40B4-BE49-F238E27FC236}">
                <a16:creationId xmlns:a16="http://schemas.microsoft.com/office/drawing/2014/main" id="{2C2098ED-6A06-4196-BA8B-3007D61596F7}"/>
              </a:ext>
            </a:extLst>
          </p:cNvPr>
          <p:cNvSpPr>
            <a:spLocks xmlns:a="http://schemas.openxmlformats.org/drawingml/2006/main" noGrp="1"/>
          </p:cNvSpPr>
          <p:nvPr/>
        </p:nvSpPr>
        <p:spPr>
          <a:xfrm xmlns:a="http://schemas.openxmlformats.org/drawingml/2006/main">
            <a:off x="762000" y="31432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FFB454"/>
                </a:solidFill>
                <a:latin typeface="Arial"/>
                <a:ea typeface="Arial"/>
                <a:cs typeface="Arial"/>
              </a:defRPr>
            </a:pPr>
            <a:r>
              <a:rPr sz="1425" b="1">
                <a:solidFill>
                  <a:srgbClr val="FFB454"/>
                </a:solidFill>
                <a:latin typeface="Arial"/>
                <a:ea typeface="Arial"/>
                <a:cs typeface="Arial"/>
              </a:rPr>
              <a:t>VARIÉTÉ</a:t>
            </a:r>
          </a:p>
        </p:txBody>
      </p:sp>
      <p:sp>
        <p:nvSpPr>
          <p:cNvPr id="11" name="">
            <a:extLst xmlns:a="http://schemas.openxmlformats.org/drawingml/2006/main">
              <a:ext uri="{FF2B5EF4-FFF2-40B4-BE49-F238E27FC236}">
                <a16:creationId xmlns:a16="http://schemas.microsoft.com/office/drawing/2014/main" id="{B00A709E-39A8-4465-92F1-983DF8EDF98D}"/>
              </a:ext>
            </a:extLst>
          </p:cNvPr>
          <p:cNvSpPr>
            <a:spLocks xmlns:a="http://schemas.openxmlformats.org/drawingml/2006/main" noGrp="1"/>
          </p:cNvSpPr>
          <p:nvPr/>
        </p:nvSpPr>
        <p:spPr>
          <a:xfrm xmlns:a="http://schemas.openxmlformats.org/drawingml/2006/main">
            <a:off x="3429000" y="3314700"/>
            <a:ext cx="666750" cy="38100"/>
          </a:xfrm>
          <a:prstGeom xmlns:a="http://schemas.openxmlformats.org/drawingml/2006/main" prst="rect">
            <a:avLst/>
          </a:prstGeom>
          <a:solidFill xmlns:a="http://schemas.openxmlformats.org/drawingml/2006/main">
            <a:srgbClr val="FFB45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C57B2EB-76F2-4D96-841D-346738A23B1D}"/>
              </a:ext>
            </a:extLst>
          </p:cNvPr>
          <p:cNvSpPr>
            <a:spLocks xmlns:a="http://schemas.openxmlformats.org/drawingml/2006/main" noGrp="1"/>
          </p:cNvSpPr>
          <p:nvPr/>
        </p:nvSpPr>
        <p:spPr>
          <a:xfrm xmlns:a="http://schemas.openxmlformats.org/drawingml/2006/main">
            <a:off x="4381500" y="31242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Plusieurs sources, format RSS commun</a:t>
            </a:r>
          </a:p>
        </p:txBody>
      </p:sp>
      <p:sp>
        <p:nvSpPr>
          <p:cNvPr id="13" name="">
            <a:extLst xmlns:a="http://schemas.openxmlformats.org/drawingml/2006/main">
              <a:ext uri="{FF2B5EF4-FFF2-40B4-BE49-F238E27FC236}">
                <a16:creationId xmlns:a16="http://schemas.microsoft.com/office/drawing/2014/main" id="{FCBFD04C-34BD-4ED1-9D75-AF19EF01CEBD}"/>
              </a:ext>
            </a:extLst>
          </p:cNvPr>
          <p:cNvSpPr>
            <a:spLocks xmlns:a="http://schemas.openxmlformats.org/drawingml/2006/main" noGrp="1"/>
          </p:cNvSpPr>
          <p:nvPr/>
        </p:nvSpPr>
        <p:spPr>
          <a:xfrm xmlns:a="http://schemas.openxmlformats.org/drawingml/2006/main">
            <a:off x="762000" y="395287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438BFF"/>
                </a:solidFill>
                <a:latin typeface="Arial"/>
                <a:ea typeface="Arial"/>
                <a:cs typeface="Arial"/>
              </a:defRPr>
            </a:pPr>
            <a:r>
              <a:rPr sz="1425" b="1">
                <a:solidFill>
                  <a:srgbClr val="438BFF"/>
                </a:solidFill>
                <a:latin typeface="Arial"/>
                <a:ea typeface="Arial"/>
                <a:cs typeface="Arial"/>
              </a:rPr>
              <a:t>VÉRACITÉ</a:t>
            </a:r>
          </a:p>
        </p:txBody>
      </p:sp>
      <p:sp>
        <p:nvSpPr>
          <p:cNvPr id="14" name="">
            <a:extLst xmlns:a="http://schemas.openxmlformats.org/drawingml/2006/main">
              <a:ext uri="{FF2B5EF4-FFF2-40B4-BE49-F238E27FC236}">
                <a16:creationId xmlns:a16="http://schemas.microsoft.com/office/drawing/2014/main" id="{AC2D6527-A30C-49BF-9A35-BEC6F17BD3CE}"/>
              </a:ext>
            </a:extLst>
          </p:cNvPr>
          <p:cNvSpPr>
            <a:spLocks xmlns:a="http://schemas.openxmlformats.org/drawingml/2006/main" noGrp="1"/>
          </p:cNvSpPr>
          <p:nvPr/>
        </p:nvSpPr>
        <p:spPr>
          <a:xfrm xmlns:a="http://schemas.openxmlformats.org/drawingml/2006/main">
            <a:off x="3429000" y="4124325"/>
            <a:ext cx="666750" cy="3810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C43BA96-14C5-494C-8CF2-443159CE90AC}"/>
              </a:ext>
            </a:extLst>
          </p:cNvPr>
          <p:cNvSpPr>
            <a:spLocks xmlns:a="http://schemas.openxmlformats.org/drawingml/2006/main" noGrp="1"/>
          </p:cNvSpPr>
          <p:nvPr/>
        </p:nvSpPr>
        <p:spPr>
          <a:xfrm xmlns:a="http://schemas.openxmlformats.org/drawingml/2006/main">
            <a:off x="4381500" y="393382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Normalisation, déduplication et DLQ</a:t>
            </a:r>
          </a:p>
        </p:txBody>
      </p:sp>
      <p:sp>
        <p:nvSpPr>
          <p:cNvPr id="16" name="">
            <a:extLst xmlns:a="http://schemas.openxmlformats.org/drawingml/2006/main">
              <a:ext uri="{FF2B5EF4-FFF2-40B4-BE49-F238E27FC236}">
                <a16:creationId xmlns:a16="http://schemas.microsoft.com/office/drawing/2014/main" id="{F32C727F-BA3D-4D96-B893-CA9877150058}"/>
              </a:ext>
            </a:extLst>
          </p:cNvPr>
          <p:cNvSpPr>
            <a:spLocks xmlns:a="http://schemas.openxmlformats.org/drawingml/2006/main" noGrp="1"/>
          </p:cNvSpPr>
          <p:nvPr/>
        </p:nvSpPr>
        <p:spPr>
          <a:xfrm xmlns:a="http://schemas.openxmlformats.org/drawingml/2006/main">
            <a:off x="762000" y="476250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ED3C6"/>
                </a:solidFill>
                <a:latin typeface="Arial"/>
                <a:ea typeface="Arial"/>
                <a:cs typeface="Arial"/>
              </a:defRPr>
            </a:pPr>
            <a:r>
              <a:rPr sz="1425" b="1">
                <a:solidFill>
                  <a:srgbClr val="2ED3C6"/>
                </a:solidFill>
                <a:latin typeface="Arial"/>
                <a:ea typeface="Arial"/>
                <a:cs typeface="Arial"/>
              </a:rPr>
              <a:t>VALEUR</a:t>
            </a:r>
          </a:p>
        </p:txBody>
      </p:sp>
      <p:sp>
        <p:nvSpPr>
          <p:cNvPr id="17" name="">
            <a:extLst xmlns:a="http://schemas.openxmlformats.org/drawingml/2006/main">
              <a:ext uri="{FF2B5EF4-FFF2-40B4-BE49-F238E27FC236}">
                <a16:creationId xmlns:a16="http://schemas.microsoft.com/office/drawing/2014/main" id="{1BA0C939-1D99-41C1-9DBC-ADDB23001239}"/>
              </a:ext>
            </a:extLst>
          </p:cNvPr>
          <p:cNvSpPr>
            <a:spLocks xmlns:a="http://schemas.openxmlformats.org/drawingml/2006/main" noGrp="1"/>
          </p:cNvSpPr>
          <p:nvPr/>
        </p:nvSpPr>
        <p:spPr>
          <a:xfrm xmlns:a="http://schemas.openxmlformats.org/drawingml/2006/main">
            <a:off x="3429000" y="4933950"/>
            <a:ext cx="666750" cy="38100"/>
          </a:xfrm>
          <a:prstGeom xmlns:a="http://schemas.openxmlformats.org/drawingml/2006/main" prst="rect">
            <a:avLst/>
          </a:prstGeom>
          <a:solidFill xmlns:a="http://schemas.openxmlformats.org/drawingml/2006/main">
            <a:srgbClr val="2ED3C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F12DA38-AEDE-496F-AE51-BCBBA57B0F69}"/>
              </a:ext>
            </a:extLst>
          </p:cNvPr>
          <p:cNvSpPr>
            <a:spLocks xmlns:a="http://schemas.openxmlformats.org/drawingml/2006/main" noGrp="1"/>
          </p:cNvSpPr>
          <p:nvPr/>
        </p:nvSpPr>
        <p:spPr>
          <a:xfrm xmlns:a="http://schemas.openxmlformats.org/drawingml/2006/main">
            <a:off x="4381500" y="47434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EEF6FF"/>
                </a:solidFill>
                <a:latin typeface="Arial"/>
                <a:ea typeface="Arial"/>
                <a:cs typeface="Arial"/>
              </a:defRPr>
            </a:pPr>
            <a:r>
              <a:rPr sz="1800" b="0">
                <a:solidFill>
                  <a:srgbClr val="EEF6FF"/>
                </a:solidFill>
                <a:latin typeface="Arial"/>
                <a:ea typeface="Arial"/>
                <a:cs typeface="Arial"/>
              </a:rPr>
              <a:t>Indicateurs temporels exploitables</a:t>
            </a:r>
          </a:p>
        </p:txBody>
      </p:sp>
      <p:sp>
        <p:nvSpPr>
          <p:cNvPr id="19" name="">
            <a:extLst xmlns:a="http://schemas.openxmlformats.org/drawingml/2006/main">
              <a:ext uri="{FF2B5EF4-FFF2-40B4-BE49-F238E27FC236}">
                <a16:creationId xmlns:a16="http://schemas.microsoft.com/office/drawing/2014/main" id="{B8D53260-1676-4F17-A9C1-CE871BCCBADF}"/>
              </a:ext>
            </a:extLst>
          </p:cNvPr>
          <p:cNvSpPr>
            <a:spLocks xmlns:a="http://schemas.openxmlformats.org/drawingml/2006/main" noGrp="1"/>
          </p:cNvSpPr>
          <p:nvPr/>
        </p:nvSpPr>
        <p:spPr>
          <a:xfrm xmlns:a="http://schemas.openxmlformats.org/drawingml/2006/main">
            <a:off x="1619250" y="57626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EEF6FF"/>
                </a:solidFill>
                <a:latin typeface="Arial"/>
                <a:ea typeface="Arial"/>
                <a:cs typeface="Arial"/>
              </a:defRPr>
            </a:pPr>
            <a:r>
              <a:rPr sz="1800" b="1">
                <a:solidFill>
                  <a:srgbClr val="EEF6FF"/>
                </a:solidFill>
                <a:latin typeface="Arial"/>
                <a:ea typeface="Arial"/>
                <a:cs typeface="Arial"/>
              </a:rPr>
              <a:t>Architecture Big Data crédible, échelle encore à prouver</a:t>
            </a:r>
          </a:p>
        </p:txBody>
      </p:sp>
    </p:spTree>
    <p:extLst>
      <p:ext uri="{BB962C8B-B14F-4D97-AF65-F5344CB8AC3E}">
        <p14:creationId xmlns:p14="http://schemas.microsoft.com/office/powerpoint/2010/main" val="1672397866"/>
      </p:ext>
    </p:extLst>
  </p:cSld>
</p:sld>
</file>

<file path=ppt/slides/slide23.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8A9BFA8-3F4D-4775-87EC-9D01130355DF}"/>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Limites connues</a:t>
            </a:r>
          </a:p>
        </p:txBody>
      </p:sp>
      <p:sp>
        <p:nvSpPr>
          <p:cNvPr id="2" name="">
            <a:extLst xmlns:a="http://schemas.openxmlformats.org/drawingml/2006/main">
              <a:ext uri="{FF2B5EF4-FFF2-40B4-BE49-F238E27FC236}">
                <a16:creationId xmlns:a16="http://schemas.microsoft.com/office/drawing/2014/main" id="{C19FB0CF-6836-44C1-B604-2B2834C5D351}"/>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E5CEAE0F-5073-4C2D-8B34-44DFECD464E8}"/>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9F3B077-C5E5-44E5-AFD2-2B1213B57AD1}"/>
              </a:ext>
            </a:extLst>
          </p:cNvPr>
          <p:cNvSpPr>
            <a:spLocks xmlns:a="http://schemas.openxmlformats.org/drawingml/2006/main" noGrp="1"/>
          </p:cNvSpPr>
          <p:nvPr/>
        </p:nvSpPr>
        <p:spPr>
          <a:xfrm xmlns:a="http://schemas.openxmlformats.org/drawingml/2006/main">
            <a:off x="609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FF6B75"/>
                </a:solidFill>
                <a:latin typeface="Arial"/>
                <a:ea typeface="Arial"/>
                <a:cs typeface="Arial"/>
              </a:defRPr>
            </a:pPr>
            <a:r>
              <a:rPr sz="1125" b="1">
                <a:solidFill>
                  <a:srgbClr val="FF6B75"/>
                </a:solidFill>
                <a:latin typeface="Arial"/>
                <a:ea typeface="Arial"/>
                <a:cs typeface="Arial"/>
              </a:rPr>
              <a:t>INFRASTRUCTURE</a:t>
            </a:r>
          </a:p>
        </p:txBody>
      </p:sp>
      <p:sp>
        <p:nvSpPr>
          <p:cNvPr id="5" name="">
            <a:extLst xmlns:a="http://schemas.openxmlformats.org/drawingml/2006/main">
              <a:ext uri="{FF2B5EF4-FFF2-40B4-BE49-F238E27FC236}">
                <a16:creationId xmlns:a16="http://schemas.microsoft.com/office/drawing/2014/main" id="{4B81DA77-DE6F-4B5C-879A-BD8AA67B117B}"/>
              </a:ext>
            </a:extLst>
          </p:cNvPr>
          <p:cNvSpPr>
            <a:spLocks xmlns:a="http://schemas.openxmlformats.org/drawingml/2006/main" noGrp="1"/>
          </p:cNvSpPr>
          <p:nvPr/>
        </p:nvSpPr>
        <p:spPr>
          <a:xfrm xmlns:a="http://schemas.openxmlformats.org/drawingml/2006/main">
            <a:off x="609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D860744-8ABA-4FB8-922D-BA769979042A}"/>
              </a:ext>
            </a:extLst>
          </p:cNvPr>
          <p:cNvSpPr>
            <a:spLocks xmlns:a="http://schemas.openxmlformats.org/drawingml/2006/main" noGrp="1"/>
          </p:cNvSpPr>
          <p:nvPr/>
        </p:nvSpPr>
        <p:spPr>
          <a:xfrm xmlns:a="http://schemas.openxmlformats.org/drawingml/2006/main">
            <a:off x="847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RabbitMQ et MySQL restent des points uniques de panne</a:t>
            </a:r>
          </a:p>
        </p:txBody>
      </p:sp>
      <p:sp>
        <p:nvSpPr>
          <p:cNvPr id="7" name="">
            <a:extLst xmlns:a="http://schemas.openxmlformats.org/drawingml/2006/main">
              <a:ext uri="{FF2B5EF4-FFF2-40B4-BE49-F238E27FC236}">
                <a16:creationId xmlns:a16="http://schemas.microsoft.com/office/drawing/2014/main" id="{91645606-F583-43B7-83F9-DB0737EA75E0}"/>
              </a:ext>
            </a:extLst>
          </p:cNvPr>
          <p:cNvSpPr>
            <a:spLocks xmlns:a="http://schemas.openxmlformats.org/drawingml/2006/main" noGrp="1"/>
          </p:cNvSpPr>
          <p:nvPr/>
        </p:nvSpPr>
        <p:spPr>
          <a:xfrm xmlns:a="http://schemas.openxmlformats.org/drawingml/2006/main">
            <a:off x="43561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FFB454"/>
                </a:solidFill>
                <a:latin typeface="Arial"/>
                <a:ea typeface="Arial"/>
                <a:cs typeface="Arial"/>
              </a:defRPr>
            </a:pPr>
            <a:r>
              <a:rPr sz="1125" b="1">
                <a:solidFill>
                  <a:srgbClr val="FFB454"/>
                </a:solidFill>
                <a:latin typeface="Arial"/>
                <a:ea typeface="Arial"/>
                <a:cs typeface="Arial"/>
              </a:rPr>
              <a:t>DONNÉES</a:t>
            </a:r>
          </a:p>
        </p:txBody>
      </p:sp>
      <p:sp>
        <p:nvSpPr>
          <p:cNvPr id="8" name="">
            <a:extLst xmlns:a="http://schemas.openxmlformats.org/drawingml/2006/main">
              <a:ext uri="{FF2B5EF4-FFF2-40B4-BE49-F238E27FC236}">
                <a16:creationId xmlns:a16="http://schemas.microsoft.com/office/drawing/2014/main" id="{0B129145-744F-4DA2-8D93-076C4EAC533E}"/>
              </a:ext>
            </a:extLst>
          </p:cNvPr>
          <p:cNvSpPr>
            <a:spLocks xmlns:a="http://schemas.openxmlformats.org/drawingml/2006/main" noGrp="1"/>
          </p:cNvSpPr>
          <p:nvPr/>
        </p:nvSpPr>
        <p:spPr>
          <a:xfrm xmlns:a="http://schemas.openxmlformats.org/drawingml/2006/main">
            <a:off x="43561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C041888-9900-4B1C-ABFE-5EA543F6CC4F}"/>
              </a:ext>
            </a:extLst>
          </p:cNvPr>
          <p:cNvSpPr>
            <a:spLocks xmlns:a="http://schemas.openxmlformats.org/drawingml/2006/main" noGrp="1"/>
          </p:cNvSpPr>
          <p:nvPr/>
        </p:nvSpPr>
        <p:spPr>
          <a:xfrm xmlns:a="http://schemas.openxmlformats.org/drawingml/2006/main">
            <a:off x="45942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Deux RSS et un volume de démonstration limité</a:t>
            </a:r>
          </a:p>
        </p:txBody>
      </p:sp>
      <p:sp>
        <p:nvSpPr>
          <p:cNvPr id="10" name="">
            <a:extLst xmlns:a="http://schemas.openxmlformats.org/drawingml/2006/main">
              <a:ext uri="{FF2B5EF4-FFF2-40B4-BE49-F238E27FC236}">
                <a16:creationId xmlns:a16="http://schemas.microsoft.com/office/drawing/2014/main" id="{A1548186-2EA0-44FC-A8E2-14420E1D8A23}"/>
              </a:ext>
            </a:extLst>
          </p:cNvPr>
          <p:cNvSpPr>
            <a:spLocks xmlns:a="http://schemas.openxmlformats.org/drawingml/2006/main" noGrp="1"/>
          </p:cNvSpPr>
          <p:nvPr/>
        </p:nvSpPr>
        <p:spPr>
          <a:xfrm xmlns:a="http://schemas.openxmlformats.org/drawingml/2006/main">
            <a:off x="8102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438BFF"/>
                </a:solidFill>
                <a:latin typeface="Arial"/>
                <a:ea typeface="Arial"/>
                <a:cs typeface="Arial"/>
              </a:defRPr>
            </a:pPr>
            <a:r>
              <a:rPr sz="1125" b="1">
                <a:solidFill>
                  <a:srgbClr val="438BFF"/>
                </a:solidFill>
                <a:latin typeface="Arial"/>
                <a:ea typeface="Arial"/>
                <a:cs typeface="Arial"/>
              </a:rPr>
              <a:t>ANALYSE</a:t>
            </a:r>
          </a:p>
        </p:txBody>
      </p:sp>
      <p:sp>
        <p:nvSpPr>
          <p:cNvPr id="11" name="">
            <a:extLst xmlns:a="http://schemas.openxmlformats.org/drawingml/2006/main">
              <a:ext uri="{FF2B5EF4-FFF2-40B4-BE49-F238E27FC236}">
                <a16:creationId xmlns:a16="http://schemas.microsoft.com/office/drawing/2014/main" id="{5F96D955-29B7-43CB-9331-AF544EB26026}"/>
              </a:ext>
            </a:extLst>
          </p:cNvPr>
          <p:cNvSpPr>
            <a:spLocks xmlns:a="http://schemas.openxmlformats.org/drawingml/2006/main" noGrp="1"/>
          </p:cNvSpPr>
          <p:nvPr/>
        </p:nvSpPr>
        <p:spPr>
          <a:xfrm xmlns:a="http://schemas.openxmlformats.org/drawingml/2006/main">
            <a:off x="8102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EFA1A52-6B36-4567-A42E-4D631D3AE4DB}"/>
              </a:ext>
            </a:extLst>
          </p:cNvPr>
          <p:cNvSpPr>
            <a:spLocks xmlns:a="http://schemas.openxmlformats.org/drawingml/2006/main" noGrp="1"/>
          </p:cNvSpPr>
          <p:nvPr/>
        </p:nvSpPr>
        <p:spPr>
          <a:xfrm xmlns:a="http://schemas.openxmlformats.org/drawingml/2006/main">
            <a:off x="8340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Le lexique comprend mal le contexte complexe</a:t>
            </a:r>
          </a:p>
        </p:txBody>
      </p:sp>
      <p:sp>
        <p:nvSpPr>
          <p:cNvPr id="13" name="">
            <a:extLst xmlns:a="http://schemas.openxmlformats.org/drawingml/2006/main">
              <a:ext uri="{FF2B5EF4-FFF2-40B4-BE49-F238E27FC236}">
                <a16:creationId xmlns:a16="http://schemas.microsoft.com/office/drawing/2014/main" id="{6B5938FD-9661-48DB-BCAE-6A788EBBD812}"/>
              </a:ext>
            </a:extLst>
          </p:cNvPr>
          <p:cNvSpPr>
            <a:spLocks xmlns:a="http://schemas.openxmlformats.org/drawingml/2006/main" noGrp="1"/>
          </p:cNvSpPr>
          <p:nvPr/>
        </p:nvSpPr>
        <p:spPr>
          <a:xfrm xmlns:a="http://schemas.openxmlformats.org/drawingml/2006/main">
            <a:off x="1285875" y="5381625"/>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9CB1C5"/>
                </a:solidFill>
                <a:latin typeface="Arial"/>
                <a:ea typeface="Arial"/>
                <a:cs typeface="Arial"/>
              </a:defRPr>
            </a:pPr>
            <a:r>
              <a:rPr sz="1725" b="1">
                <a:solidFill>
                  <a:srgbClr val="9CB1C5"/>
                </a:solidFill>
                <a:latin typeface="Arial"/>
                <a:ea typeface="Arial"/>
                <a:cs typeface="Arial"/>
              </a:rPr>
              <a:t>Les limites définissent les prochains tests, pas des promesses</a:t>
            </a:r>
          </a:p>
        </p:txBody>
      </p:sp>
    </p:spTree>
    <p:extLst>
      <p:ext uri="{BB962C8B-B14F-4D97-AF65-F5344CB8AC3E}">
        <p14:creationId xmlns:p14="http://schemas.microsoft.com/office/powerpoint/2010/main" val="1063237984"/>
      </p:ext>
    </p:extLst>
  </p:cSld>
</p:sld>
</file>

<file path=ppt/slides/slide24.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84F4498-D4B8-4470-ACB5-A55BD48DDE61}"/>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Démonstration et trajectoire</a:t>
            </a:r>
          </a:p>
        </p:txBody>
      </p:sp>
      <p:sp>
        <p:nvSpPr>
          <p:cNvPr id="2" name="">
            <a:extLst xmlns:a="http://schemas.openxmlformats.org/drawingml/2006/main">
              <a:ext uri="{FF2B5EF4-FFF2-40B4-BE49-F238E27FC236}">
                <a16:creationId xmlns:a16="http://schemas.microsoft.com/office/drawing/2014/main" id="{1272CDBA-58CD-4168-B959-0594715381DF}"/>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24</a:t>
            </a:r>
          </a:p>
        </p:txBody>
      </p:sp>
      <p:sp>
        <p:nvSpPr>
          <p:cNvPr id="3" name="">
            <a:extLst xmlns:a="http://schemas.openxmlformats.org/drawingml/2006/main">
              <a:ext uri="{FF2B5EF4-FFF2-40B4-BE49-F238E27FC236}">
                <a16:creationId xmlns:a16="http://schemas.microsoft.com/office/drawing/2014/main" id="{71F95388-6D36-47E1-9059-67C6D5FEF12F}"/>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096828E-131C-4A1D-A3CB-4D7896BC283E}"/>
              </a:ext>
            </a:extLst>
          </p:cNvPr>
          <p:cNvSpPr>
            <a:spLocks xmlns:a="http://schemas.openxmlformats.org/drawingml/2006/main" noGrp="1"/>
          </p:cNvSpPr>
          <p:nvPr/>
        </p:nvSpPr>
        <p:spPr>
          <a:xfrm xmlns:a="http://schemas.openxmlformats.org/drawingml/2006/main">
            <a:off x="609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ED3C6"/>
                </a:solidFill>
                <a:latin typeface="Arial"/>
                <a:ea typeface="Arial"/>
                <a:cs typeface="Arial"/>
              </a:defRPr>
            </a:pPr>
            <a:r>
              <a:rPr sz="1125" b="1">
                <a:solidFill>
                  <a:srgbClr val="2ED3C6"/>
                </a:solidFill>
                <a:latin typeface="Arial"/>
                <a:ea typeface="Arial"/>
                <a:cs typeface="Arial"/>
              </a:rPr>
              <a:t>MAINTENANT</a:t>
            </a:r>
          </a:p>
        </p:txBody>
      </p:sp>
      <p:sp>
        <p:nvSpPr>
          <p:cNvPr id="5" name="">
            <a:extLst xmlns:a="http://schemas.openxmlformats.org/drawingml/2006/main">
              <a:ext uri="{FF2B5EF4-FFF2-40B4-BE49-F238E27FC236}">
                <a16:creationId xmlns:a16="http://schemas.microsoft.com/office/drawing/2014/main" id="{B577BE6B-80BF-472D-8699-E7A50740D115}"/>
              </a:ext>
            </a:extLst>
          </p:cNvPr>
          <p:cNvSpPr>
            <a:spLocks xmlns:a="http://schemas.openxmlformats.org/drawingml/2006/main" noGrp="1"/>
          </p:cNvSpPr>
          <p:nvPr/>
        </p:nvSpPr>
        <p:spPr>
          <a:xfrm xmlns:a="http://schemas.openxmlformats.org/drawingml/2006/main">
            <a:off x="609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05E0278-77D8-4CAB-965C-A43D90B5538C}"/>
              </a:ext>
            </a:extLst>
          </p:cNvPr>
          <p:cNvSpPr>
            <a:spLocks xmlns:a="http://schemas.openxmlformats.org/drawingml/2006/main" noGrp="1"/>
          </p:cNvSpPr>
          <p:nvPr/>
        </p:nvSpPr>
        <p:spPr>
          <a:xfrm xmlns:a="http://schemas.openxmlformats.org/drawingml/2006/main">
            <a:off x="847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Services actifs</a:t>
            </a:r>
          </a:p>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Queues et DLQ</a:t>
            </a:r>
          </a:p>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Dashboard Grafana</a:t>
            </a:r>
          </a:p>
        </p:txBody>
      </p:sp>
      <p:sp>
        <p:nvSpPr>
          <p:cNvPr id="7" name="">
            <a:extLst xmlns:a="http://schemas.openxmlformats.org/drawingml/2006/main">
              <a:ext uri="{FF2B5EF4-FFF2-40B4-BE49-F238E27FC236}">
                <a16:creationId xmlns:a16="http://schemas.microsoft.com/office/drawing/2014/main" id="{F600E4E7-E532-48C7-880E-2E2CAB2C1578}"/>
              </a:ext>
            </a:extLst>
          </p:cNvPr>
          <p:cNvSpPr>
            <a:spLocks xmlns:a="http://schemas.openxmlformats.org/drawingml/2006/main" noGrp="1"/>
          </p:cNvSpPr>
          <p:nvPr/>
        </p:nvSpPr>
        <p:spPr>
          <a:xfrm xmlns:a="http://schemas.openxmlformats.org/drawingml/2006/main">
            <a:off x="43561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438BFF"/>
                </a:solidFill>
                <a:latin typeface="Arial"/>
                <a:ea typeface="Arial"/>
                <a:cs typeface="Arial"/>
              </a:defRPr>
            </a:pPr>
            <a:r>
              <a:rPr sz="1125" b="1">
                <a:solidFill>
                  <a:srgbClr val="438BFF"/>
                </a:solidFill>
                <a:latin typeface="Arial"/>
                <a:ea typeface="Arial"/>
                <a:cs typeface="Arial"/>
              </a:rPr>
              <a:t>MONTÉE EN CHARGE</a:t>
            </a:r>
          </a:p>
        </p:txBody>
      </p:sp>
      <p:sp>
        <p:nvSpPr>
          <p:cNvPr id="8" name="">
            <a:extLst xmlns:a="http://schemas.openxmlformats.org/drawingml/2006/main">
              <a:ext uri="{FF2B5EF4-FFF2-40B4-BE49-F238E27FC236}">
                <a16:creationId xmlns:a16="http://schemas.microsoft.com/office/drawing/2014/main" id="{360AD11F-87F0-4D22-999C-1622C69E70B6}"/>
              </a:ext>
            </a:extLst>
          </p:cNvPr>
          <p:cNvSpPr>
            <a:spLocks xmlns:a="http://schemas.openxmlformats.org/drawingml/2006/main" noGrp="1"/>
          </p:cNvSpPr>
          <p:nvPr/>
        </p:nvSpPr>
        <p:spPr>
          <a:xfrm xmlns:a="http://schemas.openxmlformats.org/drawingml/2006/main">
            <a:off x="43561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D1FF954-E59B-4265-89E3-73D9B035AA7F}"/>
              </a:ext>
            </a:extLst>
          </p:cNvPr>
          <p:cNvSpPr>
            <a:spLocks xmlns:a="http://schemas.openxmlformats.org/drawingml/2006/main" noGrp="1"/>
          </p:cNvSpPr>
          <p:nvPr/>
        </p:nvSpPr>
        <p:spPr>
          <a:xfrm xmlns:a="http://schemas.openxmlformats.org/drawingml/2006/main">
            <a:off x="45942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Trois workers Analytics</a:t>
            </a:r>
          </a:p>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Répartition des consumers</a:t>
            </a:r>
          </a:p>
        </p:txBody>
      </p:sp>
      <p:sp>
        <p:nvSpPr>
          <p:cNvPr id="10" name="">
            <a:extLst xmlns:a="http://schemas.openxmlformats.org/drawingml/2006/main">
              <a:ext uri="{FF2B5EF4-FFF2-40B4-BE49-F238E27FC236}">
                <a16:creationId xmlns:a16="http://schemas.microsoft.com/office/drawing/2014/main" id="{3D586A3D-FF89-49A1-8381-BAE662C04C9A}"/>
              </a:ext>
            </a:extLst>
          </p:cNvPr>
          <p:cNvSpPr>
            <a:spLocks xmlns:a="http://schemas.openxmlformats.org/drawingml/2006/main" noGrp="1"/>
          </p:cNvSpPr>
          <p:nvPr/>
        </p:nvSpPr>
        <p:spPr>
          <a:xfrm xmlns:a="http://schemas.openxmlformats.org/drawingml/2006/main">
            <a:off x="8102600" y="1571625"/>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FFB454"/>
                </a:solidFill>
                <a:latin typeface="Arial"/>
                <a:ea typeface="Arial"/>
                <a:cs typeface="Arial"/>
              </a:defRPr>
            </a:pPr>
            <a:r>
              <a:rPr sz="1125" b="1">
                <a:solidFill>
                  <a:srgbClr val="FFB454"/>
                </a:solidFill>
                <a:latin typeface="Arial"/>
                <a:ea typeface="Arial"/>
                <a:cs typeface="Arial"/>
              </a:rPr>
              <a:t>ÉTAPE SUIVANTE</a:t>
            </a:r>
          </a:p>
        </p:txBody>
      </p:sp>
      <p:sp>
        <p:nvSpPr>
          <p:cNvPr id="11" name="">
            <a:extLst xmlns:a="http://schemas.openxmlformats.org/drawingml/2006/main">
              <a:ext uri="{FF2B5EF4-FFF2-40B4-BE49-F238E27FC236}">
                <a16:creationId xmlns:a16="http://schemas.microsoft.com/office/drawing/2014/main" id="{60159998-BB33-4B8C-9DF5-0972DAF74FB2}"/>
              </a:ext>
            </a:extLst>
          </p:cNvPr>
          <p:cNvSpPr>
            <a:spLocks xmlns:a="http://schemas.openxmlformats.org/drawingml/2006/main" noGrp="1"/>
          </p:cNvSpPr>
          <p:nvPr/>
        </p:nvSpPr>
        <p:spPr>
          <a:xfrm xmlns:a="http://schemas.openxmlformats.org/drawingml/2006/main">
            <a:off x="8102600" y="1971675"/>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19C3924-F813-4768-8614-3D8B0B52B627}"/>
              </a:ext>
            </a:extLst>
          </p:cNvPr>
          <p:cNvSpPr>
            <a:spLocks xmlns:a="http://schemas.openxmlformats.org/drawingml/2006/main" noGrp="1"/>
          </p:cNvSpPr>
          <p:nvPr/>
        </p:nvSpPr>
        <p:spPr>
          <a:xfrm xmlns:a="http://schemas.openxmlformats.org/drawingml/2006/main">
            <a:off x="8340725" y="2190750"/>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Générateur de charge</a:t>
            </a:r>
          </a:p>
          <a:p xmlns:a="http://schemas.openxmlformats.org/drawingml/2006/main">
            <a:pPr algn="l">
              <a:defRPr sz="1650" b="0">
                <a:solidFill>
                  <a:srgbClr val="EEF6FF"/>
                </a:solidFill>
                <a:latin typeface="Arial"/>
                <a:ea typeface="Arial"/>
                <a:cs typeface="Arial"/>
              </a:defRPr>
            </a:pPr>
            <a:r>
              <a:rPr sz="1650" b="0">
                <a:solidFill>
                  <a:srgbClr val="EEF6FF"/>
                </a:solidFill>
                <a:latin typeface="Arial"/>
                <a:ea typeface="Arial"/>
                <a:cs typeface="Arial"/>
              </a:rPr>
              <a:t>Mesures comparatives</a:t>
            </a:r>
          </a:p>
        </p:txBody>
      </p:sp>
      <p:sp>
        <p:nvSpPr>
          <p:cNvPr id="13" name="">
            <a:extLst xmlns:a="http://schemas.openxmlformats.org/drawingml/2006/main">
              <a:ext uri="{FF2B5EF4-FFF2-40B4-BE49-F238E27FC236}">
                <a16:creationId xmlns:a16="http://schemas.microsoft.com/office/drawing/2014/main" id="{825C8F9E-ABEB-4E9C-BE15-6FEF7A8AC647}"/>
              </a:ext>
            </a:extLst>
          </p:cNvPr>
          <p:cNvSpPr>
            <a:spLocks xmlns:a="http://schemas.openxmlformats.org/drawingml/2006/main" noGrp="1"/>
          </p:cNvSpPr>
          <p:nvPr/>
        </p:nvSpPr>
        <p:spPr>
          <a:xfrm xmlns:a="http://schemas.openxmlformats.org/drawingml/2006/main">
            <a:off x="1428750" y="53816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EEF6FF"/>
                </a:solidFill>
                <a:latin typeface="Arial"/>
                <a:ea typeface="Arial"/>
                <a:cs typeface="Arial"/>
              </a:defRPr>
            </a:pPr>
            <a:r>
              <a:rPr sz="1725" b="1">
                <a:solidFill>
                  <a:srgbClr val="EEF6FF"/>
                </a:solidFill>
                <a:latin typeface="Arial"/>
                <a:ea typeface="Arial"/>
                <a:cs typeface="Arial"/>
              </a:rPr>
              <a:t>Plan B : captures RabbitMQ et Grafana disponibles hors ligne</a:t>
            </a:r>
          </a:p>
        </p:txBody>
      </p:sp>
    </p:spTree>
    <p:extLst>
      <p:ext uri="{BB962C8B-B14F-4D97-AF65-F5344CB8AC3E}">
        <p14:creationId xmlns:p14="http://schemas.microsoft.com/office/powerpoint/2010/main" val="2067882318"/>
      </p:ext>
    </p:extLst>
  </p:cSld>
</p:sld>
</file>

<file path=ppt/slides/slide25.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90A4EEC-FDD7-4BDF-91B2-B65DF2FE28F3}"/>
              </a:ext>
            </a:extLst>
          </p:cNvPr>
          <p:cNvSpPr>
            <a:spLocks xmlns:a="http://schemas.openxmlformats.org/drawingml/2006/main" noGrp="1"/>
          </p:cNvSpPr>
          <p:nvPr/>
        </p:nvSpPr>
        <p:spPr>
          <a:xfrm xmlns:a="http://schemas.openxmlformats.org/drawingml/2006/main">
            <a:off x="609600" y="333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EEF6FF"/>
                </a:solidFill>
                <a:latin typeface="Arial"/>
                <a:ea typeface="Arial"/>
                <a:cs typeface="Arial"/>
              </a:defRPr>
            </a:pPr>
            <a:r>
              <a:rPr sz="2550" b="1">
                <a:solidFill>
                  <a:srgbClr val="EEF6FF"/>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6DE34DFF-AE22-45D8-A166-1DE2ED5DAEC8}"/>
              </a:ext>
            </a:extLst>
          </p:cNvPr>
          <p:cNvSpPr>
            <a:spLocks xmlns:a="http://schemas.openxmlformats.org/drawingml/2006/main" noGrp="1"/>
          </p:cNvSpPr>
          <p:nvPr/>
        </p:nvSpPr>
        <p:spPr>
          <a:xfrm xmlns:a="http://schemas.openxmlformats.org/drawingml/2006/main">
            <a:off x="11049000" y="42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9CB1C5"/>
                </a:solidFill>
                <a:latin typeface="Arial"/>
                <a:ea typeface="Arial"/>
                <a:cs typeface="Arial"/>
              </a:defRPr>
            </a:pPr>
            <a:r>
              <a:rPr sz="1200" b="1">
                <a:solidFill>
                  <a:srgbClr val="9CB1C5"/>
                </a:solidFill>
                <a:latin typeface="Arial"/>
                <a:ea typeface="Arial"/>
                <a:cs typeface="Arial"/>
              </a:rPr>
              <a:t>25</a:t>
            </a:r>
          </a:p>
        </p:txBody>
      </p:sp>
      <p:sp>
        <p:nvSpPr>
          <p:cNvPr id="3" name="">
            <a:extLst xmlns:a="http://schemas.openxmlformats.org/drawingml/2006/main">
              <a:ext uri="{FF2B5EF4-FFF2-40B4-BE49-F238E27FC236}">
                <a16:creationId xmlns:a16="http://schemas.microsoft.com/office/drawing/2014/main" id="{210E4C04-B81D-4F17-B0FB-E9FE0E124E34}"/>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438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78FB101-4156-4193-B88A-601B96F92733}"/>
              </a:ext>
            </a:extLst>
          </p:cNvPr>
          <p:cNvSpPr>
            <a:spLocks xmlns:a="http://schemas.openxmlformats.org/drawingml/2006/main" noGrp="1"/>
          </p:cNvSpPr>
          <p:nvPr/>
        </p:nvSpPr>
        <p:spPr>
          <a:xfrm xmlns:a="http://schemas.openxmlformats.org/drawingml/2006/main">
            <a:off x="952500" y="14287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850" b="1">
                <a:solidFill>
                  <a:srgbClr val="EEF6FF"/>
                </a:solidFill>
                <a:latin typeface="Arial"/>
                <a:ea typeface="Arial"/>
                <a:cs typeface="Arial"/>
              </a:defRPr>
            </a:pPr>
            <a:r>
              <a:rPr sz="2850" b="1">
                <a:solidFill>
                  <a:srgbClr val="EEF6FF"/>
                </a:solidFill>
                <a:latin typeface="Arial"/>
                <a:ea typeface="Arial"/>
                <a:cs typeface="Arial"/>
              </a:rPr>
              <a:t>Un flux continu devenu observable et maîtrisable</a:t>
            </a:r>
          </a:p>
        </p:txBody>
      </p:sp>
      <p:sp>
        <p:nvSpPr>
          <p:cNvPr id="5" name="">
            <a:extLst xmlns:a="http://schemas.openxmlformats.org/drawingml/2006/main">
              <a:ext uri="{FF2B5EF4-FFF2-40B4-BE49-F238E27FC236}">
                <a16:creationId xmlns:a16="http://schemas.microsoft.com/office/drawing/2014/main" id="{794658B6-883D-4711-9460-552E0CD08F6A}"/>
              </a:ext>
            </a:extLst>
          </p:cNvPr>
          <p:cNvSpPr>
            <a:spLocks xmlns:a="http://schemas.openxmlformats.org/drawingml/2006/main" noGrp="1"/>
          </p:cNvSpPr>
          <p:nvPr/>
        </p:nvSpPr>
        <p:spPr>
          <a:xfrm xmlns:a="http://schemas.openxmlformats.org/drawingml/2006/main">
            <a:off x="609600" y="2667000"/>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2ED3C6"/>
                </a:solidFill>
                <a:latin typeface="Arial"/>
                <a:ea typeface="Arial"/>
                <a:cs typeface="Arial"/>
              </a:defRPr>
            </a:pPr>
            <a:r>
              <a:rPr sz="1125" b="1">
                <a:solidFill>
                  <a:srgbClr val="2ED3C6"/>
                </a:solidFill>
                <a:latin typeface="Arial"/>
                <a:ea typeface="Arial"/>
                <a:cs typeface="Arial"/>
              </a:rPr>
              <a:t>FIABLE</a:t>
            </a:r>
          </a:p>
        </p:txBody>
      </p:sp>
      <p:sp>
        <p:nvSpPr>
          <p:cNvPr id="6" name="">
            <a:extLst xmlns:a="http://schemas.openxmlformats.org/drawingml/2006/main">
              <a:ext uri="{FF2B5EF4-FFF2-40B4-BE49-F238E27FC236}">
                <a16:creationId xmlns:a16="http://schemas.microsoft.com/office/drawing/2014/main" id="{E33BD3AC-A9BE-4B54-BE44-C3AF1F4BDDDE}"/>
              </a:ext>
            </a:extLst>
          </p:cNvPr>
          <p:cNvSpPr>
            <a:spLocks xmlns:a="http://schemas.openxmlformats.org/drawingml/2006/main" noGrp="1"/>
          </p:cNvSpPr>
          <p:nvPr/>
        </p:nvSpPr>
        <p:spPr>
          <a:xfrm xmlns:a="http://schemas.openxmlformats.org/drawingml/2006/main">
            <a:off x="609600" y="3067050"/>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061B55F-BCD2-4C14-93E1-D82FACDEF747}"/>
              </a:ext>
            </a:extLst>
          </p:cNvPr>
          <p:cNvSpPr>
            <a:spLocks xmlns:a="http://schemas.openxmlformats.org/drawingml/2006/main" noGrp="1"/>
          </p:cNvSpPr>
          <p:nvPr/>
        </p:nvSpPr>
        <p:spPr>
          <a:xfrm xmlns:a="http://schemas.openxmlformats.org/drawingml/2006/main">
            <a:off x="847725" y="3286125"/>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ACK, idempotence et dead-letter queues</a:t>
            </a:r>
          </a:p>
        </p:txBody>
      </p:sp>
      <p:sp>
        <p:nvSpPr>
          <p:cNvPr id="8" name="">
            <a:extLst xmlns:a="http://schemas.openxmlformats.org/drawingml/2006/main">
              <a:ext uri="{FF2B5EF4-FFF2-40B4-BE49-F238E27FC236}">
                <a16:creationId xmlns:a16="http://schemas.microsoft.com/office/drawing/2014/main" id="{B73755BB-D4E7-418C-8D46-04B06886EE16}"/>
              </a:ext>
            </a:extLst>
          </p:cNvPr>
          <p:cNvSpPr>
            <a:spLocks xmlns:a="http://schemas.openxmlformats.org/drawingml/2006/main" noGrp="1"/>
          </p:cNvSpPr>
          <p:nvPr/>
        </p:nvSpPr>
        <p:spPr>
          <a:xfrm xmlns:a="http://schemas.openxmlformats.org/drawingml/2006/main">
            <a:off x="4356100" y="2667000"/>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438BFF"/>
                </a:solidFill>
                <a:latin typeface="Arial"/>
                <a:ea typeface="Arial"/>
                <a:cs typeface="Arial"/>
              </a:defRPr>
            </a:pPr>
            <a:r>
              <a:rPr sz="1125" b="1">
                <a:solidFill>
                  <a:srgbClr val="438BFF"/>
                </a:solidFill>
                <a:latin typeface="Arial"/>
                <a:ea typeface="Arial"/>
                <a:cs typeface="Arial"/>
              </a:rPr>
              <a:t>EXTENSIBLE</a:t>
            </a:r>
          </a:p>
        </p:txBody>
      </p:sp>
      <p:sp>
        <p:nvSpPr>
          <p:cNvPr id="9" name="">
            <a:extLst xmlns:a="http://schemas.openxmlformats.org/drawingml/2006/main">
              <a:ext uri="{FF2B5EF4-FFF2-40B4-BE49-F238E27FC236}">
                <a16:creationId xmlns:a16="http://schemas.microsoft.com/office/drawing/2014/main" id="{2C7B5C38-98D7-4E0E-B722-0372D3F718B4}"/>
              </a:ext>
            </a:extLst>
          </p:cNvPr>
          <p:cNvSpPr>
            <a:spLocks xmlns:a="http://schemas.openxmlformats.org/drawingml/2006/main" noGrp="1"/>
          </p:cNvSpPr>
          <p:nvPr/>
        </p:nvSpPr>
        <p:spPr>
          <a:xfrm xmlns:a="http://schemas.openxmlformats.org/drawingml/2006/main">
            <a:off x="4356100" y="3067050"/>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29FAE13-E017-4F1C-83CA-758CD629DDA7}"/>
              </a:ext>
            </a:extLst>
          </p:cNvPr>
          <p:cNvSpPr>
            <a:spLocks xmlns:a="http://schemas.openxmlformats.org/drawingml/2006/main" noGrp="1"/>
          </p:cNvSpPr>
          <p:nvPr/>
        </p:nvSpPr>
        <p:spPr>
          <a:xfrm xmlns:a="http://schemas.openxmlformats.org/drawingml/2006/main">
            <a:off x="4594225" y="3286125"/>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Services découplés et Analytics réplicable</a:t>
            </a:r>
          </a:p>
        </p:txBody>
      </p:sp>
      <p:sp>
        <p:nvSpPr>
          <p:cNvPr id="11" name="">
            <a:extLst xmlns:a="http://schemas.openxmlformats.org/drawingml/2006/main">
              <a:ext uri="{FF2B5EF4-FFF2-40B4-BE49-F238E27FC236}">
                <a16:creationId xmlns:a16="http://schemas.microsoft.com/office/drawing/2014/main" id="{40282003-B124-4788-8C47-F0D8B62D9C3F}"/>
              </a:ext>
            </a:extLst>
          </p:cNvPr>
          <p:cNvSpPr>
            <a:spLocks xmlns:a="http://schemas.openxmlformats.org/drawingml/2006/main" noGrp="1"/>
          </p:cNvSpPr>
          <p:nvPr/>
        </p:nvSpPr>
        <p:spPr>
          <a:xfrm xmlns:a="http://schemas.openxmlformats.org/drawingml/2006/main">
            <a:off x="8102600" y="2667000"/>
            <a:ext cx="3479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1">
                <a:solidFill>
                  <a:srgbClr val="FFB454"/>
                </a:solidFill>
                <a:latin typeface="Arial"/>
                <a:ea typeface="Arial"/>
                <a:cs typeface="Arial"/>
              </a:defRPr>
            </a:pPr>
            <a:r>
              <a:rPr sz="1125" b="1">
                <a:solidFill>
                  <a:srgbClr val="FFB454"/>
                </a:solidFill>
                <a:latin typeface="Arial"/>
                <a:ea typeface="Arial"/>
                <a:cs typeface="Arial"/>
              </a:rPr>
              <a:t>LUCIDE</a:t>
            </a:r>
          </a:p>
        </p:txBody>
      </p:sp>
      <p:sp>
        <p:nvSpPr>
          <p:cNvPr id="12" name="">
            <a:extLst xmlns:a="http://schemas.openxmlformats.org/drawingml/2006/main">
              <a:ext uri="{FF2B5EF4-FFF2-40B4-BE49-F238E27FC236}">
                <a16:creationId xmlns:a16="http://schemas.microsoft.com/office/drawing/2014/main" id="{C850D34C-630C-41EC-B494-76CF2FA4D7D9}"/>
              </a:ext>
            </a:extLst>
          </p:cNvPr>
          <p:cNvSpPr>
            <a:spLocks xmlns:a="http://schemas.openxmlformats.org/drawingml/2006/main" noGrp="1"/>
          </p:cNvSpPr>
          <p:nvPr/>
        </p:nvSpPr>
        <p:spPr>
          <a:xfrm xmlns:a="http://schemas.openxmlformats.org/drawingml/2006/main">
            <a:off x="8102600" y="3067050"/>
            <a:ext cx="3479800" cy="2571750"/>
          </a:xfrm>
          <a:prstGeom xmlns:a="http://schemas.openxmlformats.org/drawingml/2006/main" prst="roundRect">
            <a:avLst>
              <a:gd name="adj" fmla="val 2963"/>
            </a:avLst>
          </a:prstGeom>
          <a:solidFill xmlns:a="http://schemas.openxmlformats.org/drawingml/2006/main">
            <a:srgbClr val="10263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B53A072-CBFB-4CFB-BFA6-65E869DBDA9D}"/>
              </a:ext>
            </a:extLst>
          </p:cNvPr>
          <p:cNvSpPr>
            <a:spLocks xmlns:a="http://schemas.openxmlformats.org/drawingml/2006/main" noGrp="1"/>
          </p:cNvSpPr>
          <p:nvPr/>
        </p:nvSpPr>
        <p:spPr>
          <a:xfrm xmlns:a="http://schemas.openxmlformats.org/drawingml/2006/main">
            <a:off x="8340725" y="3286125"/>
            <a:ext cx="30035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EF6FF"/>
                </a:solidFill>
                <a:latin typeface="Arial"/>
                <a:ea typeface="Arial"/>
                <a:cs typeface="Arial"/>
              </a:defRPr>
            </a:pPr>
            <a:r>
              <a:rPr sz="1650" b="1">
                <a:solidFill>
                  <a:srgbClr val="EEF6FF"/>
                </a:solidFill>
                <a:latin typeface="Arial"/>
                <a:ea typeface="Arial"/>
                <a:cs typeface="Arial"/>
              </a:rPr>
              <a:t>Volume limité et seuils à mesurer</a:t>
            </a:r>
          </a:p>
        </p:txBody>
      </p:sp>
      <p:sp>
        <p:nvSpPr>
          <p:cNvPr id="14" name="">
            <a:extLst xmlns:a="http://schemas.openxmlformats.org/drawingml/2006/main">
              <a:ext uri="{FF2B5EF4-FFF2-40B4-BE49-F238E27FC236}">
                <a16:creationId xmlns:a16="http://schemas.microsoft.com/office/drawing/2014/main" id="{B27EB97D-E1B2-41AE-861E-248AB67904AF}"/>
              </a:ext>
            </a:extLst>
          </p:cNvPr>
          <p:cNvSpPr>
            <a:spLocks xmlns:a="http://schemas.openxmlformats.org/drawingml/2006/main" noGrp="1"/>
          </p:cNvSpPr>
          <p:nvPr/>
        </p:nvSpPr>
        <p:spPr>
          <a:xfrm xmlns:a="http://schemas.openxmlformats.org/drawingml/2006/main">
            <a:off x="4333875" y="595312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lgn="ctr">
              <a:defRPr sz="1800" b="1">
                <a:solidFill>
                  <a:srgbClr val="9CB1C5"/>
                </a:solidFill>
                <a:latin typeface="Arial"/>
                <a:ea typeface="Arial"/>
                <a:cs typeface="Arial"/>
              </a:defRPr>
            </a:pPr>
            <a:r>
              <a:rPr sz="1800" b="1">
                <a:solidFill>
                  <a:srgbClr val="9CB1C5"/>
                </a:solidFill>
                <a:latin typeface="Arial"/>
                <a:ea typeface="Arial"/>
                <a:cs typeface="Arial"/>
              </a:rPr>
              <a:t>Questions</a:t>
            </a:r>
          </a:p>
        </p:txBody>
      </p:sp>
    </p:spTree>
    <p:extLst>
      <p:ext uri="{BB962C8B-B14F-4D97-AF65-F5344CB8AC3E}">
        <p14:creationId xmlns:p14="http://schemas.microsoft.com/office/powerpoint/2010/main" val="15185467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2026-09-09T10:33:49.4650000Z</dcterms:created>
  <dcterms:modified xsi:type="dcterms:W3CDTF">2026-09-09T10:33:49.4650000Z</dcterms:modified>
</coreProperties>
</file>