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cae43842c8431c" /><Relationship Type="http://schemas.openxmlformats.org/officeDocument/2006/relationships/extended-properties" Target="/docProps/app.xml" Id="Rf3c4e57639414a14" /><Relationship Type="http://schemas.openxmlformats.org/officeDocument/2006/relationships/officeDocument" Target="/ppt/presentation.xml" Id="Rfa466100f39140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96d192306b4b01"/>
  </p:sldMasterIdLst>
  <p:notesMasterIdLst>
    <p:notesMasterId xmlns:r="http://schemas.openxmlformats.org/officeDocument/2006/relationships" r:id="R79346a763de54a9e"/>
  </p:notesMasterIdLst>
  <p:sldIdLst>
    <p:sldId xmlns:r="http://schemas.openxmlformats.org/officeDocument/2006/relationships" id="256" r:id="Rd5f6c7f785bc46a5"/>
    <p:sldId xmlns:r="http://schemas.openxmlformats.org/officeDocument/2006/relationships" id="257" r:id="R527a042e8c484262"/>
    <p:sldId xmlns:r="http://schemas.openxmlformats.org/officeDocument/2006/relationships" id="258" r:id="R36c69f3a31ca49c1"/>
    <p:sldId xmlns:r="http://schemas.openxmlformats.org/officeDocument/2006/relationships" id="259" r:id="R478bccfbaec74b5a"/>
    <p:sldId xmlns:r="http://schemas.openxmlformats.org/officeDocument/2006/relationships" id="260" r:id="R202cafe8451646b0"/>
    <p:sldId xmlns:r="http://schemas.openxmlformats.org/officeDocument/2006/relationships" id="261" r:id="R9206ffd9b9424a3a"/>
    <p:sldId xmlns:r="http://schemas.openxmlformats.org/officeDocument/2006/relationships" id="262" r:id="R4f1898b0e87b4ed7"/>
    <p:sldId xmlns:r="http://schemas.openxmlformats.org/officeDocument/2006/relationships" id="263" r:id="R7b020143a7194717"/>
    <p:sldId xmlns:r="http://schemas.openxmlformats.org/officeDocument/2006/relationships" id="264" r:id="Rbc5b74ca69044ca6"/>
    <p:sldId xmlns:r="http://schemas.openxmlformats.org/officeDocument/2006/relationships" id="265" r:id="Rd7263f08ece34047"/>
    <p:sldId xmlns:r="http://schemas.openxmlformats.org/officeDocument/2006/relationships" id="266" r:id="R5705dfbf2c6b4b60"/>
    <p:sldId xmlns:r="http://schemas.openxmlformats.org/officeDocument/2006/relationships" id="267" r:id="Rcd4e432942614141"/>
    <p:sldId xmlns:r="http://schemas.openxmlformats.org/officeDocument/2006/relationships" id="268" r:id="Ra042391ec7304a29"/>
    <p:sldId xmlns:r="http://schemas.openxmlformats.org/officeDocument/2006/relationships" id="269" r:id="R61e308bf217a46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3b0fef613d4e4d" /><Relationship Type="http://schemas.openxmlformats.org/officeDocument/2006/relationships/slideMaster" Target="/ppt/slideMasters/slideMaster1.xml" Id="R8396d192306b4b01" /><Relationship Type="http://schemas.openxmlformats.org/officeDocument/2006/relationships/notesMaster" Target="/ppt/notesMasters/notesMaster1.xml" Id="R79346a763de54a9e" /><Relationship Type="http://schemas.openxmlformats.org/officeDocument/2006/relationships/presProps" Target="/ppt/presProps.xml" Id="R9a2892c70f9248b1" /><Relationship Type="http://schemas.openxmlformats.org/officeDocument/2006/relationships/tableStyles" Target="/ppt/tableStyles.xml" Id="R52ffb0c6c01642c4" /><Relationship Type="http://schemas.openxmlformats.org/officeDocument/2006/relationships/slide" Target="/ppt/slides/slide1.xml" Id="Rd5f6c7f785bc46a5" /><Relationship Type="http://schemas.openxmlformats.org/officeDocument/2006/relationships/slide" Target="/ppt/slides/slide2.xml" Id="R527a042e8c484262" /><Relationship Type="http://schemas.openxmlformats.org/officeDocument/2006/relationships/slide" Target="/ppt/slides/slide3.xml" Id="R36c69f3a31ca49c1" /><Relationship Type="http://schemas.openxmlformats.org/officeDocument/2006/relationships/slide" Target="/ppt/slides/slide4.xml" Id="R478bccfbaec74b5a" /><Relationship Type="http://schemas.openxmlformats.org/officeDocument/2006/relationships/slide" Target="/ppt/slides/slide5.xml" Id="R202cafe8451646b0" /><Relationship Type="http://schemas.openxmlformats.org/officeDocument/2006/relationships/slide" Target="/ppt/slides/slide6.xml" Id="R9206ffd9b9424a3a" /><Relationship Type="http://schemas.openxmlformats.org/officeDocument/2006/relationships/slide" Target="/ppt/slides/slide7.xml" Id="R4f1898b0e87b4ed7" /><Relationship Type="http://schemas.openxmlformats.org/officeDocument/2006/relationships/slide" Target="/ppt/slides/slide8.xml" Id="R7b020143a7194717" /><Relationship Type="http://schemas.openxmlformats.org/officeDocument/2006/relationships/slide" Target="/ppt/slides/slide9.xml" Id="Rbc5b74ca69044ca6" /><Relationship Type="http://schemas.openxmlformats.org/officeDocument/2006/relationships/slide" Target="/ppt/slides/slide10.xml" Id="Rd7263f08ece34047" /><Relationship Type="http://schemas.openxmlformats.org/officeDocument/2006/relationships/slide" Target="/ppt/slides/slide11.xml" Id="R5705dfbf2c6b4b60" /><Relationship Type="http://schemas.openxmlformats.org/officeDocument/2006/relationships/slide" Target="/ppt/slides/slide12.xml" Id="Rcd4e432942614141" /><Relationship Type="http://schemas.openxmlformats.org/officeDocument/2006/relationships/slide" Target="/ppt/slides/slide13.xml" Id="Ra042391ec7304a29" /><Relationship Type="http://schemas.openxmlformats.org/officeDocument/2006/relationships/slide" Target="/ppt/slides/slide14.xml" Id="R61e308bf217a46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5f5c2229f343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958db684674b94" /><Relationship Type="http://schemas.openxmlformats.org/officeDocument/2006/relationships/notesMaster" Target="/ppt/notesMasters/notesMaster1.xml" Id="R46976b77619a4d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8da2645fac435c" /><Relationship Type="http://schemas.openxmlformats.org/officeDocument/2006/relationships/notesMaster" Target="/ppt/notesMasters/notesMaster1.xml" Id="Ra9299e9ab8944a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778708dbf34f54" /><Relationship Type="http://schemas.openxmlformats.org/officeDocument/2006/relationships/notesMaster" Target="/ppt/notesMasters/notesMaster1.xml" Id="Rfedab996fc0e42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d066ac7c33440b" /><Relationship Type="http://schemas.openxmlformats.org/officeDocument/2006/relationships/notesMaster" Target="/ppt/notesMasters/notesMaster1.xml" Id="Rfac7432eaa9c40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ac1c6440be4cc3" /><Relationship Type="http://schemas.openxmlformats.org/officeDocument/2006/relationships/notesMaster" Target="/ppt/notesMasters/notesMaster1.xml" Id="R4f12c073d8da49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6f5f5a02f34cd7" /><Relationship Type="http://schemas.openxmlformats.org/officeDocument/2006/relationships/notesMaster" Target="/ppt/notesMasters/notesMaster1.xml" Id="R1217051b0d7544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b23fad1cd64779" /><Relationship Type="http://schemas.openxmlformats.org/officeDocument/2006/relationships/notesMaster" Target="/ppt/notesMasters/notesMaster1.xml" Id="Rb35432a59f4a46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7407d41f22456b" /><Relationship Type="http://schemas.openxmlformats.org/officeDocument/2006/relationships/notesMaster" Target="/ppt/notesMasters/notesMaster1.xml" Id="R743159e5552044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3498e5807e4e86" /><Relationship Type="http://schemas.openxmlformats.org/officeDocument/2006/relationships/notesMaster" Target="/ppt/notesMasters/notesMaster1.xml" Id="Rd57f712f18b440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299d647ab24708" /><Relationship Type="http://schemas.openxmlformats.org/officeDocument/2006/relationships/notesMaster" Target="/ppt/notesMasters/notesMaster1.xml" Id="R51936df3548b41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a1b8f98c0148ad" /><Relationship Type="http://schemas.openxmlformats.org/officeDocument/2006/relationships/notesMaster" Target="/ppt/notesMasters/notesMaster1.xml" Id="R2402de35327c49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3b5ba124114266" /><Relationship Type="http://schemas.openxmlformats.org/officeDocument/2006/relationships/notesMaster" Target="/ppt/notesMasters/notesMaster1.xml" Id="R57873cda02bf44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083bc580e5459c" /><Relationship Type="http://schemas.openxmlformats.org/officeDocument/2006/relationships/notesMaster" Target="/ppt/notesMasters/notesMaster1.xml" Id="Ra1e4c9c248ee45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0e7e7bdb50434f" /><Relationship Type="http://schemas.openxmlformats.org/officeDocument/2006/relationships/notesMaster" Target="/ppt/notesMasters/notesMaster1.xml" Id="R106f285dde684e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0 min 40</a:t>
            </a:r>
          </a:p>
          <a:p xmlns:a="http://schemas.openxmlformats.org/drawingml/2006/main">
            <a:r>
              <a:t>Idée principale : Présenter le projet et sa finalité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Nommer la pipeline continue</a:t>
            </a:r>
          </a:p>
          <a:p xmlns:a="http://schemas.openxmlformats.org/drawingml/2006/main">
            <a:r>
              <a:t>- Annoncer la transformation d'actualités en indicateurs temporels</a:t>
            </a:r>
          </a:p>
          <a:p xmlns:a="http://schemas.openxmlformats.org/drawingml/2006/main">
            <a:r>
              <a:t>- Présenter une architecture volontairement simple et extensible</a:t>
            </a:r>
          </a:p>
          <a:p xmlns:a="http://schemas.openxmlformats.org/drawingml/2006/main">
            <a:r>
              <a:t>Termes précis : pipeline, continu, analytics</a:t>
            </a:r>
          </a:p>
          <a:p xmlns:a="http://schemas.openxmlformats.org/drawingml/2006/main">
            <a:r>
              <a:t>Erreur à éviter : Dire que le projet traite déjà des volumes massifs</a:t>
            </a:r>
          </a:p>
          <a:p xmlns:a="http://schemas.openxmlformats.org/drawingml/2006/main">
            <a:r>
              <a:t>Transition : Partons du problème auquel répond cette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20</a:t>
            </a:r>
          </a:p>
          <a:p xmlns:a="http://schemas.openxmlformats.org/drawingml/2006/main">
            <a:r>
              <a:t>Idée principale : Expliquer pourquoi une pipeline continue est utile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Les sources publient sans rythme fixe</a:t>
            </a:r>
          </a:p>
          <a:p xmlns:a="http://schemas.openxmlformats.org/drawingml/2006/main">
            <a:r>
              <a:t>- Le traitement doit découpler arrivée et calcul</a:t>
            </a:r>
          </a:p>
          <a:p xmlns:a="http://schemas.openxmlformats.org/drawingml/2006/main">
            <a:r>
              <a:t>- La visualisation doit conserver la dimension temporelle</a:t>
            </a:r>
          </a:p>
          <a:p xmlns:a="http://schemas.openxmlformats.org/drawingml/2006/main">
            <a:r>
              <a:t>Termes précis : flux, découplage, dimension temporelle</a:t>
            </a:r>
          </a:p>
          <a:p xmlns:a="http://schemas.openxmlformats.org/drawingml/2006/main">
            <a:r>
              <a:t>Erreur à éviter : Présenter RabbitMQ avant d'avoir posé le besoin</a:t>
            </a:r>
          </a:p>
          <a:p xmlns:a="http://schemas.openxmlformats.org/drawingml/2006/main">
            <a:r>
              <a:t>Transition : Ces contraintes deviennent trois objectifs vérifiables.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10</a:t>
            </a:r>
          </a:p>
          <a:p xmlns:a="http://schemas.openxmlformats.org/drawingml/2006/main">
            <a:r>
              <a:t>Idée principale : Relier directement le sujet aux composants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 scraper répond à la collecte continue</a:t>
            </a:r>
          </a:p>
          <a:p xmlns:a="http://schemas.openxmlformats.org/drawingml/2006/main">
            <a:r>
              <a:t>- Analytics répond au traitement continu</a:t>
            </a:r>
          </a:p>
          <a:p xmlns:a="http://schemas.openxmlformats.org/drawingml/2006/main">
            <a:r>
              <a:t>- Grafana répond à la visualisation dynamique et temporelle</a:t>
            </a:r>
          </a:p>
          <a:p xmlns:a="http://schemas.openxmlformats.org/drawingml/2006/main">
            <a:r>
              <a:t>Termes précis : scraper, analytics, viewer</a:t>
            </a:r>
          </a:p>
          <a:p xmlns:a="http://schemas.openxmlformats.org/drawingml/2006/main">
            <a:r>
              <a:t>Erreur à éviter : Ajouter des objectifs absents du sujet</a:t>
            </a:r>
          </a:p>
          <a:p xmlns:a="http://schemas.openxmlformats.org/drawingml/2006/main">
            <a:r>
              <a:t>Transition : L'architecture suivante matérialise ces responsabilités.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2 min</a:t>
            </a:r>
          </a:p>
          <a:p xmlns:a="http://schemas.openxmlformats.org/drawingml/2006/main">
            <a:r>
              <a:t>Idée principale : Faire mémoriser la chaîne complète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Suivre un article de gauche à droite</a:t>
            </a:r>
          </a:p>
          <a:p xmlns:a="http://schemas.openxmlformats.org/drawingml/2006/main">
            <a:r>
              <a:t>- Distinguer les deux passages RabbitMQ</a:t>
            </a:r>
          </a:p>
          <a:p xmlns:a="http://schemas.openxmlformats.org/drawingml/2006/main">
            <a:r>
              <a:t>- Préciser que Storage se situe logiquement entre Analytics et MySQL</a:t>
            </a:r>
          </a:p>
          <a:p xmlns:a="http://schemas.openxmlformats.org/drawingml/2006/main">
            <a:r>
              <a:t>- Expliquer que Grafana lit MySQL sans consommer la queue</a:t>
            </a:r>
          </a:p>
          <a:p xmlns:a="http://schemas.openxmlformats.org/drawingml/2006/main">
            <a:r>
              <a:t>Termes précis : événement, queue, service, requête</a:t>
            </a:r>
          </a:p>
          <a:p xmlns:a="http://schemas.openxmlformats.org/drawingml/2006/main">
            <a:r>
              <a:t>Erreur à éviter : Oublier le Storage Worker</a:t>
            </a:r>
          </a:p>
          <a:p xmlns:a="http://schemas.openxmlformats.org/drawingml/2006/main">
            <a:r>
              <a:t>Transition : Commençons par la création du premier événement.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30</a:t>
            </a:r>
          </a:p>
          <a:p xmlns:a="http://schemas.openxmlformats.org/drawingml/2006/main">
            <a:r>
              <a:t>Idée principale : Expliquer la normalisation et la première production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 scraper lit les deux URL configurables</a:t>
            </a:r>
          </a:p>
          <a:p xmlns:a="http://schemas.openxmlformats.org/drawingml/2006/main">
            <a:r>
              <a:t>- Il rejette les entrées sans URL ou titre</a:t>
            </a:r>
          </a:p>
          <a:p xmlns:a="http://schemas.openxmlformats.org/drawingml/2006/main">
            <a:r>
              <a:t>- Il génère un identifiant déterministe et publie un JSON persistant</a:t>
            </a:r>
          </a:p>
          <a:p xmlns:a="http://schemas.openxmlformats.org/drawingml/2006/main">
            <a:r>
              <a:t>Termes précis : polling, normalisation, SHA-256, JSON</a:t>
            </a:r>
          </a:p>
          <a:p xmlns:a="http://schemas.openxmlformats.org/drawingml/2006/main">
            <a:r>
              <a:t>Erreur à éviter : Confondre collecte et analyse</a:t>
            </a:r>
          </a:p>
          <a:p xmlns:a="http://schemas.openxmlformats.org/drawingml/2006/main">
            <a:r>
              <a:t>Transition : La queue permet ensuite d'absorber les écarts de vitesse.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2 min</a:t>
            </a:r>
          </a:p>
          <a:p xmlns:a="http://schemas.openxmlformats.org/drawingml/2006/main">
            <a:r>
              <a:t>Idée principale : Expliquer livraison, reprise et back-pressure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L'exchange direct par défaut route vers la queue nommée</a:t>
            </a:r>
          </a:p>
          <a:p xmlns:a="http://schemas.openxmlformats.org/drawingml/2006/main">
            <a:r>
              <a:t>- L'ACK arrive seulement après traitement réussi</a:t>
            </a:r>
          </a:p>
          <a:p xmlns:a="http://schemas.openxmlformats.org/drawingml/2006/main">
            <a:r>
              <a:t>- Une redélivraison reste possible, donc Storage doit être idempotent</a:t>
            </a:r>
          </a:p>
          <a:p xmlns:a="http://schemas.openxmlformats.org/drawingml/2006/main">
            <a:r>
              <a:t>- Prefetch borne le travail non confirmé</a:t>
            </a:r>
          </a:p>
          <a:p xmlns:a="http://schemas.openxmlformats.org/drawingml/2006/main">
            <a:r>
              <a:t>Termes précis : durable, persistent, ACK, NACK, prefetch</a:t>
            </a:r>
          </a:p>
          <a:p xmlns:a="http://schemas.openxmlformats.org/drawingml/2006/main">
            <a:r>
              <a:t>Erreur à éviter : Promettre exactement une fois</a:t>
            </a:r>
          </a:p>
          <a:p xmlns:a="http://schemas.openxmlformats.org/drawingml/2006/main">
            <a:r>
              <a:t>Transition : Le consumer suivant transforme l'article brut.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40</a:t>
            </a:r>
          </a:p>
          <a:p xmlns:a="http://schemas.openxmlformats.org/drawingml/2006/main">
            <a:r>
              <a:t>Idée principale : Décrire l'enrichissement sans sur-vendre le NLP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Analytics consomme puis republie</a:t>
            </a:r>
          </a:p>
          <a:p xmlns:a="http://schemas.openxmlformats.org/drawingml/2006/main">
            <a:r>
              <a:t>- Le lexique fournit un score déterministe</a:t>
            </a:r>
          </a:p>
          <a:p xmlns:a="http://schemas.openxmlformats.org/drawingml/2006/main">
            <a:r>
              <a:t>- Les thèmes viennent de mots-clés</a:t>
            </a:r>
          </a:p>
          <a:p xmlns:a="http://schemas.openxmlformats.org/drawingml/2006/main">
            <a:r>
              <a:t>- Une erreur valide provoque un reject, une erreur transitoire une requeue</a:t>
            </a:r>
          </a:p>
          <a:p xmlns:a="http://schemas.openxmlformats.org/drawingml/2006/main">
            <a:r>
              <a:t>Termes précis : enrichissement, score lexical, consumer-producer</a:t>
            </a:r>
          </a:p>
          <a:p xmlns:a="http://schemas.openxmlformats.org/drawingml/2006/main">
            <a:r>
              <a:t>Erreur à éviter : Parler de modèle d'intelligence artificielle entraîné</a:t>
            </a:r>
          </a:p>
          <a:p xmlns:a="http://schemas.openxmlformats.org/drawingml/2006/main">
            <a:r>
              <a:t>Transition : Les événements enrichis doivent maintenant être stockés sans doublon.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50</a:t>
            </a:r>
          </a:p>
          <a:p xmlns:a="http://schemas.openxmlformats.org/drawingml/2006/main">
            <a:r>
              <a:t>Idée principale : Expliquer pourquoi la redélivraison reste sûre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La clé primaire reprend le SHA-256 de l'URL</a:t>
            </a:r>
          </a:p>
          <a:p xmlns:a="http://schemas.openxmlformats.org/drawingml/2006/main">
            <a:r>
              <a:t>- INSERT IGNORE détecte un article déjà stocké</a:t>
            </a:r>
          </a:p>
          <a:p xmlns:a="http://schemas.openxmlformats.org/drawingml/2006/main">
            <a:r>
              <a:t>- Les agrégats ne progressent qu'après une nouvelle insertion</a:t>
            </a:r>
          </a:p>
          <a:p xmlns:a="http://schemas.openxmlformats.org/drawingml/2006/main">
            <a:r>
              <a:t>- Les indexes temporels servent les requêtes Grafana</a:t>
            </a:r>
          </a:p>
          <a:p xmlns:a="http://schemas.openxmlformats.org/drawingml/2006/main">
            <a:r>
              <a:t>Termes précis : transaction, clé primaire, index, incrémental, idempotence</a:t>
            </a:r>
          </a:p>
          <a:p xmlns:a="http://schemas.openxmlformats.org/drawingml/2006/main">
            <a:r>
              <a:t>Erreur à éviter : Dire que SHA-256 empêche RabbitMQ de redélivrer</a:t>
            </a:r>
          </a:p>
          <a:p xmlns:a="http://schemas.openxmlformats.org/drawingml/2006/main">
            <a:r>
              <a:t>Transition : Grafana peut alors lire des indicateurs déjà préparés.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30</a:t>
            </a:r>
          </a:p>
          <a:p xmlns:a="http://schemas.openxmlformats.org/drawingml/2006/main">
            <a:r>
              <a:t>Idée principale : Montrer comment Grafana sert la décision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 datasource MySQL et le dashboard sont provisionnés depuis Git</a:t>
            </a:r>
          </a:p>
          <a:p xmlns:a="http://schemas.openxmlformats.org/drawingml/2006/main">
            <a:r>
              <a:t>- L'utilisateur change période et thème</a:t>
            </a:r>
          </a:p>
          <a:p xmlns:a="http://schemas.openxmlformats.org/drawingml/2006/main">
            <a:r>
              <a:t>- Les deux vues d'observabilité montrent débit et latence</a:t>
            </a:r>
          </a:p>
          <a:p xmlns:a="http://schemas.openxmlformats.org/drawingml/2006/main">
            <a:r>
              <a:t>- Grafana ne bloque pas l'ingestion s'il tombe</a:t>
            </a:r>
          </a:p>
          <a:p xmlns:a="http://schemas.openxmlformats.org/drawingml/2006/main">
            <a:r>
              <a:t>Termes précis : provisioning, time filter, refresh, observabilité</a:t>
            </a:r>
          </a:p>
          <a:p xmlns:a="http://schemas.openxmlformats.org/drawingml/2006/main">
            <a:r>
              <a:t>Erreur à éviter : Confondre temps réel strict et refresh de 30 secondes</a:t>
            </a:r>
          </a:p>
          <a:p xmlns:a="http://schemas.openxmlformats.org/drawingml/2006/main">
            <a:r>
              <a:t>Transition : Ces choix permettent une orientation Big Data mesurée.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2 min</a:t>
            </a:r>
          </a:p>
          <a:p xmlns:a="http://schemas.openxmlformats.org/drawingml/2006/main">
            <a:r>
              <a:t>Idée principale : Défendre une orientation Big Data crédible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Relier chaque notion à un mécanisme présent dans le code</a:t>
            </a:r>
          </a:p>
          <a:p xmlns:a="http://schemas.openxmlformats.org/drawingml/2006/main">
            <a:r>
              <a:t>- Reconnaître que le volume actuel reste faible</a:t>
            </a:r>
          </a:p>
          <a:p xmlns:a="http://schemas.openxmlformats.org/drawingml/2006/main">
            <a:r>
              <a:t>- Présenter la montée en charge comme une capacité architecturale</a:t>
            </a:r>
          </a:p>
          <a:p xmlns:a="http://schemas.openxmlformats.org/drawingml/2006/main">
            <a:r>
              <a:t>- Éviter de réduire Big Data au seul volume</a:t>
            </a:r>
          </a:p>
          <a:p xmlns:a="http://schemas.openxmlformats.org/drawingml/2006/main">
            <a:r>
              <a:t>Termes précis : velocity, variety, veracity, streaming, scalabilité</a:t>
            </a:r>
          </a:p>
          <a:p xmlns:a="http://schemas.openxmlformats.org/drawingml/2006/main">
            <a:r>
              <a:t>Erreur à éviter : Prétendre que deux RSS représentent un volume massif</a:t>
            </a:r>
          </a:p>
          <a:p xmlns:a="http://schemas.openxmlformats.org/drawingml/2006/main">
            <a:r>
              <a:t>Transition : Une architecture extensible doit aussi reconnaître ses pannes et ses limites.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40</a:t>
            </a:r>
          </a:p>
          <a:p xmlns:a="http://schemas.openxmlformats.org/drawingml/2006/main">
            <a:r>
              <a:t>Idée principale : Montrer la résilience présente et ses frontières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Les workers retentent les connexions</a:t>
            </a:r>
          </a:p>
          <a:p xmlns:a="http://schemas.openxmlformats.org/drawingml/2006/main">
            <a:r>
              <a:t>- Les volumes conservent les données au redémarrage</a:t>
            </a:r>
          </a:p>
          <a:p xmlns:a="http://schemas.openxmlformats.org/drawingml/2006/main">
            <a:r>
              <a:t>- RabbitMQ et MySQL restent des SPOF locaux</a:t>
            </a:r>
          </a:p>
          <a:p xmlns:a="http://schemas.openxmlformats.org/drawingml/2006/main">
            <a:r>
              <a:t>- Une DLQ éviterait les boucles infinies sur certains messages</a:t>
            </a:r>
          </a:p>
          <a:p xmlns:a="http://schemas.openxmlformats.org/drawingml/2006/main">
            <a:r>
              <a:t>Termes précis : résilience, healthcheck, SPOF, DLQ</a:t>
            </a:r>
          </a:p>
          <a:p xmlns:a="http://schemas.openxmlformats.org/drawingml/2006/main">
            <a:r>
              <a:t>Erreur à éviter : Assimiler restart policy à haute disponibilité</a:t>
            </a:r>
          </a:p>
          <a:p xmlns:a="http://schemas.openxmlformats.org/drawingml/2006/main">
            <a:r>
              <a:t>Transition : La démonstration suivante donne des preuves observables.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3 min 30</a:t>
            </a:r>
          </a:p>
          <a:p xmlns:a="http://schemas.openxmlformats.org/drawingml/2006/main">
            <a:r>
              <a:t>Idée principale : Prouver le fonctionnement sans dépendre entièrement du live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Montrer six conteneurs actifs</a:t>
            </a:r>
          </a:p>
          <a:p xmlns:a="http://schemas.openxmlformats.org/drawingml/2006/main">
            <a:r>
              <a:t>- Ouvrir RabbitMQ rapidement</a:t>
            </a:r>
          </a:p>
          <a:p xmlns:a="http://schemas.openxmlformats.org/drawingml/2006/main">
            <a:r>
              <a:t>- Commenter les sources et la table pipeline_hourly</a:t>
            </a:r>
          </a:p>
          <a:p xmlns:a="http://schemas.openxmlformats.org/drawingml/2006/main">
            <a:r>
              <a:t>- Dans Grafana, modifier la période et lire débit puis latence</a:t>
            </a:r>
          </a:p>
          <a:p xmlns:a="http://schemas.openxmlformats.org/drawingml/2006/main">
            <a:r>
              <a:t>Termes précis : consumer count, throughput, latency</a:t>
            </a:r>
          </a:p>
          <a:p xmlns:a="http://schemas.openxmlformats.org/drawingml/2006/main">
            <a:r>
              <a:t>Erreur à éviter : Attendre une nouvelle actualité devant le jury</a:t>
            </a:r>
          </a:p>
          <a:p xmlns:a="http://schemas.openxmlformats.org/drawingml/2006/main">
            <a:r>
              <a:t>Transition : Les résultats valident le socle et indiquent les prochaines priorités.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20</a:t>
            </a:r>
          </a:p>
          <a:p xmlns:a="http://schemas.openxmlformats.org/drawingml/2006/main">
            <a:r>
              <a:t>Idée principale : Présenter des améliorations déclenchées par des besoins mesurés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Prioriser DLQ et tests de charge</a:t>
            </a:r>
          </a:p>
          <a:p xmlns:a="http://schemas.openxmlformats.org/drawingml/2006/main">
            <a:r>
              <a:t>- Scaler d'abord les workers existants</a:t>
            </a:r>
          </a:p>
          <a:p xmlns:a="http://schemas.openxmlformats.org/drawingml/2006/main">
            <a:r>
              <a:t>- Choisir Kafka seulement si débit, réplication ou replay le justifient</a:t>
            </a:r>
          </a:p>
          <a:p xmlns:a="http://schemas.openxmlformats.org/drawingml/2006/main">
            <a:r>
              <a:t>- Évaluer un stockage distribué après mesure</a:t>
            </a:r>
          </a:p>
          <a:p xmlns:a="http://schemas.openxmlformats.org/drawingml/2006/main">
            <a:r>
              <a:t>Termes précis : DLQ, partitionnement, replay, orchestration</a:t>
            </a:r>
          </a:p>
          <a:p xmlns:a="http://schemas.openxmlformats.org/drawingml/2006/main">
            <a:r>
              <a:t>Erreur à éviter : Proposer Kafka comme amélioration automatique</a:t>
            </a:r>
          </a:p>
          <a:p xmlns:a="http://schemas.openxmlformats.org/drawingml/2006/main">
            <a:r>
              <a:t>Transition : Ces évolutions partent d'un socle déjà conforme au besoin.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0 min 50</a:t>
            </a:r>
          </a:p>
          <a:p xmlns:a="http://schemas.openxmlformats.org/drawingml/2006/main">
            <a:r>
              <a:t>Idée principale : Refermer sur la valeur et la crédibilité technique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Rappeler collecte, analyse et visualisation</a:t>
            </a:r>
          </a:p>
          <a:p xmlns:a="http://schemas.openxmlformats.org/drawingml/2006/main">
            <a:r>
              <a:t>- Souligner découplage, idempotence et observabilité</a:t>
            </a:r>
          </a:p>
          <a:p xmlns:a="http://schemas.openxmlformats.org/drawingml/2006/main">
            <a:r>
              <a:t>- Reconnaître le petit volume tout en défendant l'extensibilité</a:t>
            </a:r>
          </a:p>
          <a:p xmlns:a="http://schemas.openxmlformats.org/drawingml/2006/main">
            <a:r>
              <a:t>Termes précis : pipeline, idempotence, observabilité</a:t>
            </a:r>
          </a:p>
          <a:p xmlns:a="http://schemas.openxmlformats.org/drawingml/2006/main">
            <a:r>
              <a:t>Erreur à éviter : Ajouter de nouveaux détails techniques en conclusion</a:t>
            </a:r>
          </a:p>
          <a:p xmlns:a="http://schemas.openxmlformats.org/drawingml/2006/main">
            <a:r>
              <a:t>Transition : Je suis prêt à répondre à vos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bc51271ce46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a46eeffd384167" /><Relationship Type="http://schemas.openxmlformats.org/officeDocument/2006/relationships/slideLayout" Target="/ppt/slideLayouts/slideLayout1.xml" Id="R3c15eeb560c642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15eeb560c642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3202bbd024c29" /><Relationship Type="http://schemas.openxmlformats.org/officeDocument/2006/relationships/notesSlide" Target="/ppt/notesSlides/notesSlide1.xml" Id="Ra5d0b2bb20424c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f9a567bec4250" /><Relationship Type="http://schemas.openxmlformats.org/officeDocument/2006/relationships/notesSlide" Target="/ppt/notesSlides/notesSlide2.xml" Id="R2c60febd90a14d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b5e6b2cd94ccd" /><Relationship Type="http://schemas.openxmlformats.org/officeDocument/2006/relationships/notesSlide" Target="/ppt/notesSlides/notesSlide3.xml" Id="R96c00026388f4a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c853b3cf549db" /><Relationship Type="http://schemas.openxmlformats.org/officeDocument/2006/relationships/notesSlide" Target="/ppt/notesSlides/notesSlide4.xml" Id="Rd10a531ba02246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b99b2a1a84708" /><Relationship Type="http://schemas.openxmlformats.org/officeDocument/2006/relationships/notesSlide" Target="/ppt/notesSlides/notesSlide5.xml" Id="R1347337208b647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a1da103834cb7" /><Relationship Type="http://schemas.openxmlformats.org/officeDocument/2006/relationships/notesSlide" Target="/ppt/notesSlides/notesSlide6.xml" Id="Ra2da7b7dc23741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33b0ee0974f7a" /><Relationship Type="http://schemas.openxmlformats.org/officeDocument/2006/relationships/notesSlide" Target="/ppt/notesSlides/notesSlide7.xml" Id="R75229156256346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5ea85a3894327" /><Relationship Type="http://schemas.openxmlformats.org/officeDocument/2006/relationships/notesSlide" Target="/ppt/notesSlides/notesSlide8.xml" Id="R657750fa5bd649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86cb814fb47f0" /><Relationship Type="http://schemas.openxmlformats.org/officeDocument/2006/relationships/notesSlide" Target="/ppt/notesSlides/notesSlide9.xml" Id="Re30fdd96f51346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af63fdedc4414" /><Relationship Type="http://schemas.openxmlformats.org/officeDocument/2006/relationships/notesSlide" Target="/ppt/notesSlides/notesSlide10.xml" Id="R6af691740fbe44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14eefb41e4935" /><Relationship Type="http://schemas.openxmlformats.org/officeDocument/2006/relationships/notesSlide" Target="/ppt/notesSlides/notesSlide11.xml" Id="Rc1d722c9299145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57b264feb4ad4" /><Relationship Type="http://schemas.openxmlformats.org/officeDocument/2006/relationships/notesSlide" Target="/ppt/notesSlides/notesSlide12.xml" Id="R969be5a2b86e47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99e11274f4153" /><Relationship Type="http://schemas.openxmlformats.org/officeDocument/2006/relationships/notesSlide" Target="/ppt/notesSlides/notesSlide13.xml" Id="Rb9e674124b244c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84dd31e314a5a" /><Relationship Type="http://schemas.openxmlformats.org/officeDocument/2006/relationships/notesSlide" Target="/ppt/notesSlides/notesSlide14.xml" Id="R9bd306d3a28f42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D90B5-AA93-4E4A-8556-3FE4B5C1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PROJET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3C3D7-1F10-40A2-A44A-29A84403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Crypto Viz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5B804-746C-4FE4-ABC8-5A6DD148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ED3C6"/>
                </a:solidFill>
                <a:latin typeface="Arial"/>
                <a:ea typeface="Arial"/>
                <a:cs typeface="Arial"/>
              </a:rPr>
              <a:t>Pipeline continu d'actualités crypto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B113D-F526-435D-A297-D6669789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Collecter, analyser et visualiser dans le temps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9D232-E4B0-4C2E-906C-0331FE94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438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E2337-88D3-4BD7-9341-725C526F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Soutenance · septembre 2026</a:t>
            </a:r>
          </a:p>
        </p:txBody>
      </p:sp>
    </p:spTree>
    <p:extLst>
      <p:ext uri="{BB962C8B-B14F-4D97-AF65-F5344CB8AC3E}">
        <p14:creationId xmlns:p14="http://schemas.microsoft.com/office/powerpoint/2010/main" val="1541155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64182-ADE4-4944-A801-F3F6DA31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Le problème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BE7C2-FE9D-4DDA-9018-BE5FBB27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72EC7-1817-413C-B8F1-3F07D3E4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1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Un flux d'actualités change en permanence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69C99-EEC9-4BA4-8A1E-69A0D73C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Une consultation manuelle arrive trop tard et ne permet pas de suivre une tendance.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F8CF2-BCE3-4484-BAE3-02398E6C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4476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E203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B4686-FC57-474A-829E-60CD9507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ENTRÉE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7D40D-4061-4B7E-AB17-9C3C8D37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Articles dispersés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CB599-6015-45A1-B1FC-D52EE8D3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BESOIN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29EEA-63DB-45AB-9242-C08231B6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Indicateurs actualisés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68637-C927-464A-8968-3F329A1E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6B75"/>
                </a:solidFill>
                <a:latin typeface="Arial"/>
                <a:ea typeface="Arial"/>
                <a:cs typeface="Arial"/>
              </a:rPr>
              <a:t>CONTRAINTE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4EF9E-8CA0-4855-A3A9-A1033D73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Données et pannes continues</a:t>
            </a:r>
          </a:p>
        </p:txBody>
      </p:sp>
    </p:spTree>
    <p:extLst>
      <p:ext uri="{BB962C8B-B14F-4D97-AF65-F5344CB8AC3E}">
        <p14:creationId xmlns:p14="http://schemas.microsoft.com/office/powerpoint/2010/main" val="12126576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E2147-4EB8-4171-818A-3489503C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Trois objectifs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4DEFE-3D68-44CE-8462-41CEC191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7FA33-3B4A-418D-A233-504D7766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FA67C-D327-464F-8774-B950DEE5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Collecte continue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C9B61-2802-4734-AEB5-1D217F55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Deux flux RSS normalisés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0B845-1F00-4676-B36B-83BDB6DA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F8D79-5E2C-49C7-B67E-7099814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C4A8C-CCE1-4579-A55A-13EA1B31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9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Analyse en ligne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B63A8-E774-4EDF-9B66-498723C4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670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Sentiment, thèmes, agrégats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B9B1B-4BD7-4437-BF5A-EF91093A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CB2AD-65A2-4D24-BEA0-6BC749AA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65C14-7D10-48FE-BE8A-855F8A1C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Vue dynamique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8D4DD-6C92-417D-98D0-6190AAB7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Filtres temporels, refresh 30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76C3F-3E3C-4DF7-A129-F904C2A7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3193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9796A0-09CE-495C-AC3B-9F7569EA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Architecture générale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E4DAF-2F5A-4221-A57A-4882BAF3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8289A-F824-46D6-8799-2181E01C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38CB3-212D-4349-921B-87A6165C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9CE2C-07F7-4DB7-8F43-F4AE4F3A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C7B52-93E7-4A09-A77E-279015F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2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3FF0A-4CA8-4B36-ADE3-043820BC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257D9-0982-4E6C-A1F8-4708AA2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DE95F-3763-4431-A94B-DBD51397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3D35B-B286-4860-B8C2-BDB75D6C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Scraper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B8E2C-F536-4123-93E8-6CE9E67B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582C7-CB06-4126-BDA4-DA28AB5D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38274-CB2D-40A8-92C4-B6964537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2C878-A42F-4B8C-822F-B6AF60BD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AB2F6-F003-4BB3-B692-D0334F89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52B3A-94FC-4B0B-8F83-A55268C8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raw_news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AE06B-E4C1-4456-9810-7095DC70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5728E-8A04-4A39-96EA-922D9E43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1F444-49F6-4FFB-9F3F-28131D77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ED9EEC-CFEB-4EAC-96E0-99BF8623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725CD-8A98-4631-8AD4-60090304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687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consumer + producer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15E9F-49A0-460A-969B-8623683C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2D979-C127-4607-8459-5D18879D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6A7F4-66DB-4983-9A95-ECB2874B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C19409-D4C0-48C1-BF94-1605E3D7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D239D5-8838-4B2F-AD6B-F3FDC6C3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enriched_news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B32E4-5AEE-48B7-9EE7-498CD8C5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FFB8ED-2032-4799-9DEA-2D3A7BF5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185B81-22DE-431E-A629-4266B251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D62866-DDFE-4AB3-A1A9-6A0814B1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BA3F37-CB82-4D9C-8D57-D66DD2DC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1E2502-BA69-4711-8E2C-49E9A6C5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BAB856-2315-4B89-9C1E-8827716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531152-CBA7-4D8C-B538-1F6320A1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4F9DF9-BC8D-495E-9C3B-E536240F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F75F68-F55E-4AD1-A42F-24394CF9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3 tables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35367B-46B3-4C03-BD10-A63D8178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92A23F-B8D2-41E6-B9E8-92016F57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ACCF0A-1A6A-4CBF-BE76-BA5CEB7E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FE5E39-DB79-4CFF-87A9-4B394593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Grafana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656B91-488A-4E32-BF5F-E9E56042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6 vues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4A5891-9D65-40A8-857C-465F37BC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8612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Deux queues séparent ingestion, traitement et stockage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D7A464-0A13-4EA2-A0F3-1955A7DE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Chaque service Docker porte une responsabilité et communique par événements ou requêtes.</a:t>
            </a:r>
          </a:p>
        </p:txBody>
      </p:sp>
    </p:spTree>
    <p:extLst>
      <p:ext uri="{BB962C8B-B14F-4D97-AF65-F5344CB8AC3E}">
        <p14:creationId xmlns:p14="http://schemas.microsoft.com/office/powerpoint/2010/main" val="3936874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CDE6B-18F0-408F-9C52-1A11AADC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Ingestion des actualités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A49F4-2EA5-4270-B9E6-35FE8DD4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891A0-C00D-43AD-ABF6-44B1576F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AE005-2C6E-473B-A63D-BD0E8EFA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AFC63-A401-4406-9618-6A0B4C0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CoinDesk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A012D-5EAD-4928-AEBE-A0108DAD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RSS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B18DA-F45B-4DB2-95A8-D7030832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D29A2-8DEF-42C7-8547-35179A71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7240A-43CB-4055-9CE3-B008E69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Cointelegraph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FA284-ACD7-4B43-A4EC-A659310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RSS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B6932-6CAE-4A24-938B-A52669B1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8ACEF-54D1-41AB-83FC-AA978B54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40DA6-E75C-408C-9CFC-735ED32C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BECF9-DA8B-4482-88A3-2EEDBD1F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621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Python scraper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4011C-4FAC-430B-A885-F1848FFE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146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polling toutes les 60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7ED9E-9DEC-4F9C-9FFA-77C9D14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3CCA7-A80A-4EE7-8E15-1A77E93F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10308-D02E-4452-93A0-ED703719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1F617-5BB3-45CB-88A1-4361C725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62175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raw_news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108FA-3D78-43A8-88AF-4A9A70A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1460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JSON normalisé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79861-41EC-4561-B79A-E0920568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article_id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49072-47F8-4832-8B91-9173F728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14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source, title, summary, url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638F4-60FB-40A0-B1DF-F6CD9329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114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published_at, collected_at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7CCDE-05C0-4B5C-A815-EC901C3F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012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SHA-256(URL) rend l'identifiant stable entre deux collectes</a:t>
            </a:r>
          </a:p>
        </p:txBody>
      </p:sp>
    </p:spTree>
    <p:extLst>
      <p:ext uri="{BB962C8B-B14F-4D97-AF65-F5344CB8AC3E}">
        <p14:creationId xmlns:p14="http://schemas.microsoft.com/office/powerpoint/2010/main" val="1276753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BDCA7-2F4A-4078-8DE0-973CE0BD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RabbitMQ et livraison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877F8-B00F-41AD-A42A-61624317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B0F9E-C829-435E-AA79-1C5E8B58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Producteur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51FBC-C56C-477D-A672-7E6CC308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811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4F84C-F1E4-42AE-8DDD-4CF5085D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Queue durable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AA53E-4B3F-4EC1-B2AC-BE6B2115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7B127-2D5C-49DB-9A05-5312DD4E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Consommateur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7AE94-8DD4-4F55-B616-23F147B5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A8642-8957-4E7D-9048-45DA9A66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FIABILITÉ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6EE86-6844-4A35-8C9E-6EFB8E31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Message persistant</a:t>
            </a:r>
          </a:p>
          <a:p xmlns:a="http://schemas.openxmlformats.org/drawingml/2006/main">
            <a:pPr algn="l">
              <a:defRPr sz="18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ACK après succès</a:t>
            </a:r>
          </a:p>
          <a:p xmlns:a="http://schemas.openxmlformats.org/drawingml/2006/main">
            <a:pPr algn="l">
              <a:defRPr sz="18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NACK + requeue sur erreur transitoire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01C00-5513-457A-B7D0-40945D8D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776FD-8358-4F86-B679-71404EE0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PRESSION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1C122-C942-4C92-BED4-F002CDE1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Prefetch = 50</a:t>
            </a:r>
          </a:p>
          <a:p xmlns:a="http://schemas.openxmlformats.org/drawingml/2006/main">
            <a:pPr algn="l">
              <a:defRPr sz="18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La queue joue le rôle de tampon</a:t>
            </a:r>
          </a:p>
          <a:p xmlns:a="http://schemas.openxmlformats.org/drawingml/2006/main">
            <a:pPr algn="l">
              <a:defRPr sz="18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Plusieurs consumers peuvent partager la charge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9E4CE-DDF5-4BD7-B235-1AAEF976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6B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75"/>
                </a:solidFill>
                <a:latin typeface="Arial"/>
                <a:ea typeface="Arial"/>
                <a:cs typeface="Arial"/>
              </a:rPr>
              <a:t>Garantie visée : au moins une livraison</a:t>
            </a:r>
          </a:p>
        </p:txBody>
      </p:sp>
    </p:spTree>
    <p:extLst>
      <p:ext uri="{BB962C8B-B14F-4D97-AF65-F5344CB8AC3E}">
        <p14:creationId xmlns:p14="http://schemas.microsoft.com/office/powerpoint/2010/main" val="1275682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AF92A-157A-4C5F-929E-4EA1ABFE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Analytics Builder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4322D-AA39-4421-8E20-6CD6E81F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0D389-CFD2-4935-AE23-503B35B6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C9843-E1F0-454E-AF94-9499A181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1F4CF-A1C8-4C70-9357-5021597E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98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raw_news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C3936-3C1C-467C-A848-CFB6F515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622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titre + résumé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20C11-686E-4C69-8E30-AAC2F4B8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51D15-94E0-40FB-A64C-A5AEE295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25B71-E470-466D-9DE0-7CCF2684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4FA87-69C9-4B92-9D4E-809ECB7D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09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Analyse lexicale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F7A1A-3578-400D-B197-C12A9D29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6222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score et thèmes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5A545-C01B-4ED4-A929-DFCF7469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2D1FE-79F7-46D0-8947-7A50120E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66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930C3-07E4-4362-9EB0-2D9D85FB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819A9-2F38-43FC-AD94-B6F70904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098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enriched_news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54251-66EE-4E02-BA39-8681D7F8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622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JSON enrichi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90001-AC6C-4521-AF8A-1EA8AD17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Sentiment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8FCEC-D76D-4906-9FFD-30FA5BF9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5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-1 à +1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180E7-4F27-4A9C-9A3F-F94E4314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Thèmes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B2292-E01F-40FD-8A8C-7FD5E1BC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BTC, ETH, DeFi, sécurité…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1423D-1899-491C-88A8-0920B3B7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Choix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26D8D-3B79-4801-9B73-F18AD63C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rapide et explicable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E52EC5-196C-43B9-9E23-2D2D52F7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9587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6B75"/>
                </a:solidFill>
                <a:latin typeface="Arial"/>
                <a:ea typeface="Arial"/>
                <a:cs typeface="Arial"/>
              </a:rPr>
              <a:t>Limite : sarcasme et contexte complexe</a:t>
            </a:r>
          </a:p>
        </p:txBody>
      </p:sp>
    </p:spTree>
    <p:extLst>
      <p:ext uri="{BB962C8B-B14F-4D97-AF65-F5344CB8AC3E}">
        <p14:creationId xmlns:p14="http://schemas.microsoft.com/office/powerpoint/2010/main" val="1175739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DD816-D85B-4A4E-9D20-F0AFE042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Stockage et agrégations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E8B1C-534D-42F5-A656-E009D51C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7F906-C461-4EAA-8B44-F69D6FA9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3DF64-2777-4C86-AC1D-02503C8C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9E1C2-0AA5-4977-BFA3-B6A05F4C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9067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Storage Worker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E5EED-65AE-4486-BF6B-84BBE0B4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A479C-20D4-4EB0-B07F-B952CDA4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859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ECE99-DE2B-4075-A030-56B0004E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7637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FA5D8-F8EA-4FC2-B846-69CFD4A3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763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A4974-011B-44C3-9A95-8B3AFC63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9067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8459A-A79D-49C7-BCDB-1ED1A799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431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E0CD6-7C8E-44A8-936C-65CB01C3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news_articles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BE93C-57A3-4BE3-A242-B7E21FF0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article brut +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BF0AE-18B7-433D-A48C-2480CB9E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analytics_hourly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EC67E-8A5F-4D2E-9827-98600A32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volumes et sentiments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85D4C-83CE-4EC1-BF25-8B4B7961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pipeline_hourly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D740A-16CA-4EFA-B060-EF480224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débit et latence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B8F4A-BC7E-40BB-B448-D97CF8A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987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58DC8-9EA7-4B20-AC7C-B9290E2F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ANTI-DOUBLON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66D5C-DB28-4AA5-9A79-D4AC1F9D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958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PRIMARY KEY</a:t>
            </a:r>
          </a:p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+ INSERT IGNORE</a:t>
            </a:r>
          </a:p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+ agrégat après insertion</a:t>
            </a:r>
          </a:p>
        </p:txBody>
      </p:sp>
    </p:spTree>
    <p:extLst>
      <p:ext uri="{BB962C8B-B14F-4D97-AF65-F5344CB8AC3E}">
        <p14:creationId xmlns:p14="http://schemas.microsoft.com/office/powerpoint/2010/main" val="2030691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1AF03-3299-483E-B209-6896AC62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Visualisation temporelle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238CB-C417-46C1-8D26-5BD36E6F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22CD9-198C-44EA-B267-C7834D16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03C7F-4FDF-435D-989E-3D55FA70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76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panneaux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D5F11-E370-498F-BA8B-EF5BEEE0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30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3C2ED-588D-4385-9395-EC2A155B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rafraîchissement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C5D7E-4583-4517-B388-FB11CCE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24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37C8D-3079-4A81-BDFE-A728909B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192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période par défaut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90171-BF0B-452E-A36A-24BEE073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Volume par thème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68849-391E-4EA3-AE9B-C33FA6B5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Sentiment moyen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575FC-30EA-4758-AA4A-AE09F267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Distribution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C7A2E-F415-4D18-8496-9E5F9548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Derniers articles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97AA3-CA43-454F-A189-24D9FE40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Débit par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32EEA-6739-47B6-8148-21DD1B67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Latence par source</a:t>
            </a:r>
          </a:p>
        </p:txBody>
      </p:sp>
    </p:spTree>
    <p:extLst>
      <p:ext uri="{BB962C8B-B14F-4D97-AF65-F5344CB8AC3E}">
        <p14:creationId xmlns:p14="http://schemas.microsoft.com/office/powerpoint/2010/main" val="4641959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EBA78-E768-4A68-A2EF-8FB7AB37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Orientation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37B39-4293-4153-90A7-38519559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17017-86C3-47D0-AB6C-30D97C6F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VELOCITY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8C1C9-5E3E-4D30-AF39-F17905EE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52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043D2-C591-4260-B8ED-6E0237DC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668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Ingestion continue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FBCFF-0CA9-4D78-A5C5-FC520DF1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VARIETY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EC3E0-5A54-4C11-B646-423B4AD2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336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18C97-8107-49B1-94EE-09C580C3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Deux sources RSS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8D4DA-644C-4C08-A293-0200EFC3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VERACITY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C58E5-AAE4-4CDA-A772-13740A4A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146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D883D-35CE-4DFD-AF84-F24472E2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289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Normalisation + déduplication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61DD9-9AF7-4A14-B998-44D95801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SCALABILITÉ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267D6-A0D8-4BC2-AC32-DCAD7C87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957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94611-D06E-4BE5-BF3E-3FD4A35D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99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Consumers concurrents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8EE3E-5BF7-41C6-9EA9-B6784E28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OBSERVABILITÉ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68AA2-BDEB-4704-8DBF-848F18F4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75AA5-C825-4EE5-A97A-D3F3AF21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910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Débit + latence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B98FC-59C8-4ACE-9460-87CF5740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287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A1D2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BB2C1-585A-41E2-86B0-73C8A27E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Volume limité en démonstration. Architecture conçue pour monter en charge</a:t>
            </a:r>
          </a:p>
        </p:txBody>
      </p:sp>
    </p:spTree>
    <p:extLst>
      <p:ext uri="{BB962C8B-B14F-4D97-AF65-F5344CB8AC3E}">
        <p14:creationId xmlns:p14="http://schemas.microsoft.com/office/powerpoint/2010/main" val="1740278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15DAE-4089-4D29-B0E9-C84F6DF0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Résilience et 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879F0-08B4-47D6-A990-8C804B71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FFC2D-142B-4B15-98C3-7DC9ECBD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DÉJÀ PRÉSENT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478DA-9436-4108-AC32-D0C29D6B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85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À RENFORCER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E76DA-E8FB-4452-AC4D-1D5627E6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Reconnexion RabbitMQ / MySQL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ACK après succès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Messages persistants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Healthchecks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Volumes Docker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02412-EB73-4C3E-9048-4343AD35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Dead-letter queue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Cluster RabbitMQ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Réplication MySQL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Métriques centralisées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Tests de charge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A6FD9-341F-4336-A18A-88147E51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6B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6B75"/>
                </a:solidFill>
                <a:latin typeface="Arial"/>
                <a:ea typeface="Arial"/>
                <a:cs typeface="Arial"/>
              </a:rPr>
              <a:t>SPOF actuels : RabbitMQ et MySQL</a:t>
            </a:r>
          </a:p>
        </p:txBody>
      </p:sp>
    </p:spTree>
    <p:extLst>
      <p:ext uri="{BB962C8B-B14F-4D97-AF65-F5344CB8AC3E}">
        <p14:creationId xmlns:p14="http://schemas.microsoft.com/office/powerpoint/2010/main" val="4224022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7FA3E-EC08-4B0C-B448-E20CF939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Démonstration en 4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E7AFB-27B8-4A48-A5AE-2CC3CBCB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097D2-A1FB-4D19-9551-2E639E4E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839C8-B648-478F-9E11-5AF78DF6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C30C2-511F-41DF-90C6-56E0190A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docker compose 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BA3C9-F7C4-4EFA-A105-D429E7C8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668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8AE20-D785-4771-BC30-ADB1A37B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B33FB-FF0C-41BC-9A76-15DF7A5D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Queues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B10B0-B7EA-443D-BBE5-A0CA813A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consumers et messages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B5486-0821-46F7-B359-6CE51068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668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86ECB-9BA9-4382-85BC-B159668A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FBABF-30C9-4DD7-9B37-7C7A1E50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Données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DCC0D-B4AC-4D3F-85FE-88085301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sources et agrégats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F6A0C-A242-416B-AD84-DB27F85C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36C7D-3CC7-413E-ACE6-CDDDD1D0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7B100-2EDB-4F66-B32B-CAE2157B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226BB-547F-4FDD-B011-6803E58D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période, débit, latence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1C661-C2D9-4B84-AE1A-FF0DD0D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47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19FC3-3444-4BB5-A033-5E7BFE4F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243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Plan B : captures + résultats MySQL + explication du composant indisponible</a:t>
            </a:r>
          </a:p>
        </p:txBody>
      </p:sp>
    </p:spTree>
    <p:extLst>
      <p:ext uri="{BB962C8B-B14F-4D97-AF65-F5344CB8AC3E}">
        <p14:creationId xmlns:p14="http://schemas.microsoft.com/office/powerpoint/2010/main" val="10594922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95B75-2DA4-4755-94B4-77E63E7F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Évolutions prioritaires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4C74E-BBCF-4CFC-8598-9DB1442B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F46D8-4BD4-44E4-8057-500D886D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COURT TERME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CEC35-315B-45FE-8BD2-37BCF8B3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AA2EA-A2E4-4607-9F9F-80D0045F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DLQ + alertes</a:t>
            </a:r>
          </a:p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Tests de charge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A1E13-215C-4625-9637-3354FE10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VOLUME SUPÉRIEUR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599A2-4812-496E-8080-76856E8C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120A1-9568-40EA-B60C-6F4F4802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Workers orchestrés</a:t>
            </a:r>
          </a:p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Partitionnement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E7089-B4F7-4F2D-8F93-D1E18105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TRÈS GRANDE ÉCHELLE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579F4-C28F-4B11-A18C-7ADBEDAE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37F1A-4B87-4E8A-967F-6D05C65F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Kafka si replay requis</a:t>
            </a:r>
          </a:p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Stockage analytique distribué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B88E7-A4C5-4B9C-9177-AB443676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Le choix dépend d'une mesure réelle du volume, du débit et de la rétention.</a:t>
            </a:r>
          </a:p>
        </p:txBody>
      </p:sp>
    </p:spTree>
    <p:extLst>
      <p:ext uri="{BB962C8B-B14F-4D97-AF65-F5344CB8AC3E}">
        <p14:creationId xmlns:p14="http://schemas.microsoft.com/office/powerpoint/2010/main" val="8570780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7E4EE-F8AC-4C64-B994-DAF63B03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13FA3-1CBF-44F0-AE75-ADAE35AC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6F217-796A-4CEA-AAD5-C5971C78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Une actualité devient un indicateur exploitable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7E1CF-37B8-4B28-9A27-A58D7EB8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Collecte continue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69DCB-4551-4B60-A608-C465F88F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Traitement découplé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DE92C-B6BE-41A0-8252-DDB5A2B2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Vue temporelle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21577-7970-4F1D-A6A8-B288F7EC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62375"/>
            <a:ext cx="942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B89D8-936E-4F83-A636-9185D2F9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Simple pour la démonstration, mesurable pour évoluer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B57AD-D189-477C-866D-E9E049E9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76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994375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2026-09-04T15:09:40.6720000Z</dcterms:created>
  <dcterms:modified xsi:type="dcterms:W3CDTF">2026-09-04T15:09:40.6720000Z</dcterms:modified>
</coreProperties>
</file>