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6ac63a249a40c0" /><Relationship Type="http://schemas.openxmlformats.org/officeDocument/2006/relationships/extended-properties" Target="/docProps/app.xml" Id="R49673a23d205424e" /><Relationship Type="http://schemas.openxmlformats.org/officeDocument/2006/relationships/officeDocument" Target="/ppt/presentation.xml" Id="Rac62e62a239c4b4e" /></Relationships>
</file>

<file path=ppt/presentation.xml><?xml version="1.0" encoding="utf-8"?>
<p:presentation xmlns:p="http://schemas.openxmlformats.org/presentationml/2006/main">
  <p:sldMasterIdLst>
    <p:sldMasterId xmlns:r="http://schemas.openxmlformats.org/officeDocument/2006/relationships" id="2147483648" r:id="R9b865dab252c42c9"/>
  </p:sldMasterIdLst>
  <p:notesMasterIdLst>
    <p:notesMasterId xmlns:r="http://schemas.openxmlformats.org/officeDocument/2006/relationships" r:id="R8a1d1854c9e6432f"/>
  </p:notesMasterIdLst>
  <p:sldIdLst>
    <p:sldId xmlns:r="http://schemas.openxmlformats.org/officeDocument/2006/relationships" id="256" r:id="R1ed82f47b42b4ff3"/>
    <p:sldId xmlns:r="http://schemas.openxmlformats.org/officeDocument/2006/relationships" id="257" r:id="Rb5f84ea305c14f4b"/>
    <p:sldId xmlns:r="http://schemas.openxmlformats.org/officeDocument/2006/relationships" id="258" r:id="Ra583524524474975"/>
    <p:sldId xmlns:r="http://schemas.openxmlformats.org/officeDocument/2006/relationships" id="259" r:id="R5810a5823f3a42d8"/>
    <p:sldId xmlns:r="http://schemas.openxmlformats.org/officeDocument/2006/relationships" id="260" r:id="R8f37bc957a1847db"/>
    <p:sldId xmlns:r="http://schemas.openxmlformats.org/officeDocument/2006/relationships" id="261" r:id="Rabec31988c1a488d"/>
    <p:sldId xmlns:r="http://schemas.openxmlformats.org/officeDocument/2006/relationships" id="262" r:id="Rfa0d784e75e04a67"/>
    <p:sldId xmlns:r="http://schemas.openxmlformats.org/officeDocument/2006/relationships" id="263" r:id="R33dedd24bf524b78"/>
    <p:sldId xmlns:r="http://schemas.openxmlformats.org/officeDocument/2006/relationships" id="264" r:id="Rfd86b45020264c7c"/>
    <p:sldId xmlns:r="http://schemas.openxmlformats.org/officeDocument/2006/relationships" id="265" r:id="Rf050ab83e40346e7"/>
    <p:sldId xmlns:r="http://schemas.openxmlformats.org/officeDocument/2006/relationships" id="266" r:id="R7d42dc89dc694479"/>
    <p:sldId xmlns:r="http://schemas.openxmlformats.org/officeDocument/2006/relationships" id="267" r:id="R5839d0e65b044964"/>
    <p:sldId xmlns:r="http://schemas.openxmlformats.org/officeDocument/2006/relationships" id="268" r:id="R94e69cdac37047b8"/>
    <p:sldId xmlns:r="http://schemas.openxmlformats.org/officeDocument/2006/relationships" id="269" r:id="Rfe178d5d05a94128"/>
    <p:sldId xmlns:r="http://schemas.openxmlformats.org/officeDocument/2006/relationships" id="270" r:id="R944a0d73df7046db"/>
    <p:sldId xmlns:r="http://schemas.openxmlformats.org/officeDocument/2006/relationships" id="271" r:id="Ra13bf18a253b4d4f"/>
    <p:sldId xmlns:r="http://schemas.openxmlformats.org/officeDocument/2006/relationships" id="272" r:id="R9142a702d51642ab"/>
    <p:sldId xmlns:r="http://schemas.openxmlformats.org/officeDocument/2006/relationships" id="273" r:id="R9475100e1c2746ea"/>
    <p:sldId xmlns:r="http://schemas.openxmlformats.org/officeDocument/2006/relationships" id="274" r:id="R9c104baeedfc4304"/>
    <p:sldId xmlns:r="http://schemas.openxmlformats.org/officeDocument/2006/relationships" id="275" r:id="Rc3ce48d53b1341ff"/>
    <p:sldId xmlns:r="http://schemas.openxmlformats.org/officeDocument/2006/relationships" id="276" r:id="R1f8998cbcac2491b"/>
    <p:sldId xmlns:r="http://schemas.openxmlformats.org/officeDocument/2006/relationships" id="277" r:id="R09fa072ca82e4ee0"/>
    <p:sldId xmlns:r="http://schemas.openxmlformats.org/officeDocument/2006/relationships" id="278" r:id="R8e9a70713b794f89"/>
    <p:sldId xmlns:r="http://schemas.openxmlformats.org/officeDocument/2006/relationships" id="279" r:id="Ra41aaebca2b14140"/>
    <p:sldId xmlns:r="http://schemas.openxmlformats.org/officeDocument/2006/relationships" id="280" r:id="Rac31f13b65544d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81840b4f0c4349" /><Relationship Type="http://schemas.openxmlformats.org/officeDocument/2006/relationships/slideMaster" Target="/ppt/slideMasters/slideMaster1.xml" Id="R9b865dab252c42c9" /><Relationship Type="http://schemas.openxmlformats.org/officeDocument/2006/relationships/notesMaster" Target="/ppt/notesMasters/notesMaster1.xml" Id="R8a1d1854c9e6432f" /><Relationship Type="http://schemas.openxmlformats.org/officeDocument/2006/relationships/presProps" Target="/ppt/presProps.xml" Id="R3d6e24d8b68a44ed" /><Relationship Type="http://schemas.openxmlformats.org/officeDocument/2006/relationships/tableStyles" Target="/ppt/tableStyles.xml" Id="Reae3e7182578422d" /><Relationship Type="http://schemas.openxmlformats.org/officeDocument/2006/relationships/slide" Target="/ppt/slides/slide1.xml" Id="R1ed82f47b42b4ff3" /><Relationship Type="http://schemas.openxmlformats.org/officeDocument/2006/relationships/slide" Target="/ppt/slides/slide2.xml" Id="Rb5f84ea305c14f4b" /><Relationship Type="http://schemas.openxmlformats.org/officeDocument/2006/relationships/slide" Target="/ppt/slides/slide3.xml" Id="Ra583524524474975" /><Relationship Type="http://schemas.openxmlformats.org/officeDocument/2006/relationships/slide" Target="/ppt/slides/slide4.xml" Id="R5810a5823f3a42d8" /><Relationship Type="http://schemas.openxmlformats.org/officeDocument/2006/relationships/slide" Target="/ppt/slides/slide5.xml" Id="R8f37bc957a1847db" /><Relationship Type="http://schemas.openxmlformats.org/officeDocument/2006/relationships/slide" Target="/ppt/slides/slide6.xml" Id="Rabec31988c1a488d" /><Relationship Type="http://schemas.openxmlformats.org/officeDocument/2006/relationships/slide" Target="/ppt/slides/slide7.xml" Id="Rfa0d784e75e04a67" /><Relationship Type="http://schemas.openxmlformats.org/officeDocument/2006/relationships/slide" Target="/ppt/slides/slide8.xml" Id="R33dedd24bf524b78" /><Relationship Type="http://schemas.openxmlformats.org/officeDocument/2006/relationships/slide" Target="/ppt/slides/slide9.xml" Id="Rfd86b45020264c7c" /><Relationship Type="http://schemas.openxmlformats.org/officeDocument/2006/relationships/slide" Target="/ppt/slides/slide10.xml" Id="Rf050ab83e40346e7" /><Relationship Type="http://schemas.openxmlformats.org/officeDocument/2006/relationships/slide" Target="/ppt/slides/slide11.xml" Id="R7d42dc89dc694479" /><Relationship Type="http://schemas.openxmlformats.org/officeDocument/2006/relationships/slide" Target="/ppt/slides/slide12.xml" Id="R5839d0e65b044964" /><Relationship Type="http://schemas.openxmlformats.org/officeDocument/2006/relationships/slide" Target="/ppt/slides/slide13.xml" Id="R94e69cdac37047b8" /><Relationship Type="http://schemas.openxmlformats.org/officeDocument/2006/relationships/slide" Target="/ppt/slides/slide14.xml" Id="Rfe178d5d05a94128" /><Relationship Type="http://schemas.openxmlformats.org/officeDocument/2006/relationships/slide" Target="/ppt/slides/slide15.xml" Id="R944a0d73df7046db" /><Relationship Type="http://schemas.openxmlformats.org/officeDocument/2006/relationships/slide" Target="/ppt/slides/slide16.xml" Id="Ra13bf18a253b4d4f" /><Relationship Type="http://schemas.openxmlformats.org/officeDocument/2006/relationships/slide" Target="/ppt/slides/slide17.xml" Id="R9142a702d51642ab" /><Relationship Type="http://schemas.openxmlformats.org/officeDocument/2006/relationships/slide" Target="/ppt/slides/slide18.xml" Id="R9475100e1c2746ea" /><Relationship Type="http://schemas.openxmlformats.org/officeDocument/2006/relationships/slide" Target="/ppt/slides/slide19.xml" Id="R9c104baeedfc4304" /><Relationship Type="http://schemas.openxmlformats.org/officeDocument/2006/relationships/slide" Target="/ppt/slides/slide20.xml" Id="Rc3ce48d53b1341ff" /><Relationship Type="http://schemas.openxmlformats.org/officeDocument/2006/relationships/slide" Target="/ppt/slides/slide21.xml" Id="R1f8998cbcac2491b" /><Relationship Type="http://schemas.openxmlformats.org/officeDocument/2006/relationships/slide" Target="/ppt/slides/slide22.xml" Id="R09fa072ca82e4ee0" /><Relationship Type="http://schemas.openxmlformats.org/officeDocument/2006/relationships/slide" Target="/ppt/slides/slide23.xml" Id="R8e9a70713b794f89" /><Relationship Type="http://schemas.openxmlformats.org/officeDocument/2006/relationships/slide" Target="/ppt/slides/slide24.xml" Id="Ra41aaebca2b14140" /><Relationship Type="http://schemas.openxmlformats.org/officeDocument/2006/relationships/slide" Target="/ppt/slides/slide25.xml" Id="Rac31f13b65544d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e3591cdd945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cc9622ac1d49ae" /><Relationship Type="http://schemas.openxmlformats.org/officeDocument/2006/relationships/notesMaster" Target="/ppt/notesMasters/notesMaster1.xml" Id="Rf6b972bc8d4f4b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cbb24739514a07" /><Relationship Type="http://schemas.openxmlformats.org/officeDocument/2006/relationships/notesMaster" Target="/ppt/notesMasters/notesMaster1.xml" Id="R38e1827114fa4b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fc3eeb8e644fbc" /><Relationship Type="http://schemas.openxmlformats.org/officeDocument/2006/relationships/notesMaster" Target="/ppt/notesMasters/notesMaster1.xml" Id="R97cc55ffa4174d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c8a6b4244c4874" /><Relationship Type="http://schemas.openxmlformats.org/officeDocument/2006/relationships/notesMaster" Target="/ppt/notesMasters/notesMaster1.xml" Id="Re2f0990b3ef94e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cf5d9ffac247a4" /><Relationship Type="http://schemas.openxmlformats.org/officeDocument/2006/relationships/notesMaster" Target="/ppt/notesMasters/notesMaster1.xml" Id="R7821af4d79de41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d6d301dabb4b21" /><Relationship Type="http://schemas.openxmlformats.org/officeDocument/2006/relationships/notesMaster" Target="/ppt/notesMasters/notesMaster1.xml" Id="R7b15c48e1e064f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3bc6801f98410b" /><Relationship Type="http://schemas.openxmlformats.org/officeDocument/2006/relationships/notesMaster" Target="/ppt/notesMasters/notesMaster1.xml" Id="R151f6595adcd44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cc2e5708bf4877" /><Relationship Type="http://schemas.openxmlformats.org/officeDocument/2006/relationships/notesMaster" Target="/ppt/notesMasters/notesMaster1.xml" Id="R55ad0e026c3749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c5eb90b2424a0c" /><Relationship Type="http://schemas.openxmlformats.org/officeDocument/2006/relationships/notesMaster" Target="/ppt/notesMasters/notesMaster1.xml" Id="Rd8dc4fa48dee4c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aa281e20574e09" /><Relationship Type="http://schemas.openxmlformats.org/officeDocument/2006/relationships/notesMaster" Target="/ppt/notesMasters/notesMaster1.xml" Id="R6d2441888af14e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5fa0b430e4b3e" /><Relationship Type="http://schemas.openxmlformats.org/officeDocument/2006/relationships/notesMaster" Target="/ppt/notesMasters/notesMaster1.xml" Id="R9575d691977b4d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1d5e6d46a04d51" /><Relationship Type="http://schemas.openxmlformats.org/officeDocument/2006/relationships/notesMaster" Target="/ppt/notesMasters/notesMaster1.xml" Id="R3524b50417a94e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7cc22ca2244861" /><Relationship Type="http://schemas.openxmlformats.org/officeDocument/2006/relationships/notesMaster" Target="/ppt/notesMasters/notesMaster1.xml" Id="R5906e8c283654b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8802e74b6f4f84" /><Relationship Type="http://schemas.openxmlformats.org/officeDocument/2006/relationships/notesMaster" Target="/ppt/notesMasters/notesMaster1.xml" Id="Ra6de14ceaadb4d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8b8323c8d44f10" /><Relationship Type="http://schemas.openxmlformats.org/officeDocument/2006/relationships/notesMaster" Target="/ppt/notesMasters/notesMaster1.xml" Id="Rfdef6aff072541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5117b376a64037" /><Relationship Type="http://schemas.openxmlformats.org/officeDocument/2006/relationships/notesMaster" Target="/ppt/notesMasters/notesMaster1.xml" Id="Rb62b04d7c0e645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6ac0e6b6e34c25" /><Relationship Type="http://schemas.openxmlformats.org/officeDocument/2006/relationships/notesMaster" Target="/ppt/notesMasters/notesMaster1.xml" Id="R1ceeb3ee295b47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90de4c87ad4b77" /><Relationship Type="http://schemas.openxmlformats.org/officeDocument/2006/relationships/notesMaster" Target="/ppt/notesMasters/notesMaster1.xml" Id="R5184319b2c264b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5b14d0aea348c9" /><Relationship Type="http://schemas.openxmlformats.org/officeDocument/2006/relationships/notesMaster" Target="/ppt/notesMasters/notesMaster1.xml" Id="Rc28474fc35474a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ff4e2ab5d54144" /><Relationship Type="http://schemas.openxmlformats.org/officeDocument/2006/relationships/notesMaster" Target="/ppt/notesMasters/notesMaster1.xml" Id="Ra830de0ab13f46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3111db366e47ff" /><Relationship Type="http://schemas.openxmlformats.org/officeDocument/2006/relationships/notesMaster" Target="/ppt/notesMasters/notesMaster1.xml" Id="R68e02ee940a149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2b3826e72247f3" /><Relationship Type="http://schemas.openxmlformats.org/officeDocument/2006/relationships/notesMaster" Target="/ppt/notesMasters/notesMaster1.xml" Id="R05c65b1b1c944d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3ddc8d3aa354f39" /><Relationship Type="http://schemas.openxmlformats.org/officeDocument/2006/relationships/notesMaster" Target="/ppt/notesMasters/notesMaster1.xml" Id="R8ecdc10b57164a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c23fb860164442" /><Relationship Type="http://schemas.openxmlformats.org/officeDocument/2006/relationships/notesMaster" Target="/ppt/notesMasters/notesMaster1.xml" Id="R5ff78ad3d35c4b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b20e4f9207c4856" /><Relationship Type="http://schemas.openxmlformats.org/officeDocument/2006/relationships/notesMaster" Target="/ppt/notesMasters/notesMaster1.xml" Id="R69470f9ca0594d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40</a:t>
            </a:r>
          </a:p>
          <a:p xmlns:a="http://schemas.openxmlformats.org/drawingml/2006/main">
            <a:r>
              <a:t/>
            </a:r>
          </a:p>
          <a:p xmlns:a="http://schemas.openxmlformats.org/drawingml/2006/main">
            <a:r>
              <a:t>Crypto Viz collecte des actualités crypto, les enrichit en continu et produit des indicateurs temporels dans Grafana. Le projet vise une architecture orientée Big Data : le volume de démonstration reste limité, mais le transport, la pression, la reprise et la montée en charge sont traités explicitement. J’annonce dès le départ cette limite pour rester crédible.</a:t>
            </a:r>
          </a:p>
          <a:p xmlns:a="http://schemas.openxmlformats.org/drawingml/2006/main">
            <a:r>
              <a:t/>
            </a:r>
          </a:p>
          <a:p xmlns:a="http://schemas.openxmlformats.org/drawingml/2006/main">
            <a:r>
              <a:t>Sources et preuves :</a:t>
            </a:r>
          </a:p>
          <a:p xmlns:a="http://schemas.openxmlformats.org/drawingml/2006/main">
            <a:r>
              <a:t>- README.md</a:t>
            </a:r>
          </a:p>
          <a:p xmlns:a="http://schemas.openxmlformats.org/drawingml/2006/main">
            <a:r>
              <a:t>-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Le problème n’est pas seulement de récupérer des pages. Il faut transformer un flux irrégulier en information stable et interrogeable. Une architecture synchrone couplerait trop fortement collecte, calcul et stockage : une panne en aval bloquerait la source. Le pipeline asynchrone sépare ces rythmes.</a:t>
            </a:r>
          </a:p>
          <a:p xmlns:a="http://schemas.openxmlformats.org/drawingml/2006/main">
            <a:r>
              <a:t/>
            </a:r>
          </a:p>
          <a:p xmlns:a="http://schemas.openxmlformats.org/drawingml/2006/main">
            <a:r>
              <a:t>Sources et preuves :</a:t>
            </a:r>
          </a:p>
          <a:p xmlns:a="http://schemas.openxmlformats.org/drawingml/2006/main">
            <a:r>
              <a:t>- README.md, section About</a:t>
            </a:r>
          </a:p>
          <a:p xmlns:a="http://schemas.openxmlformats.org/drawingml/2006/main">
            <a:r>
              <a:t>- docs/REPORT.md, section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Le résultat attendu n’est pas une recommandation financière. Crypto Viz mesure l’activité éditoriale : combien d’articles arrivent, de quels thèmes ils parlent, quel sentiment lexical ils portent et avec quelle performance le pipeline les traite. Cette distinction évite de présenter une corrélation éditoriale comme un signal de trading.</a:t>
            </a:r>
          </a:p>
          <a:p xmlns:a="http://schemas.openxmlformats.org/drawingml/2006/main">
            <a:r>
              <a:t/>
            </a:r>
          </a:p>
          <a:p xmlns:a="http://schemas.openxmlformats.org/drawingml/2006/main">
            <a:r>
              <a:t>Sources et preuves :</a:t>
            </a:r>
          </a:p>
          <a:p xmlns:a="http://schemas.openxmlformats.org/drawingml/2006/main">
            <a:r>
              <a:t>- grafana/dashboards/crypto-news.json</a:t>
            </a:r>
          </a:p>
          <a:p xmlns:a="http://schemas.openxmlformats.org/drawingml/2006/main">
            <a:r>
              <a:t>- script/createTableCrypto.sql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Je découpe le besoin selon les responsabilités : le scraper normalise, Analytics enrichit, Storage persiste et agrège, Grafana visualise. Python a été retenu pour garder des workers courts et lisibles. Un service unique aurait réduit le nombre de conteneurs, mais aurait mêlé les cycles de panne et empêché le scaling ciblé.</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app/scrap</a:t>
            </a:r>
          </a:p>
          <a:p xmlns:a="http://schemas.openxmlformats.org/drawingml/2006/main">
            <a:r>
              <a:t>- app/analytics</a:t>
            </a:r>
          </a:p>
          <a:p xmlns:a="http://schemas.openxmlformats.org/drawingml/2006/main">
            <a:r>
              <a:t>- app/queue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Les deux sources apportent plusieurs producteurs mais peu de variété de format, car toutes deux exposent du RSS. Le polling à 60 secondes correspond au rythme d’une actualité et évite une connexion permanente inutile. Un scraping HTML serait plus fragile. Une API officielle serait préférable si elle garantissait les mêmes champs et une disponibilité suffisante.</a:t>
            </a:r>
          </a:p>
          <a:p xmlns:a="http://schemas.openxmlformats.org/drawingml/2006/main">
            <a:r>
              <a:t/>
            </a:r>
          </a:p>
          <a:p xmlns:a="http://schemas.openxmlformats.org/drawingml/2006/main">
            <a:r>
              <a:t>Sources et preuves :</a:t>
            </a:r>
          </a:p>
          <a:p xmlns:a="http://schemas.openxmlformats.org/drawingml/2006/main">
            <a:r>
              <a:t>- app/scrap/cryptoscrap.py</a:t>
            </a:r>
          </a:p>
          <a:p xmlns:a="http://schemas.openxmlformats.org/drawingml/2006/main">
            <a:r>
              <a:t>- docker-compose.yml, NEWS_FEED_URLS et SCRAPE_INTERVAL_SECONDS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Un contrat commun découple les traitements de la structure propre à chaque flux. Le SHA-256 de l’URL fournit un identifiant déterministe : deux collectes du même lien produisent la même clé. Ce choix est simple et sans état côté scraper. Sa limite est la stabilité de l’URL ; en production, je canonicaliserais les paramètres de tracking avant le hash.</a:t>
            </a:r>
          </a:p>
          <a:p xmlns:a="http://schemas.openxmlformats.org/drawingml/2006/main">
            <a:r>
              <a:t/>
            </a:r>
          </a:p>
          <a:p xmlns:a="http://schemas.openxmlformats.org/drawingml/2006/main">
            <a:r>
              <a:t>Sources et preuves :</a:t>
            </a:r>
          </a:p>
          <a:p xmlns:a="http://schemas.openxmlformats.org/drawingml/2006/main">
            <a:r>
              <a:t>- app/scrap/cryptoscrap.py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40</a:t>
            </a:r>
          </a:p>
          <a:p xmlns:a="http://schemas.openxmlformats.org/drawingml/2006/main">
            <a:r>
              <a:t/>
            </a:r>
          </a:p>
          <a:p xmlns:a="http://schemas.openxmlformats.org/drawingml/2006/main">
            <a:r>
              <a:t>Je parcours un article de gauche à droite. RabbitMQ se trouve deux fois dans le schéma, mais il s’agit du même broker et de deux queues. La première protège l’ingestion du temps d’analyse. La seconde protège l’analyse du temps d’écriture. Grafana ne consomme pas la queue : il interroge MySQL.</a:t>
            </a:r>
          </a:p>
          <a:p xmlns:a="http://schemas.openxmlformats.org/drawingml/2006/main">
            <a:r>
              <a:t/>
            </a:r>
          </a:p>
          <a:p xmlns:a="http://schemas.openxmlformats.org/drawingml/2006/main">
            <a:r>
              <a:t>Sources et preuves :</a:t>
            </a:r>
          </a:p>
          <a:p xmlns:a="http://schemas.openxmlformats.org/drawingml/2006/main">
            <a:r>
              <a:t>- README.md, diagramme d’architecture</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Docker Compose apporte un démarrage reproductible, des réseaux séparés, des healthchecks et des volumes. Il ne fournit pas de haute disponibilité multi-hôtes. Kubernetes serait disproportionné pour une démonstration locale ; il deviendrait pertinent pour l’auto-réparation, le placement sur plusieurs machines et l’autoscaling.</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Dockerfiles des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feedparser a été choisi parce qu’il normalise déjà de nombreuses variantes RSS et Atom. Le scraper reste producteur uniquement : il ne connaît ni MySQL ni Grafana. Cette séparation facilite les tests et permet de changer la destination sans réécrire la collecte.</a:t>
            </a:r>
          </a:p>
          <a:p xmlns:a="http://schemas.openxmlformats.org/drawingml/2006/main">
            <a:r>
              <a:t/>
            </a:r>
          </a:p>
          <a:p xmlns:a="http://schemas.openxmlformats.org/drawingml/2006/main">
            <a:r>
              <a:t>Sources et preuves :</a:t>
            </a:r>
          </a:p>
          <a:p xmlns:a="http://schemas.openxmlformats.org/drawingml/2006/main">
            <a:r>
              <a:t>- app/scrap/cryptoscrap.py</a:t>
            </a:r>
          </a:p>
          <a:p xmlns:a="http://schemas.openxmlformats.org/drawingml/2006/main">
            <a:r>
              <a:t>- tests/test_scraper.py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RabbitMQ correspond à une file de travail avec acquittement, requeue et consommateurs concurrents. Kafka serait utile pour conserver un journal rejouable, gérer plusieurs groupes de consommateurs indépendants ou atteindre des débits bien supérieurs. Pour deux RSS et une chaîne unique, RabbitMQ réduit la complexité opérationnelle.</a:t>
            </a:r>
          </a:p>
          <a:p xmlns:a="http://schemas.openxmlformats.org/drawingml/2006/main">
            <a:r>
              <a:t/>
            </a:r>
          </a:p>
          <a:p xmlns:a="http://schemas.openxmlformats.org/drawingml/2006/main">
            <a:r>
              <a:t>Sources et preuves :</a:t>
            </a:r>
          </a:p>
          <a:p xmlns:a="http://schemas.openxmlformats.org/drawingml/2006/main">
            <a:r>
              <a:t>- app/scrap/main.py</a:t>
            </a:r>
          </a:p>
          <a:p xmlns:a="http://schemas.openxmlformats.org/drawingml/2006/main">
            <a:r>
              <a:t>- app/analytics/main.py</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L’approche lexicale est déterministe, rapide, locale et explicable devant un jury. Un Transformer pourrait mieux comprendre le contexte, mais nécessiterait un jeu annoté, une métrique de qualité et davantage de ressources. Sans validation, remplacer le lexique par un modèle complexe donnerait une impression de sophistication sans preuve de gain.</a:t>
            </a:r>
          </a:p>
          <a:p xmlns:a="http://schemas.openxmlformats.org/drawingml/2006/main">
            <a:r>
              <a:t/>
            </a:r>
          </a:p>
          <a:p xmlns:a="http://schemas.openxmlformats.org/drawingml/2006/main">
            <a:r>
              <a:t>Sources et preuves :</a:t>
            </a:r>
          </a:p>
          <a:p xmlns:a="http://schemas.openxmlformats.org/drawingml/2006/main">
            <a:r>
              <a:t>- app/analytics/analytics.py</a:t>
            </a:r>
          </a:p>
          <a:p xmlns:a="http://schemas.openxmlformats.org/drawingml/2006/main">
            <a:r>
              <a:t>- tests/test_analytics.py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L’événement enrichi conserve le message source et ajoute uniquement les résultats analytiques. Le même article_id traverse toute la chaîne, ce qui facilite le diagnostic. Un schéma versionné serait la prochaine étape si plusieurs versions de producteurs devaient cohabiter.</a:t>
            </a:r>
          </a:p>
          <a:p xmlns:a="http://schemas.openxmlformats.org/drawingml/2006/main">
            <a:r>
              <a:t/>
            </a:r>
          </a:p>
          <a:p xmlns:a="http://schemas.openxmlformats.org/drawingml/2006/main">
            <a:r>
              <a:t>Sources et preuves :</a:t>
            </a:r>
          </a:p>
          <a:p xmlns:a="http://schemas.openxmlformats.org/drawingml/2006/main">
            <a:r>
              <a:t>- app/analytics/main.py</a:t>
            </a:r>
          </a:p>
          <a:p xmlns:a="http://schemas.openxmlformats.org/drawingml/2006/main">
            <a:r>
              <a:t>- app/analytics/analytics.py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MySQL convient parce que les champs sont stables, les contraintes d’unicité essentielles et les requêtes Grafana structurées. MongoDB offrirait plus de souplesse documentaire, mais apporterait peu ici. La transaction regroupe l’article et les agrégats ; l’ACK RabbitMQ n’arrive qu’après la réussite du stockage.</a:t>
            </a:r>
          </a:p>
          <a:p xmlns:a="http://schemas.openxmlformats.org/drawingml/2006/main">
            <a:r>
              <a:t/>
            </a:r>
          </a:p>
          <a:p xmlns:a="http://schemas.openxmlformats.org/drawingml/2006/main">
            <a:r>
              <a:t>Sources et preuves :</a:t>
            </a:r>
          </a:p>
          <a:p xmlns:a="http://schemas.openxmlformats.org/drawingml/2006/main">
            <a:r>
              <a:t>- app/queue/database/storage.py</a:t>
            </a:r>
          </a:p>
          <a:p xmlns:a="http://schemas.openxmlformats.org/drawingml/2006/main">
            <a:r>
              <a:t>- script/createTableCrypto.sql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Les agrégats sont mis à jour lors de chaque nouvelle insertion. Grafana évite donc de rescanner tous les articles toutes les trente secondes. Ce choix déplace un petit coût vers l’écriture et stabilise la lecture. Pour de très gros volumes, un moteur OLAP en colonnes pourrait remplacer ou compléter MySQL.</a:t>
            </a:r>
          </a:p>
          <a:p xmlns:a="http://schemas.openxmlformats.org/drawingml/2006/main">
            <a:r>
              <a:t/>
            </a:r>
          </a:p>
          <a:p xmlns:a="http://schemas.openxmlformats.org/drawingml/2006/main">
            <a:r>
              <a:t>Sources et preuves :</a:t>
            </a:r>
          </a:p>
          <a:p xmlns:a="http://schemas.openxmlformats.org/drawingml/2006/main">
            <a:r>
              <a:t>- app/queue/database/storage.py</a:t>
            </a:r>
          </a:p>
          <a:p xmlns:a="http://schemas.openxmlformats.org/drawingml/2006/main">
            <a:r>
              <a:t>- grafana/dashboards/crypto-news.json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Grafana a été retenu pour ses requêtes temporelles, son auto-refresh et son provisioning. Développer une interface web sur mesure aurait donné davantage de contrôle visuel, mais aurait détourné du sujet data. Grafana reste découplé : sa panne n’empêche ni l’ingestion ni le stockage.</a:t>
            </a:r>
          </a:p>
          <a:p xmlns:a="http://schemas.openxmlformats.org/drawingml/2006/main">
            <a:r>
              <a:t/>
            </a:r>
          </a:p>
          <a:p xmlns:a="http://schemas.openxmlformats.org/drawingml/2006/main">
            <a:r>
              <a:t>Sources et preuves :</a:t>
            </a:r>
          </a:p>
          <a:p xmlns:a="http://schemas.openxmlformats.org/drawingml/2006/main">
            <a:r>
              <a:t>- grafana/dashboards/crypto-news.json</a:t>
            </a:r>
          </a:p>
          <a:p xmlns:a="http://schemas.openxmlformats.org/drawingml/2006/main">
            <a:r>
              <a:t>- grafana/provisioning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Cette chronologie distingue le temps métier du temps système. La latence enregistrée commence à collected_at, pas au moment exact où l’éditeur publie. Elle mesure donc le pipeline après collecte. Cette limite doit être annoncée pour ne pas surinterpréter la métrique.</a:t>
            </a:r>
          </a:p>
          <a:p xmlns:a="http://schemas.openxmlformats.org/drawingml/2006/main">
            <a:r>
              <a:t/>
            </a:r>
          </a:p>
          <a:p xmlns:a="http://schemas.openxmlformats.org/drawingml/2006/main">
            <a:r>
              <a:t>Sources et preuves :</a:t>
            </a:r>
          </a:p>
          <a:p xmlns:a="http://schemas.openxmlformats.org/drawingml/2006/main">
            <a:r>
              <a:t>- app/queue/database/storage.py, calcul latency_ms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20</a:t>
            </a:r>
          </a:p>
          <a:p xmlns:a="http://schemas.openxmlformats.org/drawingml/2006/main">
            <a:r>
              <a:t/>
            </a:r>
          </a:p>
          <a:p xmlns:a="http://schemas.openxmlformats.org/drawingml/2006/main">
            <a:r>
              <a:t>RabbitMQ peut redélivrer un message si le worker tombe avant l’ACK. Le système ne promet donc pas exactement une fois. Les erreurs transitoires sont rejouées. Les messages invalides ne doivent pas tourner indéfiniment : ils sont rejetés et routés vers une dead-letter queue. L’idempotence rend les redélivraisons acceptables.</a:t>
            </a:r>
          </a:p>
          <a:p xmlns:a="http://schemas.openxmlformats.org/drawingml/2006/main">
            <a:r>
              <a:t/>
            </a:r>
          </a:p>
          <a:p xmlns:a="http://schemas.openxmlformats.org/drawingml/2006/main">
            <a:r>
              <a:t>Sources et preuves :</a:t>
            </a:r>
          </a:p>
          <a:p xmlns:a="http://schemas.openxmlformats.org/drawingml/2006/main">
            <a:r>
              <a:t>- app/analytics/main.py</a:t>
            </a:r>
          </a:p>
          <a:p xmlns:a="http://schemas.openxmlformats.org/drawingml/2006/main">
            <a:r>
              <a:t>- app/queue/database/storage.py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30</a:t>
            </a:r>
          </a:p>
          <a:p xmlns:a="http://schemas.openxmlformats.org/drawingml/2006/main">
            <a:r>
              <a:t/>
            </a:r>
          </a:p>
          <a:p xmlns:a="http://schemas.openxmlformats.org/drawingml/2006/main">
            <a:r>
              <a:t>C’est le scénario de panne central. Après le commit mais avant l’ACK, RabbitMQ considère le message non terminé et le redélivre. INSERT IGNORE retourne zéro ligne pour le doublon ; le code sort alors sans modifier les agrégats. Cette combinaison donne une livraison au moins une fois avec un effet idempotent en base.</a:t>
            </a:r>
          </a:p>
          <a:p xmlns:a="http://schemas.openxmlformats.org/drawingml/2006/main">
            <a:r>
              <a:t/>
            </a:r>
          </a:p>
          <a:p xmlns:a="http://schemas.openxmlformats.org/drawingml/2006/main">
            <a:r>
              <a:t>Sources et preuves :</a:t>
            </a:r>
          </a:p>
          <a:p xmlns:a="http://schemas.openxmlformats.org/drawingml/2006/main">
            <a:r>
              <a:t>- app/queue/database/storage.py, méthode store et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La DLQ sépare les erreurs permanentes des indisponibilités temporaires. Sans elle, un reject sans requeue ferait disparaître la preuve ; avec une requeue systématique, un poison message tournerait sans fin. Un exchange direct commun route chaque message vers la DLQ liée à sa queue d’origine.</a:t>
            </a:r>
          </a:p>
          <a:p xmlns:a="http://schemas.openxmlformats.org/drawingml/2006/main">
            <a:r>
              <a:t/>
            </a:r>
          </a:p>
          <a:p xmlns:a="http://schemas.openxmlformats.org/drawingml/2006/main">
            <a:r>
              <a:t>Sources et preuves :</a:t>
            </a:r>
          </a:p>
          <a:p xmlns:a="http://schemas.openxmlformats.org/drawingml/2006/main">
            <a:r>
              <a:t>- app/analytics/main.py, declare_queue_with_dlq</a:t>
            </a:r>
          </a:p>
          <a:p xmlns:a="http://schemas.openxmlformats.org/drawingml/2006/main">
            <a:r>
              <a:t>- app/queue/database/storage.py, declare_queue_with_dlq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25</a:t>
            </a:r>
          </a:p>
          <a:p xmlns:a="http://schemas.openxmlformats.org/drawingml/2006/main">
            <a:r>
              <a:t/>
            </a:r>
          </a:p>
          <a:p xmlns:a="http://schemas.openxmlformats.org/drawingml/2006/main">
            <a:r>
              <a:t>Analytics est sans état local : plusieurs réplicas peuvent partager raw_news. RabbitMQ répartit les messages et prefetch évite qu’un seul worker réserve tout le backlog. J’ai retiré le container_name fixe qui empêchait Compose de créer plusieurs instances. Le stockage reste à un replica pour éviter de prétendre avoir validé la concurrence MySQL sans benchmark.</a:t>
            </a:r>
          </a:p>
          <a:p xmlns:a="http://schemas.openxmlformats.org/drawingml/2006/main">
            <a:r>
              <a:t/>
            </a:r>
          </a:p>
          <a:p xmlns:a="http://schemas.openxmlformats.org/drawingml/2006/main">
            <a:r>
              <a:t>Sources et preuves :</a:t>
            </a:r>
          </a:p>
          <a:p xmlns:a="http://schemas.openxmlformats.org/drawingml/2006/main">
            <a:r>
              <a:t>- docker-compose.yml, service analytics</a:t>
            </a:r>
          </a:p>
          <a:p xmlns:a="http://schemas.openxmlformats.org/drawingml/2006/main">
            <a:r>
              <a:t>- README.md, commande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Le débit et la latence sont matérialisés dans MySQL puis visualisés dans Grafana. RabbitMQ apporte la profondeur de queue et le nombre de consommateurs. Ces métriques permettent de décider si un replica supplémentaire suffit. Un test de charge reste nécessaire pour déterminer le véritable seuil du système.</a:t>
            </a:r>
          </a:p>
          <a:p xmlns:a="http://schemas.openxmlformats.org/drawingml/2006/main">
            <a:r>
              <a:t/>
            </a:r>
          </a:p>
          <a:p xmlns:a="http://schemas.openxmlformats.org/drawingml/2006/main">
            <a:r>
              <a:t>Sources et preuves :</a:t>
            </a:r>
          </a:p>
          <a:p xmlns:a="http://schemas.openxmlformats.org/drawingml/2006/main">
            <a:r>
              <a:t>- pipeline_hourly dans app/queue/database/storage.py</a:t>
            </a:r>
          </a:p>
          <a:p xmlns:a="http://schemas.openxmlformats.org/drawingml/2006/main">
            <a:r>
              <a:t>- docs/assets/rabbitmq-overview.png</a:t>
            </a:r>
          </a:p>
          <a:p xmlns:a="http://schemas.openxmlformats.org/drawingml/2006/main">
            <a:r>
              <a:t>- grafana/dashboards/crypto-news.json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25</a:t>
            </a:r>
          </a:p>
          <a:p xmlns:a="http://schemas.openxmlformats.org/drawingml/2006/main">
            <a:r>
              <a:t/>
            </a:r>
          </a:p>
          <a:p xmlns:a="http://schemas.openxmlformats.org/drawingml/2006/main">
            <a:r>
              <a:t>Je ne qualifie pas le jeu de données actuel de massif. La force du projet porte sur la vélocité, la fiabilité et le traitement incrémental. La variété reste limitée car deux producteurs RSS ne créent pas deux formats. La formulation crédible est : architecture orientée Big Data, montée en charge démontrable mais pas encore benchmarkée.</a:t>
            </a:r>
          </a:p>
          <a:p xmlns:a="http://schemas.openxmlformats.org/drawingml/2006/main">
            <a:r>
              <a:t/>
            </a:r>
          </a:p>
          <a:p xmlns:a="http://schemas.openxmlformats.org/drawingml/2006/main">
            <a:r>
              <a:t>Sources et preuves :</a:t>
            </a:r>
          </a:p>
          <a:p xmlns:a="http://schemas.openxmlformats.org/drawingml/2006/main">
            <a:r>
              <a:t>- docs/REPORT.md, Big-data orientation and scalability</a:t>
            </a:r>
          </a:p>
          <a:p xmlns:a="http://schemas.openxmlformats.org/drawingml/2006/main">
            <a:r>
              <a:t>- docs/PREPARATION_SOUTENANCE.md, Niveau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Compose améliore la reprise mais ne crée pas une plateforme haute disponibilité. Les deux RSS limitent la diversité. Le score lexical doit être présenté comme indicateur explicable, non comme vérité sémantique. Dire ces limites renforce la soutenance, car chaque amélioration future correspond à un risque identifié.</a:t>
            </a:r>
          </a:p>
          <a:p xmlns:a="http://schemas.openxmlformats.org/drawingml/2006/main">
            <a:r>
              <a:t/>
            </a:r>
          </a:p>
          <a:p xmlns:a="http://schemas.openxmlformats.org/drawingml/2006/main">
            <a:r>
              <a:t>Sources et preuves :</a:t>
            </a:r>
          </a:p>
          <a:p xmlns:a="http://schemas.openxmlformats.org/drawingml/2006/main">
            <a:r>
              <a:t>- docs/PREPARATION_SOUTENANCE.md, Limites à reconnaître</a:t>
            </a:r>
          </a:p>
          <a:p xmlns:a="http://schemas.openxmlformats.org/drawingml/2006/main">
            <a:r>
              <a:t>-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 min 30</a:t>
            </a:r>
          </a:p>
          <a:p xmlns:a="http://schemas.openxmlformats.org/drawingml/2006/main">
            <a:r>
              <a:t/>
            </a:r>
          </a:p>
          <a:p xmlns:a="http://schemas.openxmlformats.org/drawingml/2006/main">
            <a:r>
              <a:t>La démonstration commence par docker compose ps, puis RabbitMQ pour montrer raw_news, enriched_news et les DLQ. Je montre ensuite trois consumers Analytics, puis Grafana. Si le réseau externe ne publie rien, les captures et les données existantes suffisent. La prochaine évolution prioritaire est un générateur de charge avec comparaison un, deux et trois workers.</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docs/assets/rabbitmq-queues.png</a:t>
            </a:r>
          </a:p>
          <a:p xmlns:a="http://schemas.openxmlformats.org/drawingml/2006/main">
            <a:r>
              <a:t>- docs/assets/grafana-dashboard.png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50</a:t>
            </a:r>
          </a:p>
          <a:p xmlns:a="http://schemas.openxmlformats.org/drawingml/2006/main">
            <a:r>
              <a:t/>
            </a:r>
          </a:p>
          <a:p xmlns:a="http://schemas.openxmlformats.org/drawingml/2006/main">
            <a:r>
              <a:t>Crypto Viz couvre toute la chaîne : acquisition, transport asynchrone, enrichissement, stockage transactionnel, agrégats et visualisation. Les deux améliorations apportées renforcent la défense technique : les erreurs permanentes restent inspectables et Analytics scale horizontalement. Le projet démontre des principes Big Data sans prétendre avoir déjà un volume massif.</a:t>
            </a:r>
          </a:p>
          <a:p xmlns:a="http://schemas.openxmlformats.org/drawingml/2006/main">
            <a:r>
              <a:t/>
            </a:r>
          </a:p>
          <a:p xmlns:a="http://schemas.openxmlformats.org/drawingml/2006/main">
            <a:r>
              <a:t>Sources et preuves :</a:t>
            </a:r>
          </a:p>
          <a:p xmlns:a="http://schemas.openxmlformats.org/drawingml/2006/main">
            <a:r>
              <a:t>- README.md</a:t>
            </a:r>
          </a:p>
          <a:p xmlns:a="http://schemas.openxmlformats.org/drawingml/2006/main">
            <a:r>
              <a:t>- docs/REPORT.md</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d8963e82bc40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bfd03c994b4315" /><Relationship Type="http://schemas.openxmlformats.org/officeDocument/2006/relationships/slideLayout" Target="/ppt/slideLayouts/slideLayout1.xml" Id="R12eb17426ea441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eb17426ea441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48becd50d742b7" /><Relationship Type="http://schemas.openxmlformats.org/officeDocument/2006/relationships/notesSlide" Target="/ppt/notesSlides/notesSlide1.xml" Id="R7bcf815c31a642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466f801ef24705" /><Relationship Type="http://schemas.openxmlformats.org/officeDocument/2006/relationships/notesSlide" Target="/ppt/notesSlides/notesSlide2.xml" Id="Reb6bca4003d348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26fdc971ec4f7d" /><Relationship Type="http://schemas.openxmlformats.org/officeDocument/2006/relationships/notesSlide" Target="/ppt/notesSlides/notesSlide3.xml" Id="Rc11b3bc24b75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95157b7a51456a" /><Relationship Type="http://schemas.openxmlformats.org/officeDocument/2006/relationships/notesSlide" Target="/ppt/notesSlides/notesSlide4.xml" Id="Rdd14477236144d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e2dc7b029d4816" /><Relationship Type="http://schemas.openxmlformats.org/officeDocument/2006/relationships/notesSlide" Target="/ppt/notesSlides/notesSlide5.xml" Id="Rff93a2f67eef48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fc309aab0940de" /><Relationship Type="http://schemas.openxmlformats.org/officeDocument/2006/relationships/notesSlide" Target="/ppt/notesSlides/notesSlide6.xml" Id="R2852b96133364b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ca1c4856034ca7" /><Relationship Type="http://schemas.openxmlformats.org/officeDocument/2006/relationships/notesSlide" Target="/ppt/notesSlides/notesSlide7.xml" Id="R3a77ef45857d43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49af06481d4cbc" /><Relationship Type="http://schemas.openxmlformats.org/officeDocument/2006/relationships/notesSlide" Target="/ppt/notesSlides/notesSlide8.xml" Id="R06e8267a4d544e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0be8b5ea174d30" /><Relationship Type="http://schemas.openxmlformats.org/officeDocument/2006/relationships/notesSlide" Target="/ppt/notesSlides/notesSlide9.xml" Id="Ra67d5c7ece2e4f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a9aca6cfdc4af3" /><Relationship Type="http://schemas.openxmlformats.org/officeDocument/2006/relationships/notesSlide" Target="/ppt/notesSlides/notesSlide10.xml" Id="Rbfabe341a7b748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bd4592a9d740e7" /><Relationship Type="http://schemas.openxmlformats.org/officeDocument/2006/relationships/notesSlide" Target="/ppt/notesSlides/notesSlide11.xml" Id="Rc060e24c87c645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68dd48ebb74983" /><Relationship Type="http://schemas.openxmlformats.org/officeDocument/2006/relationships/notesSlide" Target="/ppt/notesSlides/notesSlide12.xml" Id="Rcb443e2792c04d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60786aab164c46" /><Relationship Type="http://schemas.openxmlformats.org/officeDocument/2006/relationships/notesSlide" Target="/ppt/notesSlides/notesSlide13.xml" Id="R0f0cf097a54e49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839fa91bedc41a8" /><Relationship Type="http://schemas.openxmlformats.org/officeDocument/2006/relationships/notesSlide" Target="/ppt/notesSlides/notesSlide14.xml" Id="R34015730517345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914a84f2f04125" /><Relationship Type="http://schemas.openxmlformats.org/officeDocument/2006/relationships/notesSlide" Target="/ppt/notesSlides/notesSlide15.xml" Id="R24d9824759f143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f836b092ae4be8" /><Relationship Type="http://schemas.openxmlformats.org/officeDocument/2006/relationships/notesSlide" Target="/ppt/notesSlides/notesSlide16.xml" Id="Rb6187e9fa91343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dfaba388d0424b" /><Relationship Type="http://schemas.openxmlformats.org/officeDocument/2006/relationships/notesSlide" Target="/ppt/notesSlides/notesSlide17.xml" Id="R479938410b4b42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0d98e2a7ff4ec7" /><Relationship Type="http://schemas.openxmlformats.org/officeDocument/2006/relationships/notesSlide" Target="/ppt/notesSlides/notesSlide18.xml" Id="Raf1519f820c447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16fa82a8504920" /><Relationship Type="http://schemas.openxmlformats.org/officeDocument/2006/relationships/notesSlide" Target="/ppt/notesSlides/notesSlide19.xml" Id="R5c1c5ed50b9047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c8ee8a474ca4d76" /><Relationship Type="http://schemas.openxmlformats.org/officeDocument/2006/relationships/notesSlide" Target="/ppt/notesSlides/notesSlide20.xml" Id="Rf050d37c36dc40d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c63315e38742a5" /><Relationship Type="http://schemas.openxmlformats.org/officeDocument/2006/relationships/notesSlide" Target="/ppt/notesSlides/notesSlide21.xml" Id="Rdbe054745ae94d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6f9eb9fa32421a" /><Relationship Type="http://schemas.openxmlformats.org/officeDocument/2006/relationships/notesSlide" Target="/ppt/notesSlides/notesSlide22.xml" Id="R33b48124cb7447d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9b7b159a8a4435" /><Relationship Type="http://schemas.openxmlformats.org/officeDocument/2006/relationships/notesSlide" Target="/ppt/notesSlides/notesSlide23.xml" Id="R73c7075b32e34cb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8af7da19e8048f8" /><Relationship Type="http://schemas.openxmlformats.org/officeDocument/2006/relationships/notesSlide" Target="/ppt/notesSlides/notesSlide24.xml" Id="R802b7a6684b64c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a4ff714a69746f9" /><Relationship Type="http://schemas.openxmlformats.org/officeDocument/2006/relationships/notesSlide" Target="/ppt/notesSlides/notesSlide25.xml" Id="R26d310618a354a7c" /></Relationships>
</file>

<file path=ppt/slides/slide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D4ADE0-438C-455C-983E-B1E2938CEB27}"/>
              </a:ext>
            </a:extLst>
          </p:cNvPr>
          <p:cNvSpPr>
            <a:spLocks xmlns:a="http://schemas.openxmlformats.org/drawingml/2006/main" noGrp="1"/>
          </p:cNvSpPr>
          <p:nvPr/>
        </p:nvSpPr>
        <p:spPr>
          <a:xfrm xmlns:a="http://schemas.openxmlformats.org/drawingml/2006/main">
            <a:off x="685800" y="666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PROJET BIG DATA</a:t>
            </a:r>
          </a:p>
        </p:txBody>
      </p:sp>
      <p:sp>
        <p:nvSpPr>
          <p:cNvPr id="2" name="">
            <a:extLst xmlns:a="http://schemas.openxmlformats.org/drawingml/2006/main">
              <a:ext uri="{FF2B5EF4-FFF2-40B4-BE49-F238E27FC236}">
                <a16:creationId xmlns:a16="http://schemas.microsoft.com/office/drawing/2014/main" id="{55C807D2-E047-4FD7-8E22-95E98F5DCDB4}"/>
              </a:ext>
            </a:extLst>
          </p:cNvPr>
          <p:cNvSpPr>
            <a:spLocks xmlns:a="http://schemas.openxmlformats.org/drawingml/2006/main" noGrp="1"/>
          </p:cNvSpPr>
          <p:nvPr/>
        </p:nvSpPr>
        <p:spPr>
          <a:xfrm xmlns:a="http://schemas.openxmlformats.org/drawingml/2006/main">
            <a:off x="685800" y="13811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4350" b="1">
                <a:solidFill>
                  <a:srgbClr val="EEF6FF"/>
                </a:solidFill>
                <a:latin typeface="Arial"/>
                <a:ea typeface="Arial"/>
                <a:cs typeface="Arial"/>
              </a:defRPr>
            </a:pPr>
            <a:r>
              <a:rPr sz="4350" b="1">
                <a:solidFill>
                  <a:srgbClr val="EEF6FF"/>
                </a:solidFill>
                <a:latin typeface="Arial"/>
                <a:ea typeface="Arial"/>
                <a:cs typeface="Arial"/>
              </a:rPr>
              <a:t>Crypto Viz</a:t>
            </a:r>
          </a:p>
        </p:txBody>
      </p:sp>
      <p:sp>
        <p:nvSpPr>
          <p:cNvPr id="3" name="">
            <a:extLst xmlns:a="http://schemas.openxmlformats.org/drawingml/2006/main">
              <a:ext uri="{FF2B5EF4-FFF2-40B4-BE49-F238E27FC236}">
                <a16:creationId xmlns:a16="http://schemas.microsoft.com/office/drawing/2014/main" id="{C860E3AD-A504-427B-AD51-45EC55398AAF}"/>
              </a:ext>
            </a:extLst>
          </p:cNvPr>
          <p:cNvSpPr>
            <a:spLocks xmlns:a="http://schemas.openxmlformats.org/drawingml/2006/main" noGrp="1"/>
          </p:cNvSpPr>
          <p:nvPr/>
        </p:nvSpPr>
        <p:spPr>
          <a:xfrm xmlns:a="http://schemas.openxmlformats.org/drawingml/2006/main">
            <a:off x="723900" y="2333625"/>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250" b="0">
                <a:solidFill>
                  <a:srgbClr val="2ED3C6"/>
                </a:solidFill>
                <a:latin typeface="Arial"/>
                <a:ea typeface="Arial"/>
                <a:cs typeface="Arial"/>
              </a:defRPr>
            </a:pPr>
            <a:r>
              <a:rPr sz="2250" b="0">
                <a:solidFill>
                  <a:srgbClr val="2ED3C6"/>
                </a:solidFill>
                <a:latin typeface="Arial"/>
                <a:ea typeface="Arial"/>
                <a:cs typeface="Arial"/>
              </a:rPr>
              <a:t>Du flux d’actualités aux indicateurs</a:t>
            </a:r>
          </a:p>
        </p:txBody>
      </p:sp>
      <p:sp>
        <p:nvSpPr>
          <p:cNvPr id="4" name="">
            <a:extLst xmlns:a="http://schemas.openxmlformats.org/drawingml/2006/main">
              <a:ext uri="{FF2B5EF4-FFF2-40B4-BE49-F238E27FC236}">
                <a16:creationId xmlns:a16="http://schemas.microsoft.com/office/drawing/2014/main" id="{D80DC0C1-CFDC-46DB-9B8A-1A92D994FBDF}"/>
              </a:ext>
            </a:extLst>
          </p:cNvPr>
          <p:cNvSpPr>
            <a:spLocks xmlns:a="http://schemas.openxmlformats.org/drawingml/2006/main" noGrp="1"/>
          </p:cNvSpPr>
          <p:nvPr/>
        </p:nvSpPr>
        <p:spPr>
          <a:xfrm xmlns:a="http://schemas.openxmlformats.org/drawingml/2006/main">
            <a:off x="723900" y="30956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9CB1C5"/>
                </a:solidFill>
                <a:latin typeface="Arial"/>
                <a:ea typeface="Arial"/>
                <a:cs typeface="Arial"/>
              </a:defRPr>
            </a:pPr>
            <a:r>
              <a:rPr sz="1650" b="0">
                <a:solidFill>
                  <a:srgbClr val="9CB1C5"/>
                </a:solidFill>
                <a:latin typeface="Arial"/>
                <a:ea typeface="Arial"/>
                <a:cs typeface="Arial"/>
              </a:rPr>
              <a:t>Pipeline continu, résilient et observable</a:t>
            </a:r>
          </a:p>
        </p:txBody>
      </p:sp>
      <p:sp>
        <p:nvSpPr>
          <p:cNvPr id="5" name="">
            <a:extLst xmlns:a="http://schemas.openxmlformats.org/drawingml/2006/main">
              <a:ext uri="{FF2B5EF4-FFF2-40B4-BE49-F238E27FC236}">
                <a16:creationId xmlns:a16="http://schemas.microsoft.com/office/drawing/2014/main" id="{7FDEF6BB-75B1-4C99-9530-E8F1C8B81169}"/>
              </a:ext>
            </a:extLst>
          </p:cNvPr>
          <p:cNvSpPr>
            <a:spLocks xmlns:a="http://schemas.openxmlformats.org/drawingml/2006/main" noGrp="1"/>
          </p:cNvSpPr>
          <p:nvPr/>
        </p:nvSpPr>
        <p:spPr>
          <a:xfrm xmlns:a="http://schemas.openxmlformats.org/drawingml/2006/main">
            <a:off x="723900" y="4429125"/>
            <a:ext cx="4381500" cy="762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06D74E-83B8-48EF-9859-27ADC8673DBC}"/>
              </a:ext>
            </a:extLst>
          </p:cNvPr>
          <p:cNvSpPr>
            <a:spLocks xmlns:a="http://schemas.openxmlformats.org/drawingml/2006/main" noGrp="1"/>
          </p:cNvSpPr>
          <p:nvPr/>
        </p:nvSpPr>
        <p:spPr>
          <a:xfrm xmlns:a="http://schemas.openxmlformats.org/drawingml/2006/main">
            <a:off x="723900" y="47625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9CB1C5"/>
                </a:solidFill>
                <a:latin typeface="Arial"/>
                <a:ea typeface="Arial"/>
                <a:cs typeface="Arial"/>
              </a:defRPr>
            </a:pPr>
            <a:r>
              <a:rPr sz="1350" b="0">
                <a:solidFill>
                  <a:srgbClr val="9CB1C5"/>
                </a:solidFill>
                <a:latin typeface="Arial"/>
                <a:ea typeface="Arial"/>
                <a:cs typeface="Arial"/>
              </a:rPr>
              <a:t>Soutenance technique · 30 minutes</a:t>
            </a:r>
          </a:p>
        </p:txBody>
      </p:sp>
    </p:spTree>
    <p:extLst>
      <p:ext uri="{BB962C8B-B14F-4D97-AF65-F5344CB8AC3E}">
        <p14:creationId xmlns:p14="http://schemas.microsoft.com/office/powerpoint/2010/main" val="535498356"/>
      </p:ext>
    </p:extLst>
  </p:cSld>
</p:sld>
</file>

<file path=ppt/slides/slide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FC46AE-BA3E-4C4C-952D-83B751680F1D}"/>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Le problème</a:t>
            </a:r>
          </a:p>
        </p:txBody>
      </p:sp>
      <p:sp>
        <p:nvSpPr>
          <p:cNvPr id="2" name="">
            <a:extLst xmlns:a="http://schemas.openxmlformats.org/drawingml/2006/main">
              <a:ext uri="{FF2B5EF4-FFF2-40B4-BE49-F238E27FC236}">
                <a16:creationId xmlns:a16="http://schemas.microsoft.com/office/drawing/2014/main" id="{6C6151AA-20BC-4A49-AAF6-C938E9D65E5E}"/>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986DC1E-D39C-4826-A455-EB1BD2B6C4A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E9C806-ED3A-475F-B1B1-AC804F2C2C4C}"/>
              </a:ext>
            </a:extLst>
          </p:cNvPr>
          <p:cNvSpPr>
            <a:spLocks xmlns:a="http://schemas.openxmlformats.org/drawingml/2006/main" noGrp="1"/>
          </p:cNvSpPr>
          <p:nvPr/>
        </p:nvSpPr>
        <p:spPr>
          <a:xfrm xmlns:a="http://schemas.openxmlformats.org/drawingml/2006/main">
            <a:off x="666750" y="14287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700" b="1">
                <a:solidFill>
                  <a:srgbClr val="EEF6FF"/>
                </a:solidFill>
                <a:latin typeface="Arial"/>
                <a:ea typeface="Arial"/>
                <a:cs typeface="Arial"/>
              </a:defRPr>
            </a:pPr>
            <a:r>
              <a:rPr sz="2700" b="1">
                <a:solidFill>
                  <a:srgbClr val="EEF6FF"/>
                </a:solidFill>
                <a:latin typeface="Arial"/>
                <a:ea typeface="Arial"/>
                <a:cs typeface="Arial"/>
              </a:rPr>
              <a:t>L’information arrive en continu</a:t>
            </a:r>
          </a:p>
        </p:txBody>
      </p:sp>
      <p:sp>
        <p:nvSpPr>
          <p:cNvPr id="5" name="">
            <a:extLst xmlns:a="http://schemas.openxmlformats.org/drawingml/2006/main">
              <a:ext uri="{FF2B5EF4-FFF2-40B4-BE49-F238E27FC236}">
                <a16:creationId xmlns:a16="http://schemas.microsoft.com/office/drawing/2014/main" id="{1E113926-B4DB-40DC-B056-F15C1AED5E8D}"/>
              </a:ext>
            </a:extLst>
          </p:cNvPr>
          <p:cNvSpPr>
            <a:spLocks xmlns:a="http://schemas.openxmlformats.org/drawingml/2006/main" noGrp="1"/>
          </p:cNvSpPr>
          <p:nvPr/>
        </p:nvSpPr>
        <p:spPr>
          <a:xfrm xmlns:a="http://schemas.openxmlformats.org/drawingml/2006/main">
            <a:off x="666750" y="223837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a:solidFill>
                  <a:srgbClr val="9CB1C5"/>
                </a:solidFill>
                <a:latin typeface="Arial"/>
                <a:ea typeface="Arial"/>
                <a:cs typeface="Arial"/>
              </a:defRPr>
            </a:pPr>
            <a:r>
              <a:rPr sz="1725" b="0">
                <a:solidFill>
                  <a:srgbClr val="9CB1C5"/>
                </a:solidFill>
                <a:latin typeface="Arial"/>
                <a:ea typeface="Arial"/>
                <a:cs typeface="Arial"/>
              </a:rPr>
              <a:t>Une lecture manuelle ne permet ni de suivre une tendance ni de mesurer le fonctionnement du pipeline.</a:t>
            </a:r>
          </a:p>
        </p:txBody>
      </p:sp>
      <p:sp>
        <p:nvSpPr>
          <p:cNvPr id="6" name="">
            <a:extLst xmlns:a="http://schemas.openxmlformats.org/drawingml/2006/main">
              <a:ext uri="{FF2B5EF4-FFF2-40B4-BE49-F238E27FC236}">
                <a16:creationId xmlns:a16="http://schemas.microsoft.com/office/drawing/2014/main" id="{BA2529D6-C039-4DAB-80D6-C74E6A3BE3F2}"/>
              </a:ext>
            </a:extLst>
          </p:cNvPr>
          <p:cNvSpPr>
            <a:spLocks xmlns:a="http://schemas.openxmlformats.org/drawingml/2006/main" noGrp="1"/>
          </p:cNvSpPr>
          <p:nvPr/>
        </p:nvSpPr>
        <p:spPr>
          <a:xfrm xmlns:a="http://schemas.openxmlformats.org/drawingml/2006/main">
            <a:off x="6096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ENTRÉE</a:t>
            </a:r>
          </a:p>
        </p:txBody>
      </p:sp>
      <p:sp>
        <p:nvSpPr>
          <p:cNvPr id="7" name="">
            <a:extLst xmlns:a="http://schemas.openxmlformats.org/drawingml/2006/main">
              <a:ext uri="{FF2B5EF4-FFF2-40B4-BE49-F238E27FC236}">
                <a16:creationId xmlns:a16="http://schemas.microsoft.com/office/drawing/2014/main" id="{00559735-20C9-410E-8883-6DC15A04D698}"/>
              </a:ext>
            </a:extLst>
          </p:cNvPr>
          <p:cNvSpPr>
            <a:spLocks xmlns:a="http://schemas.openxmlformats.org/drawingml/2006/main" noGrp="1"/>
          </p:cNvSpPr>
          <p:nvPr/>
        </p:nvSpPr>
        <p:spPr>
          <a:xfrm xmlns:a="http://schemas.openxmlformats.org/drawingml/2006/main">
            <a:off x="6096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342894-AC5C-4F50-A4D8-DB3555C82E99}"/>
              </a:ext>
            </a:extLst>
          </p:cNvPr>
          <p:cNvSpPr>
            <a:spLocks xmlns:a="http://schemas.openxmlformats.org/drawingml/2006/main" noGrp="1"/>
          </p:cNvSpPr>
          <p:nvPr/>
        </p:nvSpPr>
        <p:spPr>
          <a:xfrm xmlns:a="http://schemas.openxmlformats.org/drawingml/2006/main">
            <a:off x="8477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Articles publiés à des rythmes irréguliers</a:t>
            </a:r>
          </a:p>
        </p:txBody>
      </p:sp>
      <p:sp>
        <p:nvSpPr>
          <p:cNvPr id="9" name="">
            <a:extLst xmlns:a="http://schemas.openxmlformats.org/drawingml/2006/main">
              <a:ext uri="{FF2B5EF4-FFF2-40B4-BE49-F238E27FC236}">
                <a16:creationId xmlns:a16="http://schemas.microsoft.com/office/drawing/2014/main" id="{1D5E18CE-F6C6-4668-932A-33C244F8AC48}"/>
              </a:ext>
            </a:extLst>
          </p:cNvPr>
          <p:cNvSpPr>
            <a:spLocks xmlns:a="http://schemas.openxmlformats.org/drawingml/2006/main" noGrp="1"/>
          </p:cNvSpPr>
          <p:nvPr/>
        </p:nvSpPr>
        <p:spPr>
          <a:xfrm xmlns:a="http://schemas.openxmlformats.org/drawingml/2006/main">
            <a:off x="43561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BESOIN</a:t>
            </a:r>
          </a:p>
        </p:txBody>
      </p:sp>
      <p:sp>
        <p:nvSpPr>
          <p:cNvPr id="10" name="">
            <a:extLst xmlns:a="http://schemas.openxmlformats.org/drawingml/2006/main">
              <a:ext uri="{FF2B5EF4-FFF2-40B4-BE49-F238E27FC236}">
                <a16:creationId xmlns:a16="http://schemas.microsoft.com/office/drawing/2014/main" id="{BEFD5046-FE0D-4215-925B-5AC2C9A723B9}"/>
              </a:ext>
            </a:extLst>
          </p:cNvPr>
          <p:cNvSpPr>
            <a:spLocks xmlns:a="http://schemas.openxmlformats.org/drawingml/2006/main" noGrp="1"/>
          </p:cNvSpPr>
          <p:nvPr/>
        </p:nvSpPr>
        <p:spPr>
          <a:xfrm xmlns:a="http://schemas.openxmlformats.org/drawingml/2006/main">
            <a:off x="43561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72A047-6A59-4106-8807-58DF6221B359}"/>
              </a:ext>
            </a:extLst>
          </p:cNvPr>
          <p:cNvSpPr>
            <a:spLocks xmlns:a="http://schemas.openxmlformats.org/drawingml/2006/main" noGrp="1"/>
          </p:cNvSpPr>
          <p:nvPr/>
        </p:nvSpPr>
        <p:spPr>
          <a:xfrm xmlns:a="http://schemas.openxmlformats.org/drawingml/2006/main">
            <a:off x="45942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Indicateurs actualisés et comparables</a:t>
            </a:r>
          </a:p>
        </p:txBody>
      </p:sp>
      <p:sp>
        <p:nvSpPr>
          <p:cNvPr id="12" name="">
            <a:extLst xmlns:a="http://schemas.openxmlformats.org/drawingml/2006/main">
              <a:ext uri="{FF2B5EF4-FFF2-40B4-BE49-F238E27FC236}">
                <a16:creationId xmlns:a16="http://schemas.microsoft.com/office/drawing/2014/main" id="{63318F3C-C776-48E1-B619-71E64E27E544}"/>
              </a:ext>
            </a:extLst>
          </p:cNvPr>
          <p:cNvSpPr>
            <a:spLocks xmlns:a="http://schemas.openxmlformats.org/drawingml/2006/main" noGrp="1"/>
          </p:cNvSpPr>
          <p:nvPr/>
        </p:nvSpPr>
        <p:spPr>
          <a:xfrm xmlns:a="http://schemas.openxmlformats.org/drawingml/2006/main">
            <a:off x="81026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6B75"/>
                </a:solidFill>
                <a:latin typeface="Arial"/>
                <a:ea typeface="Arial"/>
                <a:cs typeface="Arial"/>
              </a:defRPr>
            </a:pPr>
            <a:r>
              <a:rPr sz="1125" b="1">
                <a:solidFill>
                  <a:srgbClr val="FF6B75"/>
                </a:solidFill>
                <a:latin typeface="Arial"/>
                <a:ea typeface="Arial"/>
                <a:cs typeface="Arial"/>
              </a:rPr>
              <a:t>CONTRAINTE</a:t>
            </a:r>
          </a:p>
        </p:txBody>
      </p:sp>
      <p:sp>
        <p:nvSpPr>
          <p:cNvPr id="13" name="">
            <a:extLst xmlns:a="http://schemas.openxmlformats.org/drawingml/2006/main">
              <a:ext uri="{FF2B5EF4-FFF2-40B4-BE49-F238E27FC236}">
                <a16:creationId xmlns:a16="http://schemas.microsoft.com/office/drawing/2014/main" id="{A23EBBE1-F587-4805-A8C8-86E9F8259497}"/>
              </a:ext>
            </a:extLst>
          </p:cNvPr>
          <p:cNvSpPr>
            <a:spLocks xmlns:a="http://schemas.openxmlformats.org/drawingml/2006/main" noGrp="1"/>
          </p:cNvSpPr>
          <p:nvPr/>
        </p:nvSpPr>
        <p:spPr>
          <a:xfrm xmlns:a="http://schemas.openxmlformats.org/drawingml/2006/main">
            <a:off x="81026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DE4C35-ACD7-4715-9A6E-4AA098D51090}"/>
              </a:ext>
            </a:extLst>
          </p:cNvPr>
          <p:cNvSpPr>
            <a:spLocks xmlns:a="http://schemas.openxmlformats.org/drawingml/2006/main" noGrp="1"/>
          </p:cNvSpPr>
          <p:nvPr/>
        </p:nvSpPr>
        <p:spPr>
          <a:xfrm xmlns:a="http://schemas.openxmlformats.org/drawingml/2006/main">
            <a:off x="83407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Pics de charge, doublons et pannes</a:t>
            </a:r>
          </a:p>
        </p:txBody>
      </p:sp>
    </p:spTree>
    <p:extLst>
      <p:ext uri="{BB962C8B-B14F-4D97-AF65-F5344CB8AC3E}">
        <p14:creationId xmlns:p14="http://schemas.microsoft.com/office/powerpoint/2010/main" val="625638651"/>
      </p:ext>
    </p:extLst>
  </p:cSld>
</p:sld>
</file>

<file path=ppt/slides/slide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D6E36D-80A6-45D0-85CB-20B99A777F4A}"/>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Valeur produite</a:t>
            </a:r>
          </a:p>
        </p:txBody>
      </p:sp>
      <p:sp>
        <p:nvSpPr>
          <p:cNvPr id="2" name="">
            <a:extLst xmlns:a="http://schemas.openxmlformats.org/drawingml/2006/main">
              <a:ext uri="{FF2B5EF4-FFF2-40B4-BE49-F238E27FC236}">
                <a16:creationId xmlns:a16="http://schemas.microsoft.com/office/drawing/2014/main" id="{47FA580D-052A-4A1A-8FE6-D28061226CB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3CDE4B5-FC22-4F66-9ABE-6329518F02F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42C980-1DF4-4FE4-9792-55801AAA9687}"/>
              </a:ext>
            </a:extLst>
          </p:cNvPr>
          <p:cNvSpPr>
            <a:spLocks xmlns:a="http://schemas.openxmlformats.org/drawingml/2006/main" noGrp="1"/>
          </p:cNvSpPr>
          <p:nvPr/>
        </p:nvSpPr>
        <p:spPr>
          <a:xfrm xmlns:a="http://schemas.openxmlformats.org/drawingml/2006/main">
            <a:off x="85725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a:solidFill>
                  <a:srgbClr val="EEF6FF"/>
                </a:solidFill>
                <a:latin typeface="Arial"/>
                <a:ea typeface="Arial"/>
                <a:cs typeface="Arial"/>
              </a:defRPr>
            </a:pPr>
            <a:r>
              <a:rPr sz="2550" b="1">
                <a:solidFill>
                  <a:srgbClr val="EEF6FF"/>
                </a:solidFill>
                <a:latin typeface="Arial"/>
                <a:ea typeface="Arial"/>
                <a:cs typeface="Arial"/>
              </a:rPr>
              <a:t>Observer le marché informationnel crypto dans le temps</a:t>
            </a:r>
          </a:p>
        </p:txBody>
      </p:sp>
      <p:sp>
        <p:nvSpPr>
          <p:cNvPr id="5" name="">
            <a:extLst xmlns:a="http://schemas.openxmlformats.org/drawingml/2006/main">
              <a:ext uri="{FF2B5EF4-FFF2-40B4-BE49-F238E27FC236}">
                <a16:creationId xmlns:a16="http://schemas.microsoft.com/office/drawing/2014/main" id="{53AB0BC4-0A0C-4061-93A3-24646B51BF60}"/>
              </a:ext>
            </a:extLst>
          </p:cNvPr>
          <p:cNvSpPr>
            <a:spLocks xmlns:a="http://schemas.openxmlformats.org/drawingml/2006/main" noGrp="1"/>
          </p:cNvSpPr>
          <p:nvPr/>
        </p:nvSpPr>
        <p:spPr>
          <a:xfrm xmlns:a="http://schemas.openxmlformats.org/drawingml/2006/main">
            <a:off x="762000" y="2667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SUIVRE</a:t>
            </a:r>
          </a:p>
        </p:txBody>
      </p:sp>
      <p:sp>
        <p:nvSpPr>
          <p:cNvPr id="6" name="">
            <a:extLst xmlns:a="http://schemas.openxmlformats.org/drawingml/2006/main">
              <a:ext uri="{FF2B5EF4-FFF2-40B4-BE49-F238E27FC236}">
                <a16:creationId xmlns:a16="http://schemas.microsoft.com/office/drawing/2014/main" id="{86C1F209-61DE-4CA6-AE6C-A95887497BE0}"/>
              </a:ext>
            </a:extLst>
          </p:cNvPr>
          <p:cNvSpPr>
            <a:spLocks xmlns:a="http://schemas.openxmlformats.org/drawingml/2006/main" noGrp="1"/>
          </p:cNvSpPr>
          <p:nvPr/>
        </p:nvSpPr>
        <p:spPr>
          <a:xfrm xmlns:a="http://schemas.openxmlformats.org/drawingml/2006/main">
            <a:off x="3429000" y="2838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BED81D-772D-4419-BEA2-2CFA237850C8}"/>
              </a:ext>
            </a:extLst>
          </p:cNvPr>
          <p:cNvSpPr>
            <a:spLocks xmlns:a="http://schemas.openxmlformats.org/drawingml/2006/main" noGrp="1"/>
          </p:cNvSpPr>
          <p:nvPr/>
        </p:nvSpPr>
        <p:spPr>
          <a:xfrm xmlns:a="http://schemas.openxmlformats.org/drawingml/2006/main">
            <a:off x="4381500" y="2647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Volume d’articles par source et par thème</a:t>
            </a:r>
          </a:p>
        </p:txBody>
      </p:sp>
      <p:sp>
        <p:nvSpPr>
          <p:cNvPr id="8" name="">
            <a:extLst xmlns:a="http://schemas.openxmlformats.org/drawingml/2006/main">
              <a:ext uri="{FF2B5EF4-FFF2-40B4-BE49-F238E27FC236}">
                <a16:creationId xmlns:a16="http://schemas.microsoft.com/office/drawing/2014/main" id="{077731F9-FC62-4D0B-97FC-F80C1139F6DF}"/>
              </a:ext>
            </a:extLst>
          </p:cNvPr>
          <p:cNvSpPr>
            <a:spLocks xmlns:a="http://schemas.openxmlformats.org/drawingml/2006/main" noGrp="1"/>
          </p:cNvSpPr>
          <p:nvPr/>
        </p:nvSpPr>
        <p:spPr>
          <a:xfrm xmlns:a="http://schemas.openxmlformats.org/drawingml/2006/main">
            <a:off x="762000" y="3476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INTERPRÉTER</a:t>
            </a:r>
          </a:p>
        </p:txBody>
      </p:sp>
      <p:sp>
        <p:nvSpPr>
          <p:cNvPr id="9" name="">
            <a:extLst xmlns:a="http://schemas.openxmlformats.org/drawingml/2006/main">
              <a:ext uri="{FF2B5EF4-FFF2-40B4-BE49-F238E27FC236}">
                <a16:creationId xmlns:a16="http://schemas.microsoft.com/office/drawing/2014/main" id="{AD5570DD-B1A1-43E0-A559-9832216BBCF2}"/>
              </a:ext>
            </a:extLst>
          </p:cNvPr>
          <p:cNvSpPr>
            <a:spLocks xmlns:a="http://schemas.openxmlformats.org/drawingml/2006/main" noGrp="1"/>
          </p:cNvSpPr>
          <p:nvPr/>
        </p:nvSpPr>
        <p:spPr>
          <a:xfrm xmlns:a="http://schemas.openxmlformats.org/drawingml/2006/main">
            <a:off x="3429000" y="3648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8E44AF-969F-4AA8-8F30-935185BBA045}"/>
              </a:ext>
            </a:extLst>
          </p:cNvPr>
          <p:cNvSpPr>
            <a:spLocks xmlns:a="http://schemas.openxmlformats.org/drawingml/2006/main" noGrp="1"/>
          </p:cNvSpPr>
          <p:nvPr/>
        </p:nvSpPr>
        <p:spPr>
          <a:xfrm xmlns:a="http://schemas.openxmlformats.org/drawingml/2006/main">
            <a:off x="4381500" y="3457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Sentiment moyen et répartition des labels</a:t>
            </a:r>
          </a:p>
        </p:txBody>
      </p:sp>
      <p:sp>
        <p:nvSpPr>
          <p:cNvPr id="11" name="">
            <a:extLst xmlns:a="http://schemas.openxmlformats.org/drawingml/2006/main">
              <a:ext uri="{FF2B5EF4-FFF2-40B4-BE49-F238E27FC236}">
                <a16:creationId xmlns:a16="http://schemas.microsoft.com/office/drawing/2014/main" id="{57C99E21-FCF3-47C5-8A22-4E52A7D201B8}"/>
              </a:ext>
            </a:extLst>
          </p:cNvPr>
          <p:cNvSpPr>
            <a:spLocks xmlns:a="http://schemas.openxmlformats.org/drawingml/2006/main" noGrp="1"/>
          </p:cNvSpPr>
          <p:nvPr/>
        </p:nvSpPr>
        <p:spPr>
          <a:xfrm xmlns:a="http://schemas.openxmlformats.org/drawingml/2006/main">
            <a:off x="762000" y="4286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SURVEILLER</a:t>
            </a:r>
          </a:p>
        </p:txBody>
      </p:sp>
      <p:sp>
        <p:nvSpPr>
          <p:cNvPr id="12" name="">
            <a:extLst xmlns:a="http://schemas.openxmlformats.org/drawingml/2006/main">
              <a:ext uri="{FF2B5EF4-FFF2-40B4-BE49-F238E27FC236}">
                <a16:creationId xmlns:a16="http://schemas.microsoft.com/office/drawing/2014/main" id="{8235D81A-B4AD-4700-825A-DDF1CC5C5C9D}"/>
              </a:ext>
            </a:extLst>
          </p:cNvPr>
          <p:cNvSpPr>
            <a:spLocks xmlns:a="http://schemas.openxmlformats.org/drawingml/2006/main" noGrp="1"/>
          </p:cNvSpPr>
          <p:nvPr/>
        </p:nvSpPr>
        <p:spPr>
          <a:xfrm xmlns:a="http://schemas.openxmlformats.org/drawingml/2006/main">
            <a:off x="3429000" y="4457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25C589-06E3-4101-BE9D-D4F522C7018B}"/>
              </a:ext>
            </a:extLst>
          </p:cNvPr>
          <p:cNvSpPr>
            <a:spLocks xmlns:a="http://schemas.openxmlformats.org/drawingml/2006/main" noGrp="1"/>
          </p:cNvSpPr>
          <p:nvPr/>
        </p:nvSpPr>
        <p:spPr>
          <a:xfrm xmlns:a="http://schemas.openxmlformats.org/drawingml/2006/main">
            <a:off x="4381500" y="4267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Débit d’ingestion et latence du pipeline</a:t>
            </a:r>
          </a:p>
        </p:txBody>
      </p:sp>
    </p:spTree>
    <p:extLst>
      <p:ext uri="{BB962C8B-B14F-4D97-AF65-F5344CB8AC3E}">
        <p14:creationId xmlns:p14="http://schemas.microsoft.com/office/powerpoint/2010/main" val="802999338"/>
      </p:ext>
    </p:extLst>
  </p:cSld>
</p:sld>
</file>

<file path=ppt/slides/slide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0A7F99-290B-4AFC-A6EC-5876D5584962}"/>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Objectifs techniques</a:t>
            </a:r>
          </a:p>
        </p:txBody>
      </p:sp>
      <p:sp>
        <p:nvSpPr>
          <p:cNvPr id="2" name="">
            <a:extLst xmlns:a="http://schemas.openxmlformats.org/drawingml/2006/main">
              <a:ext uri="{FF2B5EF4-FFF2-40B4-BE49-F238E27FC236}">
                <a16:creationId xmlns:a16="http://schemas.microsoft.com/office/drawing/2014/main" id="{6B100989-FFEC-4BD8-BE92-017300CEB7AB}"/>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311F7F9-2E74-4B9A-9652-7249FEEC619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8B0D89-0545-4BF2-AC4D-A34A08B3A134}"/>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COLLECTER</a:t>
            </a:r>
          </a:p>
        </p:txBody>
      </p:sp>
      <p:sp>
        <p:nvSpPr>
          <p:cNvPr id="5" name="">
            <a:extLst xmlns:a="http://schemas.openxmlformats.org/drawingml/2006/main">
              <a:ext uri="{FF2B5EF4-FFF2-40B4-BE49-F238E27FC236}">
                <a16:creationId xmlns:a16="http://schemas.microsoft.com/office/drawing/2014/main" id="{98C35247-7D0F-45D1-81D0-F0376CF2F2BA}"/>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A82835-9548-4A51-A8AA-D44F5BBC4ADF}"/>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Plusieurs flux RSS avec un contrat commun</a:t>
            </a:r>
          </a:p>
        </p:txBody>
      </p:sp>
      <p:sp>
        <p:nvSpPr>
          <p:cNvPr id="7" name="">
            <a:extLst xmlns:a="http://schemas.openxmlformats.org/drawingml/2006/main">
              <a:ext uri="{FF2B5EF4-FFF2-40B4-BE49-F238E27FC236}">
                <a16:creationId xmlns:a16="http://schemas.microsoft.com/office/drawing/2014/main" id="{7698FDE0-8CD7-48FD-8281-2779C0B731A7}"/>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TRAITER</a:t>
            </a:r>
          </a:p>
        </p:txBody>
      </p:sp>
      <p:sp>
        <p:nvSpPr>
          <p:cNvPr id="8" name="">
            <a:extLst xmlns:a="http://schemas.openxmlformats.org/drawingml/2006/main">
              <a:ext uri="{FF2B5EF4-FFF2-40B4-BE49-F238E27FC236}">
                <a16:creationId xmlns:a16="http://schemas.microsoft.com/office/drawing/2014/main" id="{712B39C5-B8B5-4D9F-8BE8-D9CE155556A6}"/>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B757B8-4640-4478-BFE0-3E1C348FC7B8}"/>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Enrichissement continu et incrémental</a:t>
            </a:r>
          </a:p>
        </p:txBody>
      </p:sp>
      <p:sp>
        <p:nvSpPr>
          <p:cNvPr id="10" name="">
            <a:extLst xmlns:a="http://schemas.openxmlformats.org/drawingml/2006/main">
              <a:ext uri="{FF2B5EF4-FFF2-40B4-BE49-F238E27FC236}">
                <a16:creationId xmlns:a16="http://schemas.microsoft.com/office/drawing/2014/main" id="{9BA1EBE2-D9DB-4F64-9A27-66D2E6422708}"/>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SERVIR</a:t>
            </a:r>
          </a:p>
        </p:txBody>
      </p:sp>
      <p:sp>
        <p:nvSpPr>
          <p:cNvPr id="11" name="">
            <a:extLst xmlns:a="http://schemas.openxmlformats.org/drawingml/2006/main">
              <a:ext uri="{FF2B5EF4-FFF2-40B4-BE49-F238E27FC236}">
                <a16:creationId xmlns:a16="http://schemas.microsoft.com/office/drawing/2014/main" id="{36D6C613-E0C3-4712-84C6-7ADE71482D40}"/>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2BCC79-ED19-4E0B-925F-500888E7CB74}"/>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Agrégats temporels prêts pour Grafana</a:t>
            </a:r>
          </a:p>
        </p:txBody>
      </p:sp>
      <p:sp>
        <p:nvSpPr>
          <p:cNvPr id="13" name="">
            <a:extLst xmlns:a="http://schemas.openxmlformats.org/drawingml/2006/main">
              <a:ext uri="{FF2B5EF4-FFF2-40B4-BE49-F238E27FC236}">
                <a16:creationId xmlns:a16="http://schemas.microsoft.com/office/drawing/2014/main" id="{27F6C24A-DA04-4FFF-BBC3-C1AB5446068B}"/>
              </a:ext>
            </a:extLst>
          </p:cNvPr>
          <p:cNvSpPr>
            <a:spLocks xmlns:a="http://schemas.openxmlformats.org/drawingml/2006/main" noGrp="1"/>
          </p:cNvSpPr>
          <p:nvPr/>
        </p:nvSpPr>
        <p:spPr>
          <a:xfrm xmlns:a="http://schemas.openxmlformats.org/drawingml/2006/main">
            <a:off x="1238250" y="53816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9CB1C5"/>
                </a:solidFill>
                <a:latin typeface="Arial"/>
                <a:ea typeface="Arial"/>
                <a:cs typeface="Arial"/>
              </a:defRPr>
            </a:pPr>
            <a:r>
              <a:rPr sz="1800" b="1">
                <a:solidFill>
                  <a:srgbClr val="9CB1C5"/>
                </a:solidFill>
                <a:latin typeface="Arial"/>
                <a:ea typeface="Arial"/>
                <a:cs typeface="Arial"/>
              </a:rPr>
              <a:t>Chaque objectif correspond à un service testable indépendamment</a:t>
            </a:r>
          </a:p>
        </p:txBody>
      </p:sp>
    </p:spTree>
    <p:extLst>
      <p:ext uri="{BB962C8B-B14F-4D97-AF65-F5344CB8AC3E}">
        <p14:creationId xmlns:p14="http://schemas.microsoft.com/office/powerpoint/2010/main" val="1661765842"/>
      </p:ext>
    </p:extLst>
  </p:cSld>
</p:sld>
</file>

<file path=ppt/slides/slide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6129AD-B582-40A0-8FC4-FFC6D0436C3A}"/>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Sources et rythme</a:t>
            </a:r>
          </a:p>
        </p:txBody>
      </p:sp>
      <p:sp>
        <p:nvSpPr>
          <p:cNvPr id="2" name="">
            <a:extLst xmlns:a="http://schemas.openxmlformats.org/drawingml/2006/main">
              <a:ext uri="{FF2B5EF4-FFF2-40B4-BE49-F238E27FC236}">
                <a16:creationId xmlns:a16="http://schemas.microsoft.com/office/drawing/2014/main" id="{00BA8812-FBCB-4E83-8EFB-10E9A40F69DE}"/>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8D9F35E-4A2C-4886-9236-2BB256312F2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740AA5-BD45-4090-B9C9-4A7B64B98AEB}"/>
              </a:ext>
            </a:extLst>
          </p:cNvPr>
          <p:cNvSpPr>
            <a:spLocks xmlns:a="http://schemas.openxmlformats.org/drawingml/2006/main" noGrp="1"/>
          </p:cNvSpPr>
          <p:nvPr/>
        </p:nvSpPr>
        <p:spPr>
          <a:xfrm xmlns:a="http://schemas.openxmlformats.org/drawingml/2006/main">
            <a:off x="1047750" y="1952625"/>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577967-B1F3-43EB-81BB-626B0BBC6469}"/>
              </a:ext>
            </a:extLst>
          </p:cNvPr>
          <p:cNvSpPr>
            <a:spLocks xmlns:a="http://schemas.openxmlformats.org/drawingml/2006/main" noGrp="1"/>
          </p:cNvSpPr>
          <p:nvPr/>
        </p:nvSpPr>
        <p:spPr>
          <a:xfrm xmlns:a="http://schemas.openxmlformats.org/drawingml/2006/main">
            <a:off x="1047750" y="195262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C9431D-06A0-4C78-B0AA-01C3C84EC9EE}"/>
              </a:ext>
            </a:extLst>
          </p:cNvPr>
          <p:cNvSpPr>
            <a:spLocks xmlns:a="http://schemas.openxmlformats.org/drawingml/2006/main" noGrp="1"/>
          </p:cNvSpPr>
          <p:nvPr/>
        </p:nvSpPr>
        <p:spPr>
          <a:xfrm xmlns:a="http://schemas.openxmlformats.org/drawingml/2006/main">
            <a:off x="1238250" y="206692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CoinDesk</a:t>
            </a:r>
          </a:p>
        </p:txBody>
      </p:sp>
      <p:sp>
        <p:nvSpPr>
          <p:cNvPr id="7" name="">
            <a:extLst xmlns:a="http://schemas.openxmlformats.org/drawingml/2006/main">
              <a:ext uri="{FF2B5EF4-FFF2-40B4-BE49-F238E27FC236}">
                <a16:creationId xmlns:a16="http://schemas.microsoft.com/office/drawing/2014/main" id="{18A4CB8F-AD90-40DD-98F8-336FEFFC5B0C}"/>
              </a:ext>
            </a:extLst>
          </p:cNvPr>
          <p:cNvSpPr>
            <a:spLocks xmlns:a="http://schemas.openxmlformats.org/drawingml/2006/main" noGrp="1"/>
          </p:cNvSpPr>
          <p:nvPr/>
        </p:nvSpPr>
        <p:spPr>
          <a:xfrm xmlns:a="http://schemas.openxmlformats.org/drawingml/2006/main">
            <a:off x="1238250" y="244792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flux RSS</a:t>
            </a:r>
          </a:p>
        </p:txBody>
      </p:sp>
      <p:sp>
        <p:nvSpPr>
          <p:cNvPr id="8" name="">
            <a:extLst xmlns:a="http://schemas.openxmlformats.org/drawingml/2006/main">
              <a:ext uri="{FF2B5EF4-FFF2-40B4-BE49-F238E27FC236}">
                <a16:creationId xmlns:a16="http://schemas.microsoft.com/office/drawing/2014/main" id="{9911B79F-86E3-4D17-8012-16DD74D45E25}"/>
              </a:ext>
            </a:extLst>
          </p:cNvPr>
          <p:cNvSpPr>
            <a:spLocks xmlns:a="http://schemas.openxmlformats.org/drawingml/2006/main" noGrp="1"/>
          </p:cNvSpPr>
          <p:nvPr/>
        </p:nvSpPr>
        <p:spPr>
          <a:xfrm xmlns:a="http://schemas.openxmlformats.org/drawingml/2006/main">
            <a:off x="1047750" y="3381375"/>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14825F-2DAD-4857-A9E0-00053334AB8E}"/>
              </a:ext>
            </a:extLst>
          </p:cNvPr>
          <p:cNvSpPr>
            <a:spLocks xmlns:a="http://schemas.openxmlformats.org/drawingml/2006/main" noGrp="1"/>
          </p:cNvSpPr>
          <p:nvPr/>
        </p:nvSpPr>
        <p:spPr>
          <a:xfrm xmlns:a="http://schemas.openxmlformats.org/drawingml/2006/main">
            <a:off x="1047750" y="3381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D12E05B-0B7F-4BA1-A108-7B3862592C9F}"/>
              </a:ext>
            </a:extLst>
          </p:cNvPr>
          <p:cNvSpPr>
            <a:spLocks xmlns:a="http://schemas.openxmlformats.org/drawingml/2006/main" noGrp="1"/>
          </p:cNvSpPr>
          <p:nvPr/>
        </p:nvSpPr>
        <p:spPr>
          <a:xfrm xmlns:a="http://schemas.openxmlformats.org/drawingml/2006/main">
            <a:off x="1238250" y="349567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Cointelegraph</a:t>
            </a:r>
          </a:p>
        </p:txBody>
      </p:sp>
      <p:sp>
        <p:nvSpPr>
          <p:cNvPr id="11" name="">
            <a:extLst xmlns:a="http://schemas.openxmlformats.org/drawingml/2006/main">
              <a:ext uri="{FF2B5EF4-FFF2-40B4-BE49-F238E27FC236}">
                <a16:creationId xmlns:a16="http://schemas.microsoft.com/office/drawing/2014/main" id="{8DB041D9-FE40-4850-8AF7-8EA63F1D660B}"/>
              </a:ext>
            </a:extLst>
          </p:cNvPr>
          <p:cNvSpPr>
            <a:spLocks xmlns:a="http://schemas.openxmlformats.org/drawingml/2006/main" noGrp="1"/>
          </p:cNvSpPr>
          <p:nvPr/>
        </p:nvSpPr>
        <p:spPr>
          <a:xfrm xmlns:a="http://schemas.openxmlformats.org/drawingml/2006/main">
            <a:off x="1238250" y="387667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flux RSS</a:t>
            </a:r>
          </a:p>
        </p:txBody>
      </p:sp>
      <p:sp>
        <p:nvSpPr>
          <p:cNvPr id="12" name="">
            <a:extLst xmlns:a="http://schemas.openxmlformats.org/drawingml/2006/main">
              <a:ext uri="{FF2B5EF4-FFF2-40B4-BE49-F238E27FC236}">
                <a16:creationId xmlns:a16="http://schemas.microsoft.com/office/drawing/2014/main" id="{FC05CAE3-9E5A-468B-81C4-3CFD174D974B}"/>
              </a:ext>
            </a:extLst>
          </p:cNvPr>
          <p:cNvSpPr>
            <a:spLocks xmlns:a="http://schemas.openxmlformats.org/drawingml/2006/main" noGrp="1"/>
          </p:cNvSpPr>
          <p:nvPr/>
        </p:nvSpPr>
        <p:spPr>
          <a:xfrm xmlns:a="http://schemas.openxmlformats.org/drawingml/2006/main">
            <a:off x="4286250" y="2762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CFBAE9FE-32F1-4684-9191-A8AAC14F732C}"/>
              </a:ext>
            </a:extLst>
          </p:cNvPr>
          <p:cNvSpPr>
            <a:spLocks xmlns:a="http://schemas.openxmlformats.org/drawingml/2006/main" noGrp="1"/>
          </p:cNvSpPr>
          <p:nvPr/>
        </p:nvSpPr>
        <p:spPr>
          <a:xfrm xmlns:a="http://schemas.openxmlformats.org/drawingml/2006/main">
            <a:off x="5334000" y="2667000"/>
            <a:ext cx="3048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BD9AD58-3A6D-4F79-9B6C-848F2334D2D7}"/>
              </a:ext>
            </a:extLst>
          </p:cNvPr>
          <p:cNvSpPr>
            <a:spLocks xmlns:a="http://schemas.openxmlformats.org/drawingml/2006/main" noGrp="1"/>
          </p:cNvSpPr>
          <p:nvPr/>
        </p:nvSpPr>
        <p:spPr>
          <a:xfrm xmlns:a="http://schemas.openxmlformats.org/drawingml/2006/main">
            <a:off x="5334000" y="26670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DB3F7E-342D-46FF-9544-A655BAA3DACF}"/>
              </a:ext>
            </a:extLst>
          </p:cNvPr>
          <p:cNvSpPr>
            <a:spLocks xmlns:a="http://schemas.openxmlformats.org/drawingml/2006/main" noGrp="1"/>
          </p:cNvSpPr>
          <p:nvPr/>
        </p:nvSpPr>
        <p:spPr>
          <a:xfrm xmlns:a="http://schemas.openxmlformats.org/drawingml/2006/main">
            <a:off x="5524500" y="27813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Scraper Python</a:t>
            </a:r>
          </a:p>
        </p:txBody>
      </p:sp>
      <p:sp>
        <p:nvSpPr>
          <p:cNvPr id="16" name="">
            <a:extLst xmlns:a="http://schemas.openxmlformats.org/drawingml/2006/main">
              <a:ext uri="{FF2B5EF4-FFF2-40B4-BE49-F238E27FC236}">
                <a16:creationId xmlns:a16="http://schemas.microsoft.com/office/drawing/2014/main" id="{D200D5AC-54DE-452F-B03D-DB97710BB2A1}"/>
              </a:ext>
            </a:extLst>
          </p:cNvPr>
          <p:cNvSpPr>
            <a:spLocks xmlns:a="http://schemas.openxmlformats.org/drawingml/2006/main" noGrp="1"/>
          </p:cNvSpPr>
          <p:nvPr/>
        </p:nvSpPr>
        <p:spPr>
          <a:xfrm xmlns:a="http://schemas.openxmlformats.org/drawingml/2006/main">
            <a:off x="5524500" y="3162300"/>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polling configurable</a:t>
            </a:r>
          </a:p>
        </p:txBody>
      </p:sp>
      <p:sp>
        <p:nvSpPr>
          <p:cNvPr id="17" name="">
            <a:extLst xmlns:a="http://schemas.openxmlformats.org/drawingml/2006/main">
              <a:ext uri="{FF2B5EF4-FFF2-40B4-BE49-F238E27FC236}">
                <a16:creationId xmlns:a16="http://schemas.microsoft.com/office/drawing/2014/main" id="{114965F6-D603-4E5E-8255-61F176A44DA1}"/>
              </a:ext>
            </a:extLst>
          </p:cNvPr>
          <p:cNvSpPr>
            <a:spLocks xmlns:a="http://schemas.openxmlformats.org/drawingml/2006/main" noGrp="1"/>
          </p:cNvSpPr>
          <p:nvPr/>
        </p:nvSpPr>
        <p:spPr>
          <a:xfrm xmlns:a="http://schemas.openxmlformats.org/drawingml/2006/main">
            <a:off x="8810625" y="2762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C8652EE-0D3B-4B5F-8597-6CB00A5EBC33}"/>
              </a:ext>
            </a:extLst>
          </p:cNvPr>
          <p:cNvSpPr>
            <a:spLocks xmlns:a="http://schemas.openxmlformats.org/drawingml/2006/main" noGrp="1"/>
          </p:cNvSpPr>
          <p:nvPr/>
        </p:nvSpPr>
        <p:spPr>
          <a:xfrm xmlns:a="http://schemas.openxmlformats.org/drawingml/2006/main">
            <a:off x="9525000" y="2667000"/>
            <a:ext cx="2000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9E8EB8-B069-49E9-BF50-2F4ECC32EAB9}"/>
              </a:ext>
            </a:extLst>
          </p:cNvPr>
          <p:cNvSpPr>
            <a:spLocks xmlns:a="http://schemas.openxmlformats.org/drawingml/2006/main" noGrp="1"/>
          </p:cNvSpPr>
          <p:nvPr/>
        </p:nvSpPr>
        <p:spPr>
          <a:xfrm xmlns:a="http://schemas.openxmlformats.org/drawingml/2006/main">
            <a:off x="9525000" y="2667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9B4EE3-C0ED-4468-9198-B2A35AFD9A18}"/>
              </a:ext>
            </a:extLst>
          </p:cNvPr>
          <p:cNvSpPr>
            <a:spLocks xmlns:a="http://schemas.openxmlformats.org/drawingml/2006/main" noGrp="1"/>
          </p:cNvSpPr>
          <p:nvPr/>
        </p:nvSpPr>
        <p:spPr>
          <a:xfrm xmlns:a="http://schemas.openxmlformats.org/drawingml/2006/main">
            <a:off x="9715500" y="2781300"/>
            <a:ext cx="1695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Événements</a:t>
            </a:r>
          </a:p>
        </p:txBody>
      </p:sp>
      <p:sp>
        <p:nvSpPr>
          <p:cNvPr id="21" name="">
            <a:extLst xmlns:a="http://schemas.openxmlformats.org/drawingml/2006/main">
              <a:ext uri="{FF2B5EF4-FFF2-40B4-BE49-F238E27FC236}">
                <a16:creationId xmlns:a16="http://schemas.microsoft.com/office/drawing/2014/main" id="{52571BDB-B879-4250-8585-9E928425184D}"/>
              </a:ext>
            </a:extLst>
          </p:cNvPr>
          <p:cNvSpPr>
            <a:spLocks xmlns:a="http://schemas.openxmlformats.org/drawingml/2006/main" noGrp="1"/>
          </p:cNvSpPr>
          <p:nvPr/>
        </p:nvSpPr>
        <p:spPr>
          <a:xfrm xmlns:a="http://schemas.openxmlformats.org/drawingml/2006/main">
            <a:off x="9715500" y="31623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contrat JSON commun</a:t>
            </a:r>
          </a:p>
        </p:txBody>
      </p:sp>
      <p:sp>
        <p:nvSpPr>
          <p:cNvPr id="22" name="">
            <a:extLst xmlns:a="http://schemas.openxmlformats.org/drawingml/2006/main">
              <a:ext uri="{FF2B5EF4-FFF2-40B4-BE49-F238E27FC236}">
                <a16:creationId xmlns:a16="http://schemas.microsoft.com/office/drawing/2014/main" id="{23C5AAE8-E936-401C-BFC5-F02A62936C9B}"/>
              </a:ext>
            </a:extLst>
          </p:cNvPr>
          <p:cNvSpPr>
            <a:spLocks xmlns:a="http://schemas.openxmlformats.org/drawingml/2006/main" noGrp="1"/>
          </p:cNvSpPr>
          <p:nvPr/>
        </p:nvSpPr>
        <p:spPr>
          <a:xfrm xmlns:a="http://schemas.openxmlformats.org/drawingml/2006/main">
            <a:off x="2476500" y="509587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9CB1C5"/>
                </a:solidFill>
                <a:latin typeface="Arial"/>
                <a:ea typeface="Arial"/>
                <a:cs typeface="Arial"/>
              </a:defRPr>
            </a:pPr>
            <a:r>
              <a:rPr sz="1800" b="1">
                <a:solidFill>
                  <a:srgbClr val="9CB1C5"/>
                </a:solidFill>
                <a:latin typeface="Arial"/>
                <a:ea typeface="Arial"/>
                <a:cs typeface="Arial"/>
              </a:rPr>
              <a:t>Publication irrégulière · collecte toutes les 60 secondes</a:t>
            </a:r>
          </a:p>
        </p:txBody>
      </p:sp>
    </p:spTree>
    <p:extLst>
      <p:ext uri="{BB962C8B-B14F-4D97-AF65-F5344CB8AC3E}">
        <p14:creationId xmlns:p14="http://schemas.microsoft.com/office/powerpoint/2010/main" val="2109386593"/>
      </p:ext>
    </p:extLst>
  </p:cSld>
</p:sld>
</file>

<file path=ppt/slides/slide6.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FFDE67A-F339-42A4-9D8F-90432F100318}"/>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Contrat d’événement brut</a:t>
            </a:r>
          </a:p>
        </p:txBody>
      </p:sp>
      <p:sp>
        <p:nvSpPr>
          <p:cNvPr id="2" name="">
            <a:extLst xmlns:a="http://schemas.openxmlformats.org/drawingml/2006/main">
              <a:ext uri="{FF2B5EF4-FFF2-40B4-BE49-F238E27FC236}">
                <a16:creationId xmlns:a16="http://schemas.microsoft.com/office/drawing/2014/main" id="{F727EC87-7797-45F0-88B5-61FAFC33D3A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75D7C0D-BDB9-49F4-88FC-5EC00E68AF3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50D4CA-0A4F-4D29-8B2B-4AA7908FA3A0}"/>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IDENTITÉ</a:t>
            </a:r>
          </a:p>
        </p:txBody>
      </p:sp>
      <p:sp>
        <p:nvSpPr>
          <p:cNvPr id="5" name="">
            <a:extLst xmlns:a="http://schemas.openxmlformats.org/drawingml/2006/main">
              <a:ext uri="{FF2B5EF4-FFF2-40B4-BE49-F238E27FC236}">
                <a16:creationId xmlns:a16="http://schemas.microsoft.com/office/drawing/2014/main" id="{B5AF203B-415B-44CB-B188-8F32C185B342}"/>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5E36BE-4B58-43F6-B9C1-C3D7B4995D31}"/>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EEF6FF"/>
                </a:solidFill>
                <a:latin typeface="Arial"/>
                <a:ea typeface="Arial"/>
                <a:cs typeface="Arial"/>
              </a:defRPr>
            </a:pPr>
            <a:r>
              <a:rPr sz="1800" b="1">
                <a:solidFill>
                  <a:srgbClr val="EEF6FF"/>
                </a:solidFill>
                <a:latin typeface="Arial"/>
                <a:ea typeface="Arial"/>
                <a:cs typeface="Arial"/>
              </a:rPr>
              <a:t>article_id = SHA-256(URL)</a:t>
            </a:r>
          </a:p>
        </p:txBody>
      </p:sp>
      <p:sp>
        <p:nvSpPr>
          <p:cNvPr id="7" name="">
            <a:extLst xmlns:a="http://schemas.openxmlformats.org/drawingml/2006/main">
              <a:ext uri="{FF2B5EF4-FFF2-40B4-BE49-F238E27FC236}">
                <a16:creationId xmlns:a16="http://schemas.microsoft.com/office/drawing/2014/main" id="{BC457B56-A148-4D44-BEE9-153D6DCA0CFA}"/>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CONTENU</a:t>
            </a:r>
          </a:p>
        </p:txBody>
      </p:sp>
      <p:sp>
        <p:nvSpPr>
          <p:cNvPr id="8" name="">
            <a:extLst xmlns:a="http://schemas.openxmlformats.org/drawingml/2006/main">
              <a:ext uri="{FF2B5EF4-FFF2-40B4-BE49-F238E27FC236}">
                <a16:creationId xmlns:a16="http://schemas.microsoft.com/office/drawing/2014/main" id="{A696B525-2224-45AB-8418-E302E62B06DA}"/>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BDD0D9-A15D-4ECB-8FC9-79FC651D0219}"/>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source, title, summary, url</a:t>
            </a:r>
          </a:p>
        </p:txBody>
      </p:sp>
      <p:sp>
        <p:nvSpPr>
          <p:cNvPr id="10" name="">
            <a:extLst xmlns:a="http://schemas.openxmlformats.org/drawingml/2006/main">
              <a:ext uri="{FF2B5EF4-FFF2-40B4-BE49-F238E27FC236}">
                <a16:creationId xmlns:a16="http://schemas.microsoft.com/office/drawing/2014/main" id="{3AC24B26-BBCF-4A64-B944-2E5102FAD685}"/>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TEMPS</a:t>
            </a:r>
          </a:p>
        </p:txBody>
      </p:sp>
      <p:sp>
        <p:nvSpPr>
          <p:cNvPr id="11" name="">
            <a:extLst xmlns:a="http://schemas.openxmlformats.org/drawingml/2006/main">
              <a:ext uri="{FF2B5EF4-FFF2-40B4-BE49-F238E27FC236}">
                <a16:creationId xmlns:a16="http://schemas.microsoft.com/office/drawing/2014/main" id="{69F2DE2B-C71B-4CDF-8D4A-EE347DD461C5}"/>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0A0891-3553-46A9-A8F6-1F8E447B5997}"/>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published_at et collected_at</a:t>
            </a:r>
          </a:p>
        </p:txBody>
      </p:sp>
      <p:sp>
        <p:nvSpPr>
          <p:cNvPr id="13" name="">
            <a:extLst xmlns:a="http://schemas.openxmlformats.org/drawingml/2006/main">
              <a:ext uri="{FF2B5EF4-FFF2-40B4-BE49-F238E27FC236}">
                <a16:creationId xmlns:a16="http://schemas.microsoft.com/office/drawing/2014/main" id="{8637E5A6-7441-4A3E-83C1-AEB53040FF09}"/>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FORMAT</a:t>
            </a:r>
          </a:p>
        </p:txBody>
      </p:sp>
      <p:sp>
        <p:nvSpPr>
          <p:cNvPr id="14" name="">
            <a:extLst xmlns:a="http://schemas.openxmlformats.org/drawingml/2006/main">
              <a:ext uri="{FF2B5EF4-FFF2-40B4-BE49-F238E27FC236}">
                <a16:creationId xmlns:a16="http://schemas.microsoft.com/office/drawing/2014/main" id="{E8151145-AEBB-4E02-9799-95B1023BC49B}"/>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CE96B8-440C-468C-B526-2D222A2B6A7F}"/>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JSON UTF-8 normalisé</a:t>
            </a:r>
          </a:p>
        </p:txBody>
      </p:sp>
      <p:sp>
        <p:nvSpPr>
          <p:cNvPr id="16" name="">
            <a:extLst xmlns:a="http://schemas.openxmlformats.org/drawingml/2006/main">
              <a:ext uri="{FF2B5EF4-FFF2-40B4-BE49-F238E27FC236}">
                <a16:creationId xmlns:a16="http://schemas.microsoft.com/office/drawing/2014/main" id="{9BC4E211-1EFF-458D-A7B6-DECD3D7DE066}"/>
              </a:ext>
            </a:extLst>
          </p:cNvPr>
          <p:cNvSpPr>
            <a:spLocks xmlns:a="http://schemas.openxmlformats.org/drawingml/2006/main" noGrp="1"/>
          </p:cNvSpPr>
          <p:nvPr/>
        </p:nvSpPr>
        <p:spPr>
          <a:xfrm xmlns:a="http://schemas.openxmlformats.org/drawingml/2006/main">
            <a:off x="1524000" y="5191125"/>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EEF6FF"/>
                </a:solidFill>
                <a:latin typeface="Arial"/>
                <a:ea typeface="Arial"/>
                <a:cs typeface="Arial"/>
              </a:defRPr>
            </a:pPr>
            <a:r>
              <a:rPr sz="1875" b="1">
                <a:solidFill>
                  <a:srgbClr val="EEF6FF"/>
                </a:solidFill>
                <a:latin typeface="Arial"/>
                <a:ea typeface="Arial"/>
                <a:cs typeface="Arial"/>
              </a:rPr>
              <a:t>Même structure quelle que soit la source</a:t>
            </a:r>
          </a:p>
        </p:txBody>
      </p:sp>
    </p:spTree>
    <p:extLst>
      <p:ext uri="{BB962C8B-B14F-4D97-AF65-F5344CB8AC3E}">
        <p14:creationId xmlns:p14="http://schemas.microsoft.com/office/powerpoint/2010/main" val="1985245392"/>
      </p:ext>
    </p:extLst>
  </p:cSld>
</p:sld>
</file>

<file path=ppt/slides/slide7.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E4BE052E-9B52-45F1-8AD5-200761EA4B7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Architecture générale</a:t>
            </a:r>
          </a:p>
        </p:txBody>
      </p:sp>
      <p:sp>
        <p:nvSpPr>
          <p:cNvPr id="2" name="">
            <a:extLst xmlns:a="http://schemas.openxmlformats.org/drawingml/2006/main">
              <a:ext uri="{FF2B5EF4-FFF2-40B4-BE49-F238E27FC236}">
                <a16:creationId xmlns:a16="http://schemas.microsoft.com/office/drawing/2014/main" id="{9157A61E-7924-4C8E-A32B-23DDA4E4049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A8D574B-57DC-4ABB-81F5-290BBA08521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DC5667-FFD2-407D-A93C-365A29CAB1D8}"/>
              </a:ext>
            </a:extLst>
          </p:cNvPr>
          <p:cNvSpPr>
            <a:spLocks xmlns:a="http://schemas.openxmlformats.org/drawingml/2006/main" noGrp="1"/>
          </p:cNvSpPr>
          <p:nvPr/>
        </p:nvSpPr>
        <p:spPr>
          <a:xfrm xmlns:a="http://schemas.openxmlformats.org/drawingml/2006/main">
            <a:off x="1905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56230B-388F-4AB6-B683-5B7171324BBC}"/>
              </a:ext>
            </a:extLst>
          </p:cNvPr>
          <p:cNvSpPr>
            <a:spLocks xmlns:a="http://schemas.openxmlformats.org/drawingml/2006/main" noGrp="1"/>
          </p:cNvSpPr>
          <p:nvPr/>
        </p:nvSpPr>
        <p:spPr>
          <a:xfrm xmlns:a="http://schemas.openxmlformats.org/drawingml/2006/main">
            <a:off x="19050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096671-DF4C-44E8-887E-6A10017B5CE8}"/>
              </a:ext>
            </a:extLst>
          </p:cNvPr>
          <p:cNvSpPr>
            <a:spLocks xmlns:a="http://schemas.openxmlformats.org/drawingml/2006/main" noGrp="1"/>
          </p:cNvSpPr>
          <p:nvPr/>
        </p:nvSpPr>
        <p:spPr>
          <a:xfrm xmlns:a="http://schemas.openxmlformats.org/drawingml/2006/main">
            <a:off x="3810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RSS</a:t>
            </a:r>
          </a:p>
        </p:txBody>
      </p:sp>
      <p:sp>
        <p:nvSpPr>
          <p:cNvPr id="7" name="">
            <a:extLst xmlns:a="http://schemas.openxmlformats.org/drawingml/2006/main">
              <a:ext uri="{FF2B5EF4-FFF2-40B4-BE49-F238E27FC236}">
                <a16:creationId xmlns:a16="http://schemas.microsoft.com/office/drawing/2014/main" id="{186C9C56-1C1C-4FDA-8011-A22B15D9F186}"/>
              </a:ext>
            </a:extLst>
          </p:cNvPr>
          <p:cNvSpPr>
            <a:spLocks xmlns:a="http://schemas.openxmlformats.org/drawingml/2006/main" noGrp="1"/>
          </p:cNvSpPr>
          <p:nvPr/>
        </p:nvSpPr>
        <p:spPr>
          <a:xfrm xmlns:a="http://schemas.openxmlformats.org/drawingml/2006/main">
            <a:off x="3810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sources</a:t>
            </a:r>
          </a:p>
        </p:txBody>
      </p:sp>
      <p:sp>
        <p:nvSpPr>
          <p:cNvPr id="8" name="">
            <a:extLst xmlns:a="http://schemas.openxmlformats.org/drawingml/2006/main">
              <a:ext uri="{FF2B5EF4-FFF2-40B4-BE49-F238E27FC236}">
                <a16:creationId xmlns:a16="http://schemas.microsoft.com/office/drawing/2014/main" id="{95130190-E9E9-4741-8B3E-4DC5757D1D21}"/>
              </a:ext>
            </a:extLst>
          </p:cNvPr>
          <p:cNvSpPr>
            <a:spLocks xmlns:a="http://schemas.openxmlformats.org/drawingml/2006/main" noGrp="1"/>
          </p:cNvSpPr>
          <p:nvPr/>
        </p:nvSpPr>
        <p:spPr>
          <a:xfrm xmlns:a="http://schemas.openxmlformats.org/drawingml/2006/main">
            <a:off x="13811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43E0140-F9B5-4551-8689-CF09714DE4B0}"/>
              </a:ext>
            </a:extLst>
          </p:cNvPr>
          <p:cNvSpPr>
            <a:spLocks xmlns:a="http://schemas.openxmlformats.org/drawingml/2006/main" noGrp="1"/>
          </p:cNvSpPr>
          <p:nvPr/>
        </p:nvSpPr>
        <p:spPr>
          <a:xfrm xmlns:a="http://schemas.openxmlformats.org/drawingml/2006/main">
            <a:off x="16954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4CF878-77C6-40C5-9043-D750CDCADC32}"/>
              </a:ext>
            </a:extLst>
          </p:cNvPr>
          <p:cNvSpPr>
            <a:spLocks xmlns:a="http://schemas.openxmlformats.org/drawingml/2006/main" noGrp="1"/>
          </p:cNvSpPr>
          <p:nvPr/>
        </p:nvSpPr>
        <p:spPr>
          <a:xfrm xmlns:a="http://schemas.openxmlformats.org/drawingml/2006/main">
            <a:off x="16954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464CBE-29B0-485E-8A03-FC85FB433067}"/>
              </a:ext>
            </a:extLst>
          </p:cNvPr>
          <p:cNvSpPr>
            <a:spLocks xmlns:a="http://schemas.openxmlformats.org/drawingml/2006/main" noGrp="1"/>
          </p:cNvSpPr>
          <p:nvPr/>
        </p:nvSpPr>
        <p:spPr>
          <a:xfrm xmlns:a="http://schemas.openxmlformats.org/drawingml/2006/main">
            <a:off x="18859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248"/>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Scraper</a:t>
            </a:r>
          </a:p>
        </p:txBody>
      </p:sp>
      <p:sp>
        <p:nvSpPr>
          <p:cNvPr id="12" name="">
            <a:extLst xmlns:a="http://schemas.openxmlformats.org/drawingml/2006/main">
              <a:ext uri="{FF2B5EF4-FFF2-40B4-BE49-F238E27FC236}">
                <a16:creationId xmlns:a16="http://schemas.microsoft.com/office/drawing/2014/main" id="{A87C4C0A-9EF8-4ED3-9A72-762B8AC28CE4}"/>
              </a:ext>
            </a:extLst>
          </p:cNvPr>
          <p:cNvSpPr>
            <a:spLocks xmlns:a="http://schemas.openxmlformats.org/drawingml/2006/main" noGrp="1"/>
          </p:cNvSpPr>
          <p:nvPr/>
        </p:nvSpPr>
        <p:spPr>
          <a:xfrm xmlns:a="http://schemas.openxmlformats.org/drawingml/2006/main">
            <a:off x="18859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producer</a:t>
            </a:r>
          </a:p>
        </p:txBody>
      </p:sp>
      <p:sp>
        <p:nvSpPr>
          <p:cNvPr id="13" name="">
            <a:extLst xmlns:a="http://schemas.openxmlformats.org/drawingml/2006/main">
              <a:ext uri="{FF2B5EF4-FFF2-40B4-BE49-F238E27FC236}">
                <a16:creationId xmlns:a16="http://schemas.microsoft.com/office/drawing/2014/main" id="{F25D9080-ABB6-4B6D-A503-D0BD8C172F40}"/>
              </a:ext>
            </a:extLst>
          </p:cNvPr>
          <p:cNvSpPr>
            <a:spLocks xmlns:a="http://schemas.openxmlformats.org/drawingml/2006/main" noGrp="1"/>
          </p:cNvSpPr>
          <p:nvPr/>
        </p:nvSpPr>
        <p:spPr>
          <a:xfrm xmlns:a="http://schemas.openxmlformats.org/drawingml/2006/main">
            <a:off x="28860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88BD4649-8631-4C1D-BA57-87AF1B053078}"/>
              </a:ext>
            </a:extLst>
          </p:cNvPr>
          <p:cNvSpPr>
            <a:spLocks xmlns:a="http://schemas.openxmlformats.org/drawingml/2006/main" noGrp="1"/>
          </p:cNvSpPr>
          <p:nvPr/>
        </p:nvSpPr>
        <p:spPr>
          <a:xfrm xmlns:a="http://schemas.openxmlformats.org/drawingml/2006/main">
            <a:off x="32004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78A5D9-ACB6-468F-AE7A-9DAF04E8D187}"/>
              </a:ext>
            </a:extLst>
          </p:cNvPr>
          <p:cNvSpPr>
            <a:spLocks xmlns:a="http://schemas.openxmlformats.org/drawingml/2006/main" noGrp="1"/>
          </p:cNvSpPr>
          <p:nvPr/>
        </p:nvSpPr>
        <p:spPr>
          <a:xfrm xmlns:a="http://schemas.openxmlformats.org/drawingml/2006/main">
            <a:off x="3200400" y="2238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7505D0-B47A-4288-B06C-6D4629DE9269}"/>
              </a:ext>
            </a:extLst>
          </p:cNvPr>
          <p:cNvSpPr>
            <a:spLocks xmlns:a="http://schemas.openxmlformats.org/drawingml/2006/main" noGrp="1"/>
          </p:cNvSpPr>
          <p:nvPr/>
        </p:nvSpPr>
        <p:spPr>
          <a:xfrm xmlns:a="http://schemas.openxmlformats.org/drawingml/2006/main">
            <a:off x="33909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17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17" name="">
            <a:extLst xmlns:a="http://schemas.openxmlformats.org/drawingml/2006/main">
              <a:ext uri="{FF2B5EF4-FFF2-40B4-BE49-F238E27FC236}">
                <a16:creationId xmlns:a16="http://schemas.microsoft.com/office/drawing/2014/main" id="{79D789E4-63C3-4407-873F-119EE26C1B08}"/>
              </a:ext>
            </a:extLst>
          </p:cNvPr>
          <p:cNvSpPr>
            <a:spLocks xmlns:a="http://schemas.openxmlformats.org/drawingml/2006/main" noGrp="1"/>
          </p:cNvSpPr>
          <p:nvPr/>
        </p:nvSpPr>
        <p:spPr>
          <a:xfrm xmlns:a="http://schemas.openxmlformats.org/drawingml/2006/main">
            <a:off x="33909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queue</a:t>
            </a:r>
          </a:p>
        </p:txBody>
      </p:sp>
      <p:sp>
        <p:nvSpPr>
          <p:cNvPr id="18" name="">
            <a:extLst xmlns:a="http://schemas.openxmlformats.org/drawingml/2006/main">
              <a:ext uri="{FF2B5EF4-FFF2-40B4-BE49-F238E27FC236}">
                <a16:creationId xmlns:a16="http://schemas.microsoft.com/office/drawing/2014/main" id="{701CEB1C-2118-471D-BA34-455F30767C2E}"/>
              </a:ext>
            </a:extLst>
          </p:cNvPr>
          <p:cNvSpPr>
            <a:spLocks xmlns:a="http://schemas.openxmlformats.org/drawingml/2006/main" noGrp="1"/>
          </p:cNvSpPr>
          <p:nvPr/>
        </p:nvSpPr>
        <p:spPr>
          <a:xfrm xmlns:a="http://schemas.openxmlformats.org/drawingml/2006/main">
            <a:off x="43910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F3D283D-DDFB-413F-A354-50B6CB4A4E30}"/>
              </a:ext>
            </a:extLst>
          </p:cNvPr>
          <p:cNvSpPr>
            <a:spLocks xmlns:a="http://schemas.openxmlformats.org/drawingml/2006/main" noGrp="1"/>
          </p:cNvSpPr>
          <p:nvPr/>
        </p:nvSpPr>
        <p:spPr>
          <a:xfrm xmlns:a="http://schemas.openxmlformats.org/drawingml/2006/main">
            <a:off x="47053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9BFD78-9F21-4DF4-B8F8-2EE48D9FFE80}"/>
              </a:ext>
            </a:extLst>
          </p:cNvPr>
          <p:cNvSpPr>
            <a:spLocks xmlns:a="http://schemas.openxmlformats.org/drawingml/2006/main" noGrp="1"/>
          </p:cNvSpPr>
          <p:nvPr/>
        </p:nvSpPr>
        <p:spPr>
          <a:xfrm xmlns:a="http://schemas.openxmlformats.org/drawingml/2006/main">
            <a:off x="47053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7949E74-D39A-4DA7-9F0C-E18581ECB32C}"/>
              </a:ext>
            </a:extLst>
          </p:cNvPr>
          <p:cNvSpPr>
            <a:spLocks xmlns:a="http://schemas.openxmlformats.org/drawingml/2006/main" noGrp="1"/>
          </p:cNvSpPr>
          <p:nvPr/>
        </p:nvSpPr>
        <p:spPr>
          <a:xfrm xmlns:a="http://schemas.openxmlformats.org/drawingml/2006/main">
            <a:off x="48958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43"/>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Analytics</a:t>
            </a:r>
          </a:p>
        </p:txBody>
      </p:sp>
      <p:sp>
        <p:nvSpPr>
          <p:cNvPr id="22" name="">
            <a:extLst xmlns:a="http://schemas.openxmlformats.org/drawingml/2006/main">
              <a:ext uri="{FF2B5EF4-FFF2-40B4-BE49-F238E27FC236}">
                <a16:creationId xmlns:a16="http://schemas.microsoft.com/office/drawing/2014/main" id="{E4425394-C4C8-4BFE-8F7B-E6BACDC2BE47}"/>
              </a:ext>
            </a:extLst>
          </p:cNvPr>
          <p:cNvSpPr>
            <a:spLocks xmlns:a="http://schemas.openxmlformats.org/drawingml/2006/main" noGrp="1"/>
          </p:cNvSpPr>
          <p:nvPr/>
        </p:nvSpPr>
        <p:spPr>
          <a:xfrm xmlns:a="http://schemas.openxmlformats.org/drawingml/2006/main">
            <a:off x="48958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worker</a:t>
            </a:r>
          </a:p>
        </p:txBody>
      </p:sp>
      <p:sp>
        <p:nvSpPr>
          <p:cNvPr id="23" name="">
            <a:extLst xmlns:a="http://schemas.openxmlformats.org/drawingml/2006/main">
              <a:ext uri="{FF2B5EF4-FFF2-40B4-BE49-F238E27FC236}">
                <a16:creationId xmlns:a16="http://schemas.microsoft.com/office/drawing/2014/main" id="{A9CD7D9F-101B-42CB-88D6-DD7D11CDC711}"/>
              </a:ext>
            </a:extLst>
          </p:cNvPr>
          <p:cNvSpPr>
            <a:spLocks xmlns:a="http://schemas.openxmlformats.org/drawingml/2006/main" noGrp="1"/>
          </p:cNvSpPr>
          <p:nvPr/>
        </p:nvSpPr>
        <p:spPr>
          <a:xfrm xmlns:a="http://schemas.openxmlformats.org/drawingml/2006/main">
            <a:off x="58959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4D09B1AB-9F06-452F-A9D9-A6F30CEB9167}"/>
              </a:ext>
            </a:extLst>
          </p:cNvPr>
          <p:cNvSpPr>
            <a:spLocks xmlns:a="http://schemas.openxmlformats.org/drawingml/2006/main" noGrp="1"/>
          </p:cNvSpPr>
          <p:nvPr/>
        </p:nvSpPr>
        <p:spPr>
          <a:xfrm xmlns:a="http://schemas.openxmlformats.org/drawingml/2006/main">
            <a:off x="62103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FE762BA-931C-449B-A374-7E24281302DC}"/>
              </a:ext>
            </a:extLst>
          </p:cNvPr>
          <p:cNvSpPr>
            <a:spLocks xmlns:a="http://schemas.openxmlformats.org/drawingml/2006/main" noGrp="1"/>
          </p:cNvSpPr>
          <p:nvPr/>
        </p:nvSpPr>
        <p:spPr>
          <a:xfrm xmlns:a="http://schemas.openxmlformats.org/drawingml/2006/main">
            <a:off x="6210300" y="2238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75CDEF-4057-441A-9F8D-4972C570C114}"/>
              </a:ext>
            </a:extLst>
          </p:cNvPr>
          <p:cNvSpPr>
            <a:spLocks xmlns:a="http://schemas.openxmlformats.org/drawingml/2006/main" noGrp="1"/>
          </p:cNvSpPr>
          <p:nvPr/>
        </p:nvSpPr>
        <p:spPr>
          <a:xfrm xmlns:a="http://schemas.openxmlformats.org/drawingml/2006/main">
            <a:off x="64008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27" name="">
            <a:extLst xmlns:a="http://schemas.openxmlformats.org/drawingml/2006/main">
              <a:ext uri="{FF2B5EF4-FFF2-40B4-BE49-F238E27FC236}">
                <a16:creationId xmlns:a16="http://schemas.microsoft.com/office/drawing/2014/main" id="{59371367-7B5C-413A-B3D0-AA9A187C5862}"/>
              </a:ext>
            </a:extLst>
          </p:cNvPr>
          <p:cNvSpPr>
            <a:spLocks xmlns:a="http://schemas.openxmlformats.org/drawingml/2006/main" noGrp="1"/>
          </p:cNvSpPr>
          <p:nvPr/>
        </p:nvSpPr>
        <p:spPr>
          <a:xfrm xmlns:a="http://schemas.openxmlformats.org/drawingml/2006/main">
            <a:off x="64008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queue</a:t>
            </a:r>
          </a:p>
        </p:txBody>
      </p:sp>
      <p:sp>
        <p:nvSpPr>
          <p:cNvPr id="28" name="">
            <a:extLst xmlns:a="http://schemas.openxmlformats.org/drawingml/2006/main">
              <a:ext uri="{FF2B5EF4-FFF2-40B4-BE49-F238E27FC236}">
                <a16:creationId xmlns:a16="http://schemas.microsoft.com/office/drawing/2014/main" id="{A8F84FE2-27E6-4736-9D65-952696E28916}"/>
              </a:ext>
            </a:extLst>
          </p:cNvPr>
          <p:cNvSpPr>
            <a:spLocks xmlns:a="http://schemas.openxmlformats.org/drawingml/2006/main" noGrp="1"/>
          </p:cNvSpPr>
          <p:nvPr/>
        </p:nvSpPr>
        <p:spPr>
          <a:xfrm xmlns:a="http://schemas.openxmlformats.org/drawingml/2006/main">
            <a:off x="74009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15C89485-986B-4981-8677-F0D7C64DECF1}"/>
              </a:ext>
            </a:extLst>
          </p:cNvPr>
          <p:cNvSpPr>
            <a:spLocks xmlns:a="http://schemas.openxmlformats.org/drawingml/2006/main" noGrp="1"/>
          </p:cNvSpPr>
          <p:nvPr/>
        </p:nvSpPr>
        <p:spPr>
          <a:xfrm xmlns:a="http://schemas.openxmlformats.org/drawingml/2006/main">
            <a:off x="77152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0A29D8-7A92-48DF-918E-4DFA270201C4}"/>
              </a:ext>
            </a:extLst>
          </p:cNvPr>
          <p:cNvSpPr>
            <a:spLocks xmlns:a="http://schemas.openxmlformats.org/drawingml/2006/main" noGrp="1"/>
          </p:cNvSpPr>
          <p:nvPr/>
        </p:nvSpPr>
        <p:spPr>
          <a:xfrm xmlns:a="http://schemas.openxmlformats.org/drawingml/2006/main">
            <a:off x="77152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E6F0438-C839-42A6-9B7C-B94661FBCA56}"/>
              </a:ext>
            </a:extLst>
          </p:cNvPr>
          <p:cNvSpPr>
            <a:spLocks xmlns:a="http://schemas.openxmlformats.org/drawingml/2006/main" noGrp="1"/>
          </p:cNvSpPr>
          <p:nvPr/>
        </p:nvSpPr>
        <p:spPr>
          <a:xfrm xmlns:a="http://schemas.openxmlformats.org/drawingml/2006/main">
            <a:off x="79057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34"/>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Storage</a:t>
            </a:r>
          </a:p>
        </p:txBody>
      </p:sp>
      <p:sp>
        <p:nvSpPr>
          <p:cNvPr id="32" name="">
            <a:extLst xmlns:a="http://schemas.openxmlformats.org/drawingml/2006/main">
              <a:ext uri="{FF2B5EF4-FFF2-40B4-BE49-F238E27FC236}">
                <a16:creationId xmlns:a16="http://schemas.microsoft.com/office/drawing/2014/main" id="{FB40A354-F611-4337-A40D-9CF7552658CE}"/>
              </a:ext>
            </a:extLst>
          </p:cNvPr>
          <p:cNvSpPr>
            <a:spLocks xmlns:a="http://schemas.openxmlformats.org/drawingml/2006/main" noGrp="1"/>
          </p:cNvSpPr>
          <p:nvPr/>
        </p:nvSpPr>
        <p:spPr>
          <a:xfrm xmlns:a="http://schemas.openxmlformats.org/drawingml/2006/main">
            <a:off x="79057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worker</a:t>
            </a:r>
          </a:p>
        </p:txBody>
      </p:sp>
      <p:sp>
        <p:nvSpPr>
          <p:cNvPr id="33" name="">
            <a:extLst xmlns:a="http://schemas.openxmlformats.org/drawingml/2006/main">
              <a:ext uri="{FF2B5EF4-FFF2-40B4-BE49-F238E27FC236}">
                <a16:creationId xmlns:a16="http://schemas.microsoft.com/office/drawing/2014/main" id="{D429DB5E-F2FD-480B-963E-7CAA38603CCC}"/>
              </a:ext>
            </a:extLst>
          </p:cNvPr>
          <p:cNvSpPr>
            <a:spLocks xmlns:a="http://schemas.openxmlformats.org/drawingml/2006/main" noGrp="1"/>
          </p:cNvSpPr>
          <p:nvPr/>
        </p:nvSpPr>
        <p:spPr>
          <a:xfrm xmlns:a="http://schemas.openxmlformats.org/drawingml/2006/main">
            <a:off x="89058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690D67C2-199B-41FD-9DB5-A0086633F2AF}"/>
              </a:ext>
            </a:extLst>
          </p:cNvPr>
          <p:cNvSpPr>
            <a:spLocks xmlns:a="http://schemas.openxmlformats.org/drawingml/2006/main" noGrp="1"/>
          </p:cNvSpPr>
          <p:nvPr/>
        </p:nvSpPr>
        <p:spPr>
          <a:xfrm xmlns:a="http://schemas.openxmlformats.org/drawingml/2006/main">
            <a:off x="92202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3CEBE0F-064E-41E4-B604-EAA23905702E}"/>
              </a:ext>
            </a:extLst>
          </p:cNvPr>
          <p:cNvSpPr>
            <a:spLocks xmlns:a="http://schemas.openxmlformats.org/drawingml/2006/main" noGrp="1"/>
          </p:cNvSpPr>
          <p:nvPr/>
        </p:nvSpPr>
        <p:spPr>
          <a:xfrm xmlns:a="http://schemas.openxmlformats.org/drawingml/2006/main">
            <a:off x="922020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3DDD105-5743-4B1F-BA78-5CD59202CAEC}"/>
              </a:ext>
            </a:extLst>
          </p:cNvPr>
          <p:cNvSpPr>
            <a:spLocks xmlns:a="http://schemas.openxmlformats.org/drawingml/2006/main" noGrp="1"/>
          </p:cNvSpPr>
          <p:nvPr/>
        </p:nvSpPr>
        <p:spPr>
          <a:xfrm xmlns:a="http://schemas.openxmlformats.org/drawingml/2006/main">
            <a:off x="94107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7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MySQL</a:t>
            </a:r>
          </a:p>
        </p:txBody>
      </p:sp>
      <p:sp>
        <p:nvSpPr>
          <p:cNvPr id="37" name="">
            <a:extLst xmlns:a="http://schemas.openxmlformats.org/drawingml/2006/main">
              <a:ext uri="{FF2B5EF4-FFF2-40B4-BE49-F238E27FC236}">
                <a16:creationId xmlns:a16="http://schemas.microsoft.com/office/drawing/2014/main" id="{6E57930B-C8BB-439E-9BC5-192230EEA807}"/>
              </a:ext>
            </a:extLst>
          </p:cNvPr>
          <p:cNvSpPr>
            <a:spLocks xmlns:a="http://schemas.openxmlformats.org/drawingml/2006/main" noGrp="1"/>
          </p:cNvSpPr>
          <p:nvPr/>
        </p:nvSpPr>
        <p:spPr>
          <a:xfrm xmlns:a="http://schemas.openxmlformats.org/drawingml/2006/main">
            <a:off x="94107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3 tables</a:t>
            </a:r>
          </a:p>
        </p:txBody>
      </p:sp>
      <p:sp>
        <p:nvSpPr>
          <p:cNvPr id="38" name="">
            <a:extLst xmlns:a="http://schemas.openxmlformats.org/drawingml/2006/main">
              <a:ext uri="{FF2B5EF4-FFF2-40B4-BE49-F238E27FC236}">
                <a16:creationId xmlns:a16="http://schemas.microsoft.com/office/drawing/2014/main" id="{5B1B8584-488E-4D48-A0B7-22C6997CB487}"/>
              </a:ext>
            </a:extLst>
          </p:cNvPr>
          <p:cNvSpPr>
            <a:spLocks xmlns:a="http://schemas.openxmlformats.org/drawingml/2006/main" noGrp="1"/>
          </p:cNvSpPr>
          <p:nvPr/>
        </p:nvSpPr>
        <p:spPr>
          <a:xfrm xmlns:a="http://schemas.openxmlformats.org/drawingml/2006/main">
            <a:off x="104108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1B541BDB-9E28-4A7C-A5B2-7C86E9420D02}"/>
              </a:ext>
            </a:extLst>
          </p:cNvPr>
          <p:cNvSpPr>
            <a:spLocks xmlns:a="http://schemas.openxmlformats.org/drawingml/2006/main" noGrp="1"/>
          </p:cNvSpPr>
          <p:nvPr/>
        </p:nvSpPr>
        <p:spPr>
          <a:xfrm xmlns:a="http://schemas.openxmlformats.org/drawingml/2006/main">
            <a:off x="107251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FFCDF2A-9F49-4637-9165-ECE0853C1C37}"/>
              </a:ext>
            </a:extLst>
          </p:cNvPr>
          <p:cNvSpPr>
            <a:spLocks xmlns:a="http://schemas.openxmlformats.org/drawingml/2006/main" noGrp="1"/>
          </p:cNvSpPr>
          <p:nvPr/>
        </p:nvSpPr>
        <p:spPr>
          <a:xfrm xmlns:a="http://schemas.openxmlformats.org/drawingml/2006/main">
            <a:off x="10725150" y="2238375"/>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DFE1272-737E-4A65-8462-19614217DB5D}"/>
              </a:ext>
            </a:extLst>
          </p:cNvPr>
          <p:cNvSpPr>
            <a:spLocks xmlns:a="http://schemas.openxmlformats.org/drawingml/2006/main" noGrp="1"/>
          </p:cNvSpPr>
          <p:nvPr/>
        </p:nvSpPr>
        <p:spPr>
          <a:xfrm xmlns:a="http://schemas.openxmlformats.org/drawingml/2006/main">
            <a:off x="109156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67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Grafana</a:t>
            </a:r>
          </a:p>
        </p:txBody>
      </p:sp>
      <p:sp>
        <p:nvSpPr>
          <p:cNvPr id="42" name="">
            <a:extLst xmlns:a="http://schemas.openxmlformats.org/drawingml/2006/main">
              <a:ext uri="{FF2B5EF4-FFF2-40B4-BE49-F238E27FC236}">
                <a16:creationId xmlns:a16="http://schemas.microsoft.com/office/drawing/2014/main" id="{31E81127-805F-4DF3-BFC5-B9D396613123}"/>
              </a:ext>
            </a:extLst>
          </p:cNvPr>
          <p:cNvSpPr>
            <a:spLocks xmlns:a="http://schemas.openxmlformats.org/drawingml/2006/main" noGrp="1"/>
          </p:cNvSpPr>
          <p:nvPr/>
        </p:nvSpPr>
        <p:spPr>
          <a:xfrm xmlns:a="http://schemas.openxmlformats.org/drawingml/2006/main">
            <a:off x="109156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dashboard</a:t>
            </a:r>
          </a:p>
        </p:txBody>
      </p:sp>
      <p:sp>
        <p:nvSpPr>
          <p:cNvPr id="43" name="">
            <a:extLst xmlns:a="http://schemas.openxmlformats.org/drawingml/2006/main">
              <a:ext uri="{FF2B5EF4-FFF2-40B4-BE49-F238E27FC236}">
                <a16:creationId xmlns:a16="http://schemas.microsoft.com/office/drawing/2014/main" id="{C40B47AB-E9C2-4057-8017-6F642BD841AC}"/>
              </a:ext>
            </a:extLst>
          </p:cNvPr>
          <p:cNvSpPr>
            <a:spLocks xmlns:a="http://schemas.openxmlformats.org/drawingml/2006/main" noGrp="1"/>
          </p:cNvSpPr>
          <p:nvPr/>
        </p:nvSpPr>
        <p:spPr>
          <a:xfrm xmlns:a="http://schemas.openxmlformats.org/drawingml/2006/main">
            <a:off x="1714500" y="40957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950" b="1">
                <a:solidFill>
                  <a:srgbClr val="2ED3C6"/>
                </a:solidFill>
                <a:latin typeface="Arial"/>
                <a:ea typeface="Arial"/>
                <a:cs typeface="Arial"/>
              </a:defRPr>
            </a:pPr>
            <a:r>
              <a:rPr sz="1950" b="1">
                <a:solidFill>
                  <a:srgbClr val="2ED3C6"/>
                </a:solidFill>
                <a:latin typeface="Arial"/>
                <a:ea typeface="Arial"/>
                <a:cs typeface="Arial"/>
              </a:rPr>
              <a:t>Deux frontières asynchrones isolent les rythmes et les pannes</a:t>
            </a:r>
          </a:p>
        </p:txBody>
      </p:sp>
    </p:spTree>
    <p:extLst>
      <p:ext uri="{BB962C8B-B14F-4D97-AF65-F5344CB8AC3E}">
        <p14:creationId xmlns:p14="http://schemas.microsoft.com/office/powerpoint/2010/main" val="1895749621"/>
      </p:ext>
    </p:extLst>
  </p:cSld>
</p:sld>
</file>

<file path=ppt/slides/slide8.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7C465E-DB2D-4272-86BA-0D01AFB495E9}"/>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Services Docker</a:t>
            </a:r>
          </a:p>
        </p:txBody>
      </p:sp>
      <p:sp>
        <p:nvSpPr>
          <p:cNvPr id="2" name="">
            <a:extLst xmlns:a="http://schemas.openxmlformats.org/drawingml/2006/main">
              <a:ext uri="{FF2B5EF4-FFF2-40B4-BE49-F238E27FC236}">
                <a16:creationId xmlns:a16="http://schemas.microsoft.com/office/drawing/2014/main" id="{1C8D6E74-9663-434B-A48A-CAF4B820EC27}"/>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ABC4E68-4E83-4C31-9823-649EDCBF882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7DC6BA-0EB3-453F-8DDC-1C7D6AFFDCDF}"/>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DONNÉES</a:t>
            </a:r>
          </a:p>
        </p:txBody>
      </p:sp>
      <p:sp>
        <p:nvSpPr>
          <p:cNvPr id="5" name="">
            <a:extLst xmlns:a="http://schemas.openxmlformats.org/drawingml/2006/main">
              <a:ext uri="{FF2B5EF4-FFF2-40B4-BE49-F238E27FC236}">
                <a16:creationId xmlns:a16="http://schemas.microsoft.com/office/drawing/2014/main" id="{80046D58-D816-408E-824A-43ABECF04F04}"/>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AB9742-2FAC-4E9D-B6FE-6884755C435C}"/>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MySQL</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RabbitMQ</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Volumes persistants</a:t>
            </a:r>
          </a:p>
        </p:txBody>
      </p:sp>
      <p:sp>
        <p:nvSpPr>
          <p:cNvPr id="7" name="">
            <a:extLst xmlns:a="http://schemas.openxmlformats.org/drawingml/2006/main">
              <a:ext uri="{FF2B5EF4-FFF2-40B4-BE49-F238E27FC236}">
                <a16:creationId xmlns:a16="http://schemas.microsoft.com/office/drawing/2014/main" id="{9A827779-5BF7-4AE4-9650-82B300DCD47F}"/>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TRAITEMENTS</a:t>
            </a:r>
          </a:p>
        </p:txBody>
      </p:sp>
      <p:sp>
        <p:nvSpPr>
          <p:cNvPr id="8" name="">
            <a:extLst xmlns:a="http://schemas.openxmlformats.org/drawingml/2006/main">
              <a:ext uri="{FF2B5EF4-FFF2-40B4-BE49-F238E27FC236}">
                <a16:creationId xmlns:a16="http://schemas.microsoft.com/office/drawing/2014/main" id="{92843CD9-19E9-4795-9DCB-419FFB3DFC83}"/>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3F673E-06B6-4DDA-9A39-8BC4CCA11025}"/>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Scraper</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Analytics</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Storage</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Clean</a:t>
            </a:r>
          </a:p>
        </p:txBody>
      </p:sp>
      <p:sp>
        <p:nvSpPr>
          <p:cNvPr id="10" name="">
            <a:extLst xmlns:a="http://schemas.openxmlformats.org/drawingml/2006/main">
              <a:ext uri="{FF2B5EF4-FFF2-40B4-BE49-F238E27FC236}">
                <a16:creationId xmlns:a16="http://schemas.microsoft.com/office/drawing/2014/main" id="{4020988B-1BB3-48AC-A512-C60B8A6D3E93}"/>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RESTITUTION</a:t>
            </a:r>
          </a:p>
        </p:txBody>
      </p:sp>
      <p:sp>
        <p:nvSpPr>
          <p:cNvPr id="11" name="">
            <a:extLst xmlns:a="http://schemas.openxmlformats.org/drawingml/2006/main">
              <a:ext uri="{FF2B5EF4-FFF2-40B4-BE49-F238E27FC236}">
                <a16:creationId xmlns:a16="http://schemas.microsoft.com/office/drawing/2014/main" id="{34182271-AD81-4D31-8A1D-09685424E3EC}"/>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230F60-05DC-4E1B-ACE0-84D954BB3C30}"/>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Grafana</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Dashboard provisionné</a:t>
            </a:r>
          </a:p>
        </p:txBody>
      </p:sp>
      <p:sp>
        <p:nvSpPr>
          <p:cNvPr id="13" name="">
            <a:extLst xmlns:a="http://schemas.openxmlformats.org/drawingml/2006/main">
              <a:ext uri="{FF2B5EF4-FFF2-40B4-BE49-F238E27FC236}">
                <a16:creationId xmlns:a16="http://schemas.microsoft.com/office/drawing/2014/main" id="{78E184B4-0FC6-49E2-8618-D23EA5951938}"/>
              </a:ext>
            </a:extLst>
          </p:cNvPr>
          <p:cNvSpPr>
            <a:spLocks xmlns:a="http://schemas.openxmlformats.org/drawingml/2006/main" noGrp="1"/>
          </p:cNvSpPr>
          <p:nvPr/>
        </p:nvSpPr>
        <p:spPr>
          <a:xfrm xmlns:a="http://schemas.openxmlformats.org/drawingml/2006/main">
            <a:off x="1143000" y="538162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9CB1C5"/>
                </a:solidFill>
                <a:latin typeface="Arial"/>
                <a:ea typeface="Arial"/>
                <a:cs typeface="Arial"/>
              </a:defRPr>
            </a:pPr>
            <a:r>
              <a:rPr sz="1725" b="1">
                <a:solidFill>
                  <a:srgbClr val="9CB1C5"/>
                </a:solidFill>
                <a:latin typeface="Arial"/>
                <a:ea typeface="Arial"/>
                <a:cs typeface="Arial"/>
              </a:rPr>
              <a:t>Deux réseaux séparent le transport de messages et l’accès SQL</a:t>
            </a:r>
          </a:p>
        </p:txBody>
      </p:sp>
    </p:spTree>
    <p:extLst>
      <p:ext uri="{BB962C8B-B14F-4D97-AF65-F5344CB8AC3E}">
        <p14:creationId xmlns:p14="http://schemas.microsoft.com/office/powerpoint/2010/main" val="1516392632"/>
      </p:ext>
    </p:extLst>
  </p:cSld>
</p:sld>
</file>

<file path=ppt/slides/slide9.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092B007-A513-45ED-B632-9419D0BB9C8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Ingestion continue</a:t>
            </a:r>
          </a:p>
        </p:txBody>
      </p:sp>
      <p:sp>
        <p:nvSpPr>
          <p:cNvPr id="2" name="">
            <a:extLst xmlns:a="http://schemas.openxmlformats.org/drawingml/2006/main">
              <a:ext uri="{FF2B5EF4-FFF2-40B4-BE49-F238E27FC236}">
                <a16:creationId xmlns:a16="http://schemas.microsoft.com/office/drawing/2014/main" id="{F05A757B-5149-40B1-8F86-83D198D1EFD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03BAB507-5D9F-4050-8BDC-D317D28DEED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8BD4BE-6804-494C-A0C3-9A3D1E0DA596}"/>
              </a:ext>
            </a:extLst>
          </p:cNvPr>
          <p:cNvSpPr>
            <a:spLocks xmlns:a="http://schemas.openxmlformats.org/drawingml/2006/main" noGrp="1"/>
          </p:cNvSpPr>
          <p:nvPr/>
        </p:nvSpPr>
        <p:spPr>
          <a:xfrm xmlns:a="http://schemas.openxmlformats.org/drawingml/2006/main">
            <a:off x="857250" y="190500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422087-EEA3-47C3-AB1D-F4579E3EB886}"/>
              </a:ext>
            </a:extLst>
          </p:cNvPr>
          <p:cNvSpPr>
            <a:spLocks xmlns:a="http://schemas.openxmlformats.org/drawingml/2006/main" noGrp="1"/>
          </p:cNvSpPr>
          <p:nvPr/>
        </p:nvSpPr>
        <p:spPr>
          <a:xfrm xmlns:a="http://schemas.openxmlformats.org/drawingml/2006/main">
            <a:off x="857250" y="19050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F36BDC-8782-4E95-AD40-75B55506F4EB}"/>
              </a:ext>
            </a:extLst>
          </p:cNvPr>
          <p:cNvSpPr>
            <a:spLocks xmlns:a="http://schemas.openxmlformats.org/drawingml/2006/main" noGrp="1"/>
          </p:cNvSpPr>
          <p:nvPr/>
        </p:nvSpPr>
        <p:spPr>
          <a:xfrm xmlns:a="http://schemas.openxmlformats.org/drawingml/2006/main">
            <a:off x="1047750" y="201930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Lecture RSS</a:t>
            </a:r>
          </a:p>
        </p:txBody>
      </p:sp>
      <p:sp>
        <p:nvSpPr>
          <p:cNvPr id="7" name="">
            <a:extLst xmlns:a="http://schemas.openxmlformats.org/drawingml/2006/main">
              <a:ext uri="{FF2B5EF4-FFF2-40B4-BE49-F238E27FC236}">
                <a16:creationId xmlns:a16="http://schemas.microsoft.com/office/drawing/2014/main" id="{45643BE2-4BC0-491D-ABCD-E8C47B199BE0}"/>
              </a:ext>
            </a:extLst>
          </p:cNvPr>
          <p:cNvSpPr>
            <a:spLocks xmlns:a="http://schemas.openxmlformats.org/drawingml/2006/main" noGrp="1"/>
          </p:cNvSpPr>
          <p:nvPr/>
        </p:nvSpPr>
        <p:spPr>
          <a:xfrm xmlns:a="http://schemas.openxmlformats.org/drawingml/2006/main">
            <a:off x="1047750" y="24003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feedparser</a:t>
            </a:r>
          </a:p>
        </p:txBody>
      </p:sp>
      <p:sp>
        <p:nvSpPr>
          <p:cNvPr id="8" name="">
            <a:extLst xmlns:a="http://schemas.openxmlformats.org/drawingml/2006/main">
              <a:ext uri="{FF2B5EF4-FFF2-40B4-BE49-F238E27FC236}">
                <a16:creationId xmlns:a16="http://schemas.microsoft.com/office/drawing/2014/main" id="{D634F8BD-57CE-46CE-BCDC-E2811198DC01}"/>
              </a:ext>
            </a:extLst>
          </p:cNvPr>
          <p:cNvSpPr>
            <a:spLocks xmlns:a="http://schemas.openxmlformats.org/drawingml/2006/main" noGrp="1"/>
          </p:cNvSpPr>
          <p:nvPr/>
        </p:nvSpPr>
        <p:spPr>
          <a:xfrm xmlns:a="http://schemas.openxmlformats.org/drawingml/2006/main">
            <a:off x="376237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C415F8-F898-4F59-A86F-C147FAB5E5B3}"/>
              </a:ext>
            </a:extLst>
          </p:cNvPr>
          <p:cNvSpPr>
            <a:spLocks xmlns:a="http://schemas.openxmlformats.org/drawingml/2006/main" noGrp="1"/>
          </p:cNvSpPr>
          <p:nvPr/>
        </p:nvSpPr>
        <p:spPr>
          <a:xfrm xmlns:a="http://schemas.openxmlformats.org/drawingml/2006/main">
            <a:off x="4572000" y="1905000"/>
            <a:ext cx="2952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80E654-AECB-4345-AD43-D189431191D9}"/>
              </a:ext>
            </a:extLst>
          </p:cNvPr>
          <p:cNvSpPr>
            <a:spLocks xmlns:a="http://schemas.openxmlformats.org/drawingml/2006/main" noGrp="1"/>
          </p:cNvSpPr>
          <p:nvPr/>
        </p:nvSpPr>
        <p:spPr>
          <a:xfrm xmlns:a="http://schemas.openxmlformats.org/drawingml/2006/main">
            <a:off x="4572000" y="19050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F10DA0-A625-445E-AD6A-53A36177D912}"/>
              </a:ext>
            </a:extLst>
          </p:cNvPr>
          <p:cNvSpPr>
            <a:spLocks xmlns:a="http://schemas.openxmlformats.org/drawingml/2006/main" noGrp="1"/>
          </p:cNvSpPr>
          <p:nvPr/>
        </p:nvSpPr>
        <p:spPr>
          <a:xfrm xmlns:a="http://schemas.openxmlformats.org/drawingml/2006/main">
            <a:off x="4762500" y="2019300"/>
            <a:ext cx="264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Normalisation</a:t>
            </a:r>
          </a:p>
        </p:txBody>
      </p:sp>
      <p:sp>
        <p:nvSpPr>
          <p:cNvPr id="12" name="">
            <a:extLst xmlns:a="http://schemas.openxmlformats.org/drawingml/2006/main">
              <a:ext uri="{FF2B5EF4-FFF2-40B4-BE49-F238E27FC236}">
                <a16:creationId xmlns:a16="http://schemas.microsoft.com/office/drawing/2014/main" id="{7FD7DC38-25AE-4118-8268-25A7C50B900D}"/>
              </a:ext>
            </a:extLst>
          </p:cNvPr>
          <p:cNvSpPr>
            <a:spLocks xmlns:a="http://schemas.openxmlformats.org/drawingml/2006/main" noGrp="1"/>
          </p:cNvSpPr>
          <p:nvPr/>
        </p:nvSpPr>
        <p:spPr>
          <a:xfrm xmlns:a="http://schemas.openxmlformats.org/drawingml/2006/main">
            <a:off x="4762500" y="2400300"/>
            <a:ext cx="2647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champs communs</a:t>
            </a:r>
          </a:p>
        </p:txBody>
      </p:sp>
      <p:sp>
        <p:nvSpPr>
          <p:cNvPr id="13" name="">
            <a:extLst xmlns:a="http://schemas.openxmlformats.org/drawingml/2006/main">
              <a:ext uri="{FF2B5EF4-FFF2-40B4-BE49-F238E27FC236}">
                <a16:creationId xmlns:a16="http://schemas.microsoft.com/office/drawing/2014/main" id="{34633FB3-A047-4081-81F1-0FF393A298B9}"/>
              </a:ext>
            </a:extLst>
          </p:cNvPr>
          <p:cNvSpPr>
            <a:spLocks xmlns:a="http://schemas.openxmlformats.org/drawingml/2006/main" noGrp="1"/>
          </p:cNvSpPr>
          <p:nvPr/>
        </p:nvSpPr>
        <p:spPr>
          <a:xfrm xmlns:a="http://schemas.openxmlformats.org/drawingml/2006/main">
            <a:off x="776287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A66930D-10C9-4B95-8CC0-1B7B4549AA6D}"/>
              </a:ext>
            </a:extLst>
          </p:cNvPr>
          <p:cNvSpPr>
            <a:spLocks xmlns:a="http://schemas.openxmlformats.org/drawingml/2006/main" noGrp="1"/>
          </p:cNvSpPr>
          <p:nvPr/>
        </p:nvSpPr>
        <p:spPr>
          <a:xfrm xmlns:a="http://schemas.openxmlformats.org/drawingml/2006/main">
            <a:off x="8572500" y="190500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322DE5-A389-4E00-A207-5F3A7BF8428F}"/>
              </a:ext>
            </a:extLst>
          </p:cNvPr>
          <p:cNvSpPr>
            <a:spLocks xmlns:a="http://schemas.openxmlformats.org/drawingml/2006/main" noGrp="1"/>
          </p:cNvSpPr>
          <p:nvPr/>
        </p:nvSpPr>
        <p:spPr>
          <a:xfrm xmlns:a="http://schemas.openxmlformats.org/drawingml/2006/main">
            <a:off x="8572500" y="1905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557C8E-BD3F-4854-A7F6-33F4F983D9B5}"/>
              </a:ext>
            </a:extLst>
          </p:cNvPr>
          <p:cNvSpPr>
            <a:spLocks xmlns:a="http://schemas.openxmlformats.org/drawingml/2006/main" noGrp="1"/>
          </p:cNvSpPr>
          <p:nvPr/>
        </p:nvSpPr>
        <p:spPr>
          <a:xfrm xmlns:a="http://schemas.openxmlformats.org/drawingml/2006/main">
            <a:off x="8763000" y="201930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Publication</a:t>
            </a:r>
          </a:p>
        </p:txBody>
      </p:sp>
      <p:sp>
        <p:nvSpPr>
          <p:cNvPr id="17" name="">
            <a:extLst xmlns:a="http://schemas.openxmlformats.org/drawingml/2006/main">
              <a:ext uri="{FF2B5EF4-FFF2-40B4-BE49-F238E27FC236}">
                <a16:creationId xmlns:a16="http://schemas.microsoft.com/office/drawing/2014/main" id="{47D4C914-F332-4116-AF1B-0A944F4E4B24}"/>
              </a:ext>
            </a:extLst>
          </p:cNvPr>
          <p:cNvSpPr>
            <a:spLocks xmlns:a="http://schemas.openxmlformats.org/drawingml/2006/main" noGrp="1"/>
          </p:cNvSpPr>
          <p:nvPr/>
        </p:nvSpPr>
        <p:spPr>
          <a:xfrm xmlns:a="http://schemas.openxmlformats.org/drawingml/2006/main">
            <a:off x="8763000" y="24003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raw_news</a:t>
            </a:r>
          </a:p>
        </p:txBody>
      </p:sp>
      <p:sp>
        <p:nvSpPr>
          <p:cNvPr id="18" name="">
            <a:extLst xmlns:a="http://schemas.openxmlformats.org/drawingml/2006/main">
              <a:ext uri="{FF2B5EF4-FFF2-40B4-BE49-F238E27FC236}">
                <a16:creationId xmlns:a16="http://schemas.microsoft.com/office/drawing/2014/main" id="{374DB3B8-DD6E-4059-9514-FEAEA4EF02C5}"/>
              </a:ext>
            </a:extLst>
          </p:cNvPr>
          <p:cNvSpPr>
            <a:spLocks xmlns:a="http://schemas.openxmlformats.org/drawingml/2006/main" noGrp="1"/>
          </p:cNvSpPr>
          <p:nvPr/>
        </p:nvSpPr>
        <p:spPr>
          <a:xfrm xmlns:a="http://schemas.openxmlformats.org/drawingml/2006/main">
            <a:off x="2047875" y="37623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025" b="1">
                <a:solidFill>
                  <a:srgbClr val="EEF6FF"/>
                </a:solidFill>
                <a:latin typeface="Arial"/>
                <a:ea typeface="Arial"/>
                <a:cs typeface="Arial"/>
              </a:defRPr>
            </a:pPr>
            <a:r>
              <a:rPr sz="2025" b="1">
                <a:solidFill>
                  <a:srgbClr val="EEF6FF"/>
                </a:solidFill>
                <a:latin typeface="Arial"/>
                <a:ea typeface="Arial"/>
                <a:cs typeface="Arial"/>
              </a:rPr>
              <a:t>Les entrées sans URL ou sans titre sont ignorées</a:t>
            </a:r>
          </a:p>
        </p:txBody>
      </p:sp>
      <p:sp>
        <p:nvSpPr>
          <p:cNvPr id="19" name="">
            <a:extLst xmlns:a="http://schemas.openxmlformats.org/drawingml/2006/main">
              <a:ext uri="{FF2B5EF4-FFF2-40B4-BE49-F238E27FC236}">
                <a16:creationId xmlns:a16="http://schemas.microsoft.com/office/drawing/2014/main" id="{1E285E8E-C10A-4928-B58F-5D077BA2C632}"/>
              </a:ext>
            </a:extLst>
          </p:cNvPr>
          <p:cNvSpPr>
            <a:spLocks xmlns:a="http://schemas.openxmlformats.org/drawingml/2006/main" noGrp="1"/>
          </p:cNvSpPr>
          <p:nvPr/>
        </p:nvSpPr>
        <p:spPr>
          <a:xfrm xmlns:a="http://schemas.openxmlformats.org/drawingml/2006/main">
            <a:off x="2238375" y="4524375"/>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9CB1C5"/>
                </a:solidFill>
                <a:latin typeface="Arial"/>
                <a:ea typeface="Arial"/>
                <a:cs typeface="Arial"/>
              </a:defRPr>
            </a:pPr>
            <a:r>
              <a:rPr sz="1650" b="1">
                <a:solidFill>
                  <a:srgbClr val="9CB1C5"/>
                </a:solidFill>
                <a:latin typeface="Arial"/>
                <a:ea typeface="Arial"/>
                <a:cs typeface="Arial"/>
              </a:rPr>
              <a:t>La collecte recommence après l’intervalle configuré</a:t>
            </a:r>
          </a:p>
        </p:txBody>
      </p:sp>
    </p:spTree>
    <p:extLst>
      <p:ext uri="{BB962C8B-B14F-4D97-AF65-F5344CB8AC3E}">
        <p14:creationId xmlns:p14="http://schemas.microsoft.com/office/powerpoint/2010/main" val="2060510367"/>
      </p:ext>
    </p:extLst>
  </p:cSld>
</p:sld>
</file>

<file path=ppt/slides/slide10.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A86D6F-F855-4B33-9936-0751B0BEA834}"/>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Queue raw_news</a:t>
            </a:r>
          </a:p>
        </p:txBody>
      </p:sp>
      <p:sp>
        <p:nvSpPr>
          <p:cNvPr id="2" name="">
            <a:extLst xmlns:a="http://schemas.openxmlformats.org/drawingml/2006/main">
              <a:ext uri="{FF2B5EF4-FFF2-40B4-BE49-F238E27FC236}">
                <a16:creationId xmlns:a16="http://schemas.microsoft.com/office/drawing/2014/main" id="{0035356E-9389-490E-AB6D-37C7B1CA472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0092E18-89B4-463F-ABE5-3914CE7E923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D0B40D-10E9-42DC-87D3-49862DF60E3E}"/>
              </a:ext>
            </a:extLst>
          </p:cNvPr>
          <p:cNvSpPr>
            <a:spLocks xmlns:a="http://schemas.openxmlformats.org/drawingml/2006/main" noGrp="1"/>
          </p:cNvSpPr>
          <p:nvPr/>
        </p:nvSpPr>
        <p:spPr>
          <a:xfrm xmlns:a="http://schemas.openxmlformats.org/drawingml/2006/main">
            <a:off x="904875" y="16668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1">
                <a:solidFill>
                  <a:srgbClr val="EEF6FF"/>
                </a:solidFill>
                <a:latin typeface="Arial"/>
                <a:ea typeface="Arial"/>
                <a:cs typeface="Arial"/>
              </a:defRPr>
            </a:pPr>
            <a:r>
              <a:rPr sz="2100" b="1">
                <a:solidFill>
                  <a:srgbClr val="EEF6FF"/>
                </a:solidFill>
                <a:latin typeface="Arial"/>
                <a:ea typeface="Arial"/>
                <a:cs typeface="Arial"/>
              </a:rPr>
              <a:t>Producteur</a:t>
            </a:r>
          </a:p>
        </p:txBody>
      </p:sp>
      <p:sp>
        <p:nvSpPr>
          <p:cNvPr id="5" name="">
            <a:extLst xmlns:a="http://schemas.openxmlformats.org/drawingml/2006/main">
              <a:ext uri="{FF2B5EF4-FFF2-40B4-BE49-F238E27FC236}">
                <a16:creationId xmlns:a16="http://schemas.microsoft.com/office/drawing/2014/main" id="{DC5A7365-A329-4F06-9D2C-4960BBDC7F27}"/>
              </a:ext>
            </a:extLst>
          </p:cNvPr>
          <p:cNvSpPr>
            <a:spLocks xmlns:a="http://schemas.openxmlformats.org/drawingml/2006/main" noGrp="1"/>
          </p:cNvSpPr>
          <p:nvPr/>
        </p:nvSpPr>
        <p:spPr>
          <a:xfrm xmlns:a="http://schemas.openxmlformats.org/drawingml/2006/main">
            <a:off x="3333750" y="16668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EFB6221C-F5B7-4679-8B79-0EFEF3D4E01C}"/>
              </a:ext>
            </a:extLst>
          </p:cNvPr>
          <p:cNvSpPr>
            <a:spLocks xmlns:a="http://schemas.openxmlformats.org/drawingml/2006/main" noGrp="1"/>
          </p:cNvSpPr>
          <p:nvPr/>
        </p:nvSpPr>
        <p:spPr>
          <a:xfrm xmlns:a="http://schemas.openxmlformats.org/drawingml/2006/main">
            <a:off x="4333875" y="1666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1">
                <a:solidFill>
                  <a:srgbClr val="FFB454"/>
                </a:solidFill>
                <a:latin typeface="Arial"/>
                <a:ea typeface="Arial"/>
                <a:cs typeface="Arial"/>
              </a:defRPr>
            </a:pPr>
            <a:r>
              <a:rPr sz="2100" b="1">
                <a:solidFill>
                  <a:srgbClr val="FFB454"/>
                </a:solidFill>
                <a:latin typeface="Arial"/>
                <a:ea typeface="Arial"/>
                <a:cs typeface="Arial"/>
              </a:rPr>
              <a:t>Queue durable</a:t>
            </a:r>
          </a:p>
        </p:txBody>
      </p:sp>
      <p:sp>
        <p:nvSpPr>
          <p:cNvPr id="7" name="">
            <a:extLst xmlns:a="http://schemas.openxmlformats.org/drawingml/2006/main">
              <a:ext uri="{FF2B5EF4-FFF2-40B4-BE49-F238E27FC236}">
                <a16:creationId xmlns:a16="http://schemas.microsoft.com/office/drawing/2014/main" id="{DEB01D7E-2555-457A-AE54-1E8C0454CD6B}"/>
              </a:ext>
            </a:extLst>
          </p:cNvPr>
          <p:cNvSpPr>
            <a:spLocks xmlns:a="http://schemas.openxmlformats.org/drawingml/2006/main" noGrp="1"/>
          </p:cNvSpPr>
          <p:nvPr/>
        </p:nvSpPr>
        <p:spPr>
          <a:xfrm xmlns:a="http://schemas.openxmlformats.org/drawingml/2006/main">
            <a:off x="7429500" y="16668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4BEAF6FB-7034-45DF-B068-4ECE535EEE63}"/>
              </a:ext>
            </a:extLst>
          </p:cNvPr>
          <p:cNvSpPr>
            <a:spLocks xmlns:a="http://schemas.openxmlformats.org/drawingml/2006/main" noGrp="1"/>
          </p:cNvSpPr>
          <p:nvPr/>
        </p:nvSpPr>
        <p:spPr>
          <a:xfrm xmlns:a="http://schemas.openxmlformats.org/drawingml/2006/main">
            <a:off x="8429625" y="16668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1">
                <a:solidFill>
                  <a:srgbClr val="EEF6FF"/>
                </a:solidFill>
                <a:latin typeface="Arial"/>
                <a:ea typeface="Arial"/>
                <a:cs typeface="Arial"/>
              </a:defRPr>
            </a:pPr>
            <a:r>
              <a:rPr sz="2100" b="1">
                <a:solidFill>
                  <a:srgbClr val="EEF6FF"/>
                </a:solidFill>
                <a:latin typeface="Arial"/>
                <a:ea typeface="Arial"/>
                <a:cs typeface="Arial"/>
              </a:rPr>
              <a:t>Analytics</a:t>
            </a:r>
          </a:p>
        </p:txBody>
      </p:sp>
      <p:sp>
        <p:nvSpPr>
          <p:cNvPr id="9" name="">
            <a:extLst xmlns:a="http://schemas.openxmlformats.org/drawingml/2006/main">
              <a:ext uri="{FF2B5EF4-FFF2-40B4-BE49-F238E27FC236}">
                <a16:creationId xmlns:a16="http://schemas.microsoft.com/office/drawing/2014/main" id="{20D7616F-4877-432E-BBCB-8D2A2E454092}"/>
              </a:ext>
            </a:extLst>
          </p:cNvPr>
          <p:cNvSpPr>
            <a:spLocks xmlns:a="http://schemas.openxmlformats.org/drawingml/2006/main" noGrp="1"/>
          </p:cNvSpPr>
          <p:nvPr/>
        </p:nvSpPr>
        <p:spPr>
          <a:xfrm xmlns:a="http://schemas.openxmlformats.org/drawingml/2006/main">
            <a:off x="762000" y="28575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DURABLE</a:t>
            </a:r>
          </a:p>
        </p:txBody>
      </p:sp>
      <p:sp>
        <p:nvSpPr>
          <p:cNvPr id="10" name="">
            <a:extLst xmlns:a="http://schemas.openxmlformats.org/drawingml/2006/main">
              <a:ext uri="{FF2B5EF4-FFF2-40B4-BE49-F238E27FC236}">
                <a16:creationId xmlns:a16="http://schemas.microsoft.com/office/drawing/2014/main" id="{EC633629-1C72-4105-866E-D7B3A7A55D16}"/>
              </a:ext>
            </a:extLst>
          </p:cNvPr>
          <p:cNvSpPr>
            <a:spLocks xmlns:a="http://schemas.openxmlformats.org/drawingml/2006/main" noGrp="1"/>
          </p:cNvSpPr>
          <p:nvPr/>
        </p:nvSpPr>
        <p:spPr>
          <a:xfrm xmlns:a="http://schemas.openxmlformats.org/drawingml/2006/main">
            <a:off x="3429000" y="30289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352E09-E5DA-4939-AF13-50A9069265DD}"/>
              </a:ext>
            </a:extLst>
          </p:cNvPr>
          <p:cNvSpPr>
            <a:spLocks xmlns:a="http://schemas.openxmlformats.org/drawingml/2006/main" noGrp="1"/>
          </p:cNvSpPr>
          <p:nvPr/>
        </p:nvSpPr>
        <p:spPr>
          <a:xfrm xmlns:a="http://schemas.openxmlformats.org/drawingml/2006/main">
            <a:off x="4381500" y="28384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La queue survit au redémarrage</a:t>
            </a:r>
          </a:p>
        </p:txBody>
      </p:sp>
      <p:sp>
        <p:nvSpPr>
          <p:cNvPr id="12" name="">
            <a:extLst xmlns:a="http://schemas.openxmlformats.org/drawingml/2006/main">
              <a:ext uri="{FF2B5EF4-FFF2-40B4-BE49-F238E27FC236}">
                <a16:creationId xmlns:a16="http://schemas.microsoft.com/office/drawing/2014/main" id="{15724E98-84DE-4309-994B-82760976DD41}"/>
              </a:ext>
            </a:extLst>
          </p:cNvPr>
          <p:cNvSpPr>
            <a:spLocks xmlns:a="http://schemas.openxmlformats.org/drawingml/2006/main" noGrp="1"/>
          </p:cNvSpPr>
          <p:nvPr/>
        </p:nvSpPr>
        <p:spPr>
          <a:xfrm xmlns:a="http://schemas.openxmlformats.org/drawingml/2006/main">
            <a:off x="762000" y="36671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PERSISTANT</a:t>
            </a:r>
          </a:p>
        </p:txBody>
      </p:sp>
      <p:sp>
        <p:nvSpPr>
          <p:cNvPr id="13" name="">
            <a:extLst xmlns:a="http://schemas.openxmlformats.org/drawingml/2006/main">
              <a:ext uri="{FF2B5EF4-FFF2-40B4-BE49-F238E27FC236}">
                <a16:creationId xmlns:a16="http://schemas.microsoft.com/office/drawing/2014/main" id="{384B1DA8-AEC7-4D4C-9ABB-006FFD9DA32F}"/>
              </a:ext>
            </a:extLst>
          </p:cNvPr>
          <p:cNvSpPr>
            <a:spLocks xmlns:a="http://schemas.openxmlformats.org/drawingml/2006/main" noGrp="1"/>
          </p:cNvSpPr>
          <p:nvPr/>
        </p:nvSpPr>
        <p:spPr>
          <a:xfrm xmlns:a="http://schemas.openxmlformats.org/drawingml/2006/main">
            <a:off x="3429000" y="383857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62A57B0-2983-4D29-A887-233F9E18D1D9}"/>
              </a:ext>
            </a:extLst>
          </p:cNvPr>
          <p:cNvSpPr>
            <a:spLocks xmlns:a="http://schemas.openxmlformats.org/drawingml/2006/main" noGrp="1"/>
          </p:cNvSpPr>
          <p:nvPr/>
        </p:nvSpPr>
        <p:spPr>
          <a:xfrm xmlns:a="http://schemas.openxmlformats.org/drawingml/2006/main">
            <a:off x="4381500" y="36480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Les messages sont écrits durablement</a:t>
            </a:r>
          </a:p>
        </p:txBody>
      </p:sp>
      <p:sp>
        <p:nvSpPr>
          <p:cNvPr id="15" name="">
            <a:extLst xmlns:a="http://schemas.openxmlformats.org/drawingml/2006/main">
              <a:ext uri="{FF2B5EF4-FFF2-40B4-BE49-F238E27FC236}">
                <a16:creationId xmlns:a16="http://schemas.microsoft.com/office/drawing/2014/main" id="{ABDDC8E8-0895-4848-96B1-7EB66DE4B0B4}"/>
              </a:ext>
            </a:extLst>
          </p:cNvPr>
          <p:cNvSpPr>
            <a:spLocks xmlns:a="http://schemas.openxmlformats.org/drawingml/2006/main" noGrp="1"/>
          </p:cNvSpPr>
          <p:nvPr/>
        </p:nvSpPr>
        <p:spPr>
          <a:xfrm xmlns:a="http://schemas.openxmlformats.org/drawingml/2006/main">
            <a:off x="762000" y="44767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PREFETCH 50</a:t>
            </a:r>
          </a:p>
        </p:txBody>
      </p:sp>
      <p:sp>
        <p:nvSpPr>
          <p:cNvPr id="16" name="">
            <a:extLst xmlns:a="http://schemas.openxmlformats.org/drawingml/2006/main">
              <a:ext uri="{FF2B5EF4-FFF2-40B4-BE49-F238E27FC236}">
                <a16:creationId xmlns:a16="http://schemas.microsoft.com/office/drawing/2014/main" id="{CB6EBFA0-58E0-485B-846F-7B8F1EF2E248}"/>
              </a:ext>
            </a:extLst>
          </p:cNvPr>
          <p:cNvSpPr>
            <a:spLocks xmlns:a="http://schemas.openxmlformats.org/drawingml/2006/main" noGrp="1"/>
          </p:cNvSpPr>
          <p:nvPr/>
        </p:nvSpPr>
        <p:spPr>
          <a:xfrm xmlns:a="http://schemas.openxmlformats.org/drawingml/2006/main">
            <a:off x="3429000" y="46482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BF3BEF-8A24-492A-A17F-AFBF1C6FC5C3}"/>
              </a:ext>
            </a:extLst>
          </p:cNvPr>
          <p:cNvSpPr>
            <a:spLocks xmlns:a="http://schemas.openxmlformats.org/drawingml/2006/main" noGrp="1"/>
          </p:cNvSpPr>
          <p:nvPr/>
        </p:nvSpPr>
        <p:spPr>
          <a:xfrm xmlns:a="http://schemas.openxmlformats.org/drawingml/2006/main">
            <a:off x="4381500" y="44577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Le travail non acquitté reste borné</a:t>
            </a:r>
          </a:p>
        </p:txBody>
      </p:sp>
    </p:spTree>
    <p:extLst>
      <p:ext uri="{BB962C8B-B14F-4D97-AF65-F5344CB8AC3E}">
        <p14:creationId xmlns:p14="http://schemas.microsoft.com/office/powerpoint/2010/main" val="677301521"/>
      </p:ext>
    </p:extLst>
  </p:cSld>
</p:sld>
</file>

<file path=ppt/slides/slide1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BFDDEB-377B-48E1-BC04-12D9DCE9E547}"/>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Analytics Builder</a:t>
            </a:r>
          </a:p>
        </p:txBody>
      </p:sp>
      <p:sp>
        <p:nvSpPr>
          <p:cNvPr id="2" name="">
            <a:extLst xmlns:a="http://schemas.openxmlformats.org/drawingml/2006/main">
              <a:ext uri="{FF2B5EF4-FFF2-40B4-BE49-F238E27FC236}">
                <a16:creationId xmlns:a16="http://schemas.microsoft.com/office/drawing/2014/main" id="{77ABE747-E20C-4829-BB89-7F3AC614F566}"/>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DECA802-C6F7-47A6-B694-4BE19457F4E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56A2F7-96DA-4EA9-B831-5FE21D41AAF1}"/>
              </a:ext>
            </a:extLst>
          </p:cNvPr>
          <p:cNvSpPr>
            <a:spLocks xmlns:a="http://schemas.openxmlformats.org/drawingml/2006/main" noGrp="1"/>
          </p:cNvSpPr>
          <p:nvPr/>
        </p:nvSpPr>
        <p:spPr>
          <a:xfrm xmlns:a="http://schemas.openxmlformats.org/drawingml/2006/main">
            <a:off x="904875" y="2000250"/>
            <a:ext cx="2571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C83DCD-F8F8-4399-B9F9-F84125C118E8}"/>
              </a:ext>
            </a:extLst>
          </p:cNvPr>
          <p:cNvSpPr>
            <a:spLocks xmlns:a="http://schemas.openxmlformats.org/drawingml/2006/main" noGrp="1"/>
          </p:cNvSpPr>
          <p:nvPr/>
        </p:nvSpPr>
        <p:spPr>
          <a:xfrm xmlns:a="http://schemas.openxmlformats.org/drawingml/2006/main">
            <a:off x="904875" y="200025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B00ED0-2B3D-4E1B-8EB5-2C69420D7323}"/>
              </a:ext>
            </a:extLst>
          </p:cNvPr>
          <p:cNvSpPr>
            <a:spLocks xmlns:a="http://schemas.openxmlformats.org/drawingml/2006/main" noGrp="1"/>
          </p:cNvSpPr>
          <p:nvPr/>
        </p:nvSpPr>
        <p:spPr>
          <a:xfrm xmlns:a="http://schemas.openxmlformats.org/drawingml/2006/main">
            <a:off x="1095375" y="21145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Entrée</a:t>
            </a:r>
          </a:p>
        </p:txBody>
      </p:sp>
      <p:sp>
        <p:nvSpPr>
          <p:cNvPr id="7" name="">
            <a:extLst xmlns:a="http://schemas.openxmlformats.org/drawingml/2006/main">
              <a:ext uri="{FF2B5EF4-FFF2-40B4-BE49-F238E27FC236}">
                <a16:creationId xmlns:a16="http://schemas.microsoft.com/office/drawing/2014/main" id="{F70E0709-7FCB-40D0-B3DC-A07CF61A61C5}"/>
              </a:ext>
            </a:extLst>
          </p:cNvPr>
          <p:cNvSpPr>
            <a:spLocks xmlns:a="http://schemas.openxmlformats.org/drawingml/2006/main" noGrp="1"/>
          </p:cNvSpPr>
          <p:nvPr/>
        </p:nvSpPr>
        <p:spPr>
          <a:xfrm xmlns:a="http://schemas.openxmlformats.org/drawingml/2006/main">
            <a:off x="1095375" y="2495550"/>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titre + résumé</a:t>
            </a:r>
          </a:p>
        </p:txBody>
      </p:sp>
      <p:sp>
        <p:nvSpPr>
          <p:cNvPr id="8" name="">
            <a:extLst xmlns:a="http://schemas.openxmlformats.org/drawingml/2006/main">
              <a:ext uri="{FF2B5EF4-FFF2-40B4-BE49-F238E27FC236}">
                <a16:creationId xmlns:a16="http://schemas.microsoft.com/office/drawing/2014/main" id="{3AE3ED31-A2DF-43E6-A07C-2B6D5461B737}"/>
              </a:ext>
            </a:extLst>
          </p:cNvPr>
          <p:cNvSpPr>
            <a:spLocks xmlns:a="http://schemas.openxmlformats.org/drawingml/2006/main" noGrp="1"/>
          </p:cNvSpPr>
          <p:nvPr/>
        </p:nvSpPr>
        <p:spPr>
          <a:xfrm xmlns:a="http://schemas.openxmlformats.org/drawingml/2006/main">
            <a:off x="3714750" y="2190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7914ABD-314D-4386-B668-5116A1320244}"/>
              </a:ext>
            </a:extLst>
          </p:cNvPr>
          <p:cNvSpPr>
            <a:spLocks xmlns:a="http://schemas.openxmlformats.org/drawingml/2006/main" noGrp="1"/>
          </p:cNvSpPr>
          <p:nvPr/>
        </p:nvSpPr>
        <p:spPr>
          <a:xfrm xmlns:a="http://schemas.openxmlformats.org/drawingml/2006/main">
            <a:off x="4572000" y="200025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416346-340F-4DC2-B846-582E6375A014}"/>
              </a:ext>
            </a:extLst>
          </p:cNvPr>
          <p:cNvSpPr>
            <a:spLocks xmlns:a="http://schemas.openxmlformats.org/drawingml/2006/main" noGrp="1"/>
          </p:cNvSpPr>
          <p:nvPr/>
        </p:nvSpPr>
        <p:spPr>
          <a:xfrm xmlns:a="http://schemas.openxmlformats.org/drawingml/2006/main">
            <a:off x="4572000" y="200025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A4C6F2-566E-455B-94E7-D5CC0A49C204}"/>
              </a:ext>
            </a:extLst>
          </p:cNvPr>
          <p:cNvSpPr>
            <a:spLocks xmlns:a="http://schemas.openxmlformats.org/drawingml/2006/main" noGrp="1"/>
          </p:cNvSpPr>
          <p:nvPr/>
        </p:nvSpPr>
        <p:spPr>
          <a:xfrm xmlns:a="http://schemas.openxmlformats.org/drawingml/2006/main">
            <a:off x="4762500" y="211455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Score lexical</a:t>
            </a:r>
          </a:p>
        </p:txBody>
      </p:sp>
      <p:sp>
        <p:nvSpPr>
          <p:cNvPr id="12" name="">
            <a:extLst xmlns:a="http://schemas.openxmlformats.org/drawingml/2006/main">
              <a:ext uri="{FF2B5EF4-FFF2-40B4-BE49-F238E27FC236}">
                <a16:creationId xmlns:a16="http://schemas.microsoft.com/office/drawing/2014/main" id="{81AE96F2-4B3C-44DD-A652-285D8ED8F73A}"/>
              </a:ext>
            </a:extLst>
          </p:cNvPr>
          <p:cNvSpPr>
            <a:spLocks xmlns:a="http://schemas.openxmlformats.org/drawingml/2006/main" noGrp="1"/>
          </p:cNvSpPr>
          <p:nvPr/>
        </p:nvSpPr>
        <p:spPr>
          <a:xfrm xmlns:a="http://schemas.openxmlformats.org/drawingml/2006/main">
            <a:off x="4762500" y="24955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-1 à +1</a:t>
            </a:r>
          </a:p>
        </p:txBody>
      </p:sp>
      <p:sp>
        <p:nvSpPr>
          <p:cNvPr id="13" name="">
            <a:extLst xmlns:a="http://schemas.openxmlformats.org/drawingml/2006/main">
              <a:ext uri="{FF2B5EF4-FFF2-40B4-BE49-F238E27FC236}">
                <a16:creationId xmlns:a16="http://schemas.microsoft.com/office/drawing/2014/main" id="{4631AB45-F5CD-4591-AD28-BAC90D3C8D97}"/>
              </a:ext>
            </a:extLst>
          </p:cNvPr>
          <p:cNvSpPr>
            <a:spLocks xmlns:a="http://schemas.openxmlformats.org/drawingml/2006/main" noGrp="1"/>
          </p:cNvSpPr>
          <p:nvPr/>
        </p:nvSpPr>
        <p:spPr>
          <a:xfrm xmlns:a="http://schemas.openxmlformats.org/drawingml/2006/main">
            <a:off x="7667625" y="2190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D673F95D-B1C2-428D-9363-F246441447A6}"/>
              </a:ext>
            </a:extLst>
          </p:cNvPr>
          <p:cNvSpPr>
            <a:spLocks xmlns:a="http://schemas.openxmlformats.org/drawingml/2006/main" noGrp="1"/>
          </p:cNvSpPr>
          <p:nvPr/>
        </p:nvSpPr>
        <p:spPr>
          <a:xfrm xmlns:a="http://schemas.openxmlformats.org/drawingml/2006/main">
            <a:off x="8524875" y="2000250"/>
            <a:ext cx="2762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AF8E46-2A6C-461F-9247-4EF4E7AC67E1}"/>
              </a:ext>
            </a:extLst>
          </p:cNvPr>
          <p:cNvSpPr>
            <a:spLocks xmlns:a="http://schemas.openxmlformats.org/drawingml/2006/main" noGrp="1"/>
          </p:cNvSpPr>
          <p:nvPr/>
        </p:nvSpPr>
        <p:spPr>
          <a:xfrm xmlns:a="http://schemas.openxmlformats.org/drawingml/2006/main">
            <a:off x="8524875" y="200025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8F90DF-700B-4C9D-8A0C-3EF4D7C273B5}"/>
              </a:ext>
            </a:extLst>
          </p:cNvPr>
          <p:cNvSpPr>
            <a:spLocks xmlns:a="http://schemas.openxmlformats.org/drawingml/2006/main" noGrp="1"/>
          </p:cNvSpPr>
          <p:nvPr/>
        </p:nvSpPr>
        <p:spPr>
          <a:xfrm xmlns:a="http://schemas.openxmlformats.org/drawingml/2006/main">
            <a:off x="8715375" y="211455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Sortie</a:t>
            </a:r>
          </a:p>
        </p:txBody>
      </p:sp>
      <p:sp>
        <p:nvSpPr>
          <p:cNvPr id="17" name="">
            <a:extLst xmlns:a="http://schemas.openxmlformats.org/drawingml/2006/main">
              <a:ext uri="{FF2B5EF4-FFF2-40B4-BE49-F238E27FC236}">
                <a16:creationId xmlns:a16="http://schemas.microsoft.com/office/drawing/2014/main" id="{312163B3-0C5E-4844-ADA0-58AE56D72842}"/>
              </a:ext>
            </a:extLst>
          </p:cNvPr>
          <p:cNvSpPr>
            <a:spLocks xmlns:a="http://schemas.openxmlformats.org/drawingml/2006/main" noGrp="1"/>
          </p:cNvSpPr>
          <p:nvPr/>
        </p:nvSpPr>
        <p:spPr>
          <a:xfrm xmlns:a="http://schemas.openxmlformats.org/drawingml/2006/main">
            <a:off x="8715375" y="249555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label + thèmes</a:t>
            </a:r>
          </a:p>
        </p:txBody>
      </p:sp>
      <p:sp>
        <p:nvSpPr>
          <p:cNvPr id="18" name="">
            <a:extLst xmlns:a="http://schemas.openxmlformats.org/drawingml/2006/main">
              <a:ext uri="{FF2B5EF4-FFF2-40B4-BE49-F238E27FC236}">
                <a16:creationId xmlns:a16="http://schemas.microsoft.com/office/drawing/2014/main" id="{5293B94E-40BC-424C-BE88-AF3A49E8156E}"/>
              </a:ext>
            </a:extLst>
          </p:cNvPr>
          <p:cNvSpPr>
            <a:spLocks xmlns:a="http://schemas.openxmlformats.org/drawingml/2006/main" noGrp="1"/>
          </p:cNvSpPr>
          <p:nvPr/>
        </p:nvSpPr>
        <p:spPr>
          <a:xfrm xmlns:a="http://schemas.openxmlformats.org/drawingml/2006/main">
            <a:off x="762000" y="3857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SENTIMENT</a:t>
            </a:r>
          </a:p>
        </p:txBody>
      </p:sp>
      <p:sp>
        <p:nvSpPr>
          <p:cNvPr id="19" name="">
            <a:extLst xmlns:a="http://schemas.openxmlformats.org/drawingml/2006/main">
              <a:ext uri="{FF2B5EF4-FFF2-40B4-BE49-F238E27FC236}">
                <a16:creationId xmlns:a16="http://schemas.microsoft.com/office/drawing/2014/main" id="{5F6B2B3B-A347-4812-AEA0-33AB1AB807A5}"/>
              </a:ext>
            </a:extLst>
          </p:cNvPr>
          <p:cNvSpPr>
            <a:spLocks xmlns:a="http://schemas.openxmlformats.org/drawingml/2006/main" noGrp="1"/>
          </p:cNvSpPr>
          <p:nvPr/>
        </p:nvSpPr>
        <p:spPr>
          <a:xfrm xmlns:a="http://schemas.openxmlformats.org/drawingml/2006/main">
            <a:off x="3429000" y="4029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0D387D7-6F75-4245-96B5-32C79F8341E2}"/>
              </a:ext>
            </a:extLst>
          </p:cNvPr>
          <p:cNvSpPr>
            <a:spLocks xmlns:a="http://schemas.openxmlformats.org/drawingml/2006/main" noGrp="1"/>
          </p:cNvSpPr>
          <p:nvPr/>
        </p:nvSpPr>
        <p:spPr>
          <a:xfrm xmlns:a="http://schemas.openxmlformats.org/drawingml/2006/main">
            <a:off x="4381500" y="3838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positif, neutre ou négatif</a:t>
            </a:r>
          </a:p>
        </p:txBody>
      </p:sp>
      <p:sp>
        <p:nvSpPr>
          <p:cNvPr id="21" name="">
            <a:extLst xmlns:a="http://schemas.openxmlformats.org/drawingml/2006/main">
              <a:ext uri="{FF2B5EF4-FFF2-40B4-BE49-F238E27FC236}">
                <a16:creationId xmlns:a16="http://schemas.microsoft.com/office/drawing/2014/main" id="{1F7DF0BC-632E-4D83-B13A-B9CA82BE6F8D}"/>
              </a:ext>
            </a:extLst>
          </p:cNvPr>
          <p:cNvSpPr>
            <a:spLocks xmlns:a="http://schemas.openxmlformats.org/drawingml/2006/main" noGrp="1"/>
          </p:cNvSpPr>
          <p:nvPr/>
        </p:nvSpPr>
        <p:spPr>
          <a:xfrm xmlns:a="http://schemas.openxmlformats.org/drawingml/2006/main">
            <a:off x="762000" y="4667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THÈMES</a:t>
            </a:r>
          </a:p>
        </p:txBody>
      </p:sp>
      <p:sp>
        <p:nvSpPr>
          <p:cNvPr id="22" name="">
            <a:extLst xmlns:a="http://schemas.openxmlformats.org/drawingml/2006/main">
              <a:ext uri="{FF2B5EF4-FFF2-40B4-BE49-F238E27FC236}">
                <a16:creationId xmlns:a16="http://schemas.microsoft.com/office/drawing/2014/main" id="{8EF84C82-43BA-4974-90B4-7C1488AC560B}"/>
              </a:ext>
            </a:extLst>
          </p:cNvPr>
          <p:cNvSpPr>
            <a:spLocks xmlns:a="http://schemas.openxmlformats.org/drawingml/2006/main" noGrp="1"/>
          </p:cNvSpPr>
          <p:nvPr/>
        </p:nvSpPr>
        <p:spPr>
          <a:xfrm xmlns:a="http://schemas.openxmlformats.org/drawingml/2006/main">
            <a:off x="3429000" y="4838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AB492CF-DB7A-4307-A928-C125B254EF44}"/>
              </a:ext>
            </a:extLst>
          </p:cNvPr>
          <p:cNvSpPr>
            <a:spLocks xmlns:a="http://schemas.openxmlformats.org/drawingml/2006/main" noGrp="1"/>
          </p:cNvSpPr>
          <p:nvPr/>
        </p:nvSpPr>
        <p:spPr>
          <a:xfrm xmlns:a="http://schemas.openxmlformats.org/drawingml/2006/main">
            <a:off x="4381500" y="4648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bitcoin, ethereum, DeFi, sécurité, marchés</a:t>
            </a:r>
          </a:p>
        </p:txBody>
      </p:sp>
    </p:spTree>
    <p:extLst>
      <p:ext uri="{BB962C8B-B14F-4D97-AF65-F5344CB8AC3E}">
        <p14:creationId xmlns:p14="http://schemas.microsoft.com/office/powerpoint/2010/main" val="186751411"/>
      </p:ext>
    </p:extLst>
  </p:cSld>
</p:sld>
</file>

<file path=ppt/slides/slide1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4722B8-AA3B-457B-8959-BAE6D3438F1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Événement enrichi</a:t>
            </a:r>
          </a:p>
        </p:txBody>
      </p:sp>
      <p:sp>
        <p:nvSpPr>
          <p:cNvPr id="2" name="">
            <a:extLst xmlns:a="http://schemas.openxmlformats.org/drawingml/2006/main">
              <a:ext uri="{FF2B5EF4-FFF2-40B4-BE49-F238E27FC236}">
                <a16:creationId xmlns:a16="http://schemas.microsoft.com/office/drawing/2014/main" id="{A12A6629-7584-48BC-8E6D-D23EE7DC38F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BC8EB52-CD7B-4E33-A2F7-7DB83411448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A04EE5-E3B8-4E7C-A948-EBF1016289FE}"/>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CONSERVÉ</a:t>
            </a:r>
          </a:p>
        </p:txBody>
      </p:sp>
      <p:sp>
        <p:nvSpPr>
          <p:cNvPr id="5" name="">
            <a:extLst xmlns:a="http://schemas.openxmlformats.org/drawingml/2006/main">
              <a:ext uri="{FF2B5EF4-FFF2-40B4-BE49-F238E27FC236}">
                <a16:creationId xmlns:a16="http://schemas.microsoft.com/office/drawing/2014/main" id="{7417DC51-7FEB-4E92-A326-E7E5BED6E26C}"/>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F51377-68E3-4732-B31C-901D453AE582}"/>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Identité, source, texte et temps</a:t>
            </a:r>
          </a:p>
        </p:txBody>
      </p:sp>
      <p:sp>
        <p:nvSpPr>
          <p:cNvPr id="7" name="">
            <a:extLst xmlns:a="http://schemas.openxmlformats.org/drawingml/2006/main">
              <a:ext uri="{FF2B5EF4-FFF2-40B4-BE49-F238E27FC236}">
                <a16:creationId xmlns:a16="http://schemas.microsoft.com/office/drawing/2014/main" id="{7619AAEB-3B40-4E65-9431-A5FBE26C5FC5}"/>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AJOUTÉ</a:t>
            </a:r>
          </a:p>
        </p:txBody>
      </p:sp>
      <p:sp>
        <p:nvSpPr>
          <p:cNvPr id="8" name="">
            <a:extLst xmlns:a="http://schemas.openxmlformats.org/drawingml/2006/main">
              <a:ext uri="{FF2B5EF4-FFF2-40B4-BE49-F238E27FC236}">
                <a16:creationId xmlns:a16="http://schemas.microsoft.com/office/drawing/2014/main" id="{58699B04-A04D-4199-A34D-6CF572BEFE1F}"/>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8DDF64-5C15-4355-BA7E-C30AD156DB0A}"/>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Score, label de sentiment et liste de thèmes</a:t>
            </a:r>
          </a:p>
        </p:txBody>
      </p:sp>
      <p:sp>
        <p:nvSpPr>
          <p:cNvPr id="10" name="">
            <a:extLst xmlns:a="http://schemas.openxmlformats.org/drawingml/2006/main">
              <a:ext uri="{FF2B5EF4-FFF2-40B4-BE49-F238E27FC236}">
                <a16:creationId xmlns:a16="http://schemas.microsoft.com/office/drawing/2014/main" id="{A4339A90-C0EE-49B9-B2CE-3F166F5E64FD}"/>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TRAÇABLE</a:t>
            </a:r>
          </a:p>
        </p:txBody>
      </p:sp>
      <p:sp>
        <p:nvSpPr>
          <p:cNvPr id="11" name="">
            <a:extLst xmlns:a="http://schemas.openxmlformats.org/drawingml/2006/main">
              <a:ext uri="{FF2B5EF4-FFF2-40B4-BE49-F238E27FC236}">
                <a16:creationId xmlns:a16="http://schemas.microsoft.com/office/drawing/2014/main" id="{E9283296-780E-42FE-8B7A-167688CBA76C}"/>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117497-B3EB-4C5F-8CA0-B1C0611000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Même article_id pendant tout le parcours</a:t>
            </a:r>
          </a:p>
        </p:txBody>
      </p:sp>
      <p:sp>
        <p:nvSpPr>
          <p:cNvPr id="13" name="">
            <a:extLst xmlns:a="http://schemas.openxmlformats.org/drawingml/2006/main">
              <a:ext uri="{FF2B5EF4-FFF2-40B4-BE49-F238E27FC236}">
                <a16:creationId xmlns:a16="http://schemas.microsoft.com/office/drawing/2014/main" id="{1DD62022-0A4A-4F66-A117-76A654CD2883}"/>
              </a:ext>
            </a:extLst>
          </p:cNvPr>
          <p:cNvSpPr>
            <a:spLocks xmlns:a="http://schemas.openxmlformats.org/drawingml/2006/main" noGrp="1"/>
          </p:cNvSpPr>
          <p:nvPr/>
        </p:nvSpPr>
        <p:spPr>
          <a:xfrm xmlns:a="http://schemas.openxmlformats.org/drawingml/2006/main">
            <a:off x="1571625" y="5334000"/>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EEF6FF"/>
                </a:solidFill>
                <a:latin typeface="Arial"/>
                <a:ea typeface="Arial"/>
                <a:cs typeface="Arial"/>
              </a:defRPr>
            </a:pPr>
            <a:r>
              <a:rPr sz="1800" b="1">
                <a:solidFill>
                  <a:srgbClr val="EEF6FF"/>
                </a:solidFill>
                <a:latin typeface="Arial"/>
                <a:ea typeface="Arial"/>
                <a:cs typeface="Arial"/>
              </a:rPr>
              <a:t>enriched_news devient le contrat d’entrée du stockage</a:t>
            </a:r>
          </a:p>
        </p:txBody>
      </p:sp>
    </p:spTree>
    <p:extLst>
      <p:ext uri="{BB962C8B-B14F-4D97-AF65-F5344CB8AC3E}">
        <p14:creationId xmlns:p14="http://schemas.microsoft.com/office/powerpoint/2010/main" val="1241678290"/>
      </p:ext>
    </p:extLst>
  </p:cSld>
</p:sld>
</file>

<file path=ppt/slides/slide1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9C1FA80-133A-451E-93E3-CE4919DE29A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Stockage transactionnel</a:t>
            </a:r>
          </a:p>
        </p:txBody>
      </p:sp>
      <p:sp>
        <p:nvSpPr>
          <p:cNvPr id="2" name="">
            <a:extLst xmlns:a="http://schemas.openxmlformats.org/drawingml/2006/main">
              <a:ext uri="{FF2B5EF4-FFF2-40B4-BE49-F238E27FC236}">
                <a16:creationId xmlns:a16="http://schemas.microsoft.com/office/drawing/2014/main" id="{8E9250B0-91C9-41C9-8A0B-5E86B2F770E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5639D1AC-436E-43DE-9A80-2FEF770A9FD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BAAC2B-799B-4640-AE09-29CB9713A4D6}"/>
              </a:ext>
            </a:extLst>
          </p:cNvPr>
          <p:cNvSpPr>
            <a:spLocks xmlns:a="http://schemas.openxmlformats.org/drawingml/2006/main" noGrp="1"/>
          </p:cNvSpPr>
          <p:nvPr/>
        </p:nvSpPr>
        <p:spPr>
          <a:xfrm xmlns:a="http://schemas.openxmlformats.org/drawingml/2006/main">
            <a:off x="857250" y="1714500"/>
            <a:ext cx="2476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9B079F-34E8-449C-BBCC-57A900FE58C1}"/>
              </a:ext>
            </a:extLst>
          </p:cNvPr>
          <p:cNvSpPr>
            <a:spLocks xmlns:a="http://schemas.openxmlformats.org/drawingml/2006/main" noGrp="1"/>
          </p:cNvSpPr>
          <p:nvPr/>
        </p:nvSpPr>
        <p:spPr>
          <a:xfrm xmlns:a="http://schemas.openxmlformats.org/drawingml/2006/main">
            <a:off x="857250" y="17145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29A3C4C-EED3-4744-9ED0-A8F49B2C07DC}"/>
              </a:ext>
            </a:extLst>
          </p:cNvPr>
          <p:cNvSpPr>
            <a:spLocks xmlns:a="http://schemas.openxmlformats.org/drawingml/2006/main" noGrp="1"/>
          </p:cNvSpPr>
          <p:nvPr/>
        </p:nvSpPr>
        <p:spPr>
          <a:xfrm xmlns:a="http://schemas.openxmlformats.org/drawingml/2006/main">
            <a:off x="1047750" y="18288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7" name="">
            <a:extLst xmlns:a="http://schemas.openxmlformats.org/drawingml/2006/main">
              <a:ext uri="{FF2B5EF4-FFF2-40B4-BE49-F238E27FC236}">
                <a16:creationId xmlns:a16="http://schemas.microsoft.com/office/drawing/2014/main" id="{D36011DD-387E-458A-87C7-F8736E74FFFE}"/>
              </a:ext>
            </a:extLst>
          </p:cNvPr>
          <p:cNvSpPr>
            <a:spLocks xmlns:a="http://schemas.openxmlformats.org/drawingml/2006/main" noGrp="1"/>
          </p:cNvSpPr>
          <p:nvPr/>
        </p:nvSpPr>
        <p:spPr>
          <a:xfrm xmlns:a="http://schemas.openxmlformats.org/drawingml/2006/main">
            <a:off x="1047750" y="220980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événement</a:t>
            </a:r>
          </a:p>
        </p:txBody>
      </p:sp>
      <p:sp>
        <p:nvSpPr>
          <p:cNvPr id="8" name="">
            <a:extLst xmlns:a="http://schemas.openxmlformats.org/drawingml/2006/main">
              <a:ext uri="{FF2B5EF4-FFF2-40B4-BE49-F238E27FC236}">
                <a16:creationId xmlns:a16="http://schemas.microsoft.com/office/drawing/2014/main" id="{EA773B96-E7F4-4091-ACB2-711898DD3099}"/>
              </a:ext>
            </a:extLst>
          </p:cNvPr>
          <p:cNvSpPr>
            <a:spLocks xmlns:a="http://schemas.openxmlformats.org/drawingml/2006/main" noGrp="1"/>
          </p:cNvSpPr>
          <p:nvPr/>
        </p:nvSpPr>
        <p:spPr>
          <a:xfrm xmlns:a="http://schemas.openxmlformats.org/drawingml/2006/main">
            <a:off x="3571875" y="1905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AF5B0C6-669A-454D-AB44-9A3DA488D9B8}"/>
              </a:ext>
            </a:extLst>
          </p:cNvPr>
          <p:cNvSpPr>
            <a:spLocks xmlns:a="http://schemas.openxmlformats.org/drawingml/2006/main" noGrp="1"/>
          </p:cNvSpPr>
          <p:nvPr/>
        </p:nvSpPr>
        <p:spPr>
          <a:xfrm xmlns:a="http://schemas.openxmlformats.org/drawingml/2006/main">
            <a:off x="4476750" y="17145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EA0324-D63E-41CE-BB1C-3414B4363AC2}"/>
              </a:ext>
            </a:extLst>
          </p:cNvPr>
          <p:cNvSpPr>
            <a:spLocks xmlns:a="http://schemas.openxmlformats.org/drawingml/2006/main" noGrp="1"/>
          </p:cNvSpPr>
          <p:nvPr/>
        </p:nvSpPr>
        <p:spPr>
          <a:xfrm xmlns:a="http://schemas.openxmlformats.org/drawingml/2006/main">
            <a:off x="4476750" y="17145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3C3AD7-B8E5-4BA0-988F-DA128F420BF7}"/>
              </a:ext>
            </a:extLst>
          </p:cNvPr>
          <p:cNvSpPr>
            <a:spLocks xmlns:a="http://schemas.openxmlformats.org/drawingml/2006/main" noGrp="1"/>
          </p:cNvSpPr>
          <p:nvPr/>
        </p:nvSpPr>
        <p:spPr>
          <a:xfrm xmlns:a="http://schemas.openxmlformats.org/drawingml/2006/main">
            <a:off x="4667250" y="18288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Storage</a:t>
            </a:r>
          </a:p>
        </p:txBody>
      </p:sp>
      <p:sp>
        <p:nvSpPr>
          <p:cNvPr id="12" name="">
            <a:extLst xmlns:a="http://schemas.openxmlformats.org/drawingml/2006/main">
              <a:ext uri="{FF2B5EF4-FFF2-40B4-BE49-F238E27FC236}">
                <a16:creationId xmlns:a16="http://schemas.microsoft.com/office/drawing/2014/main" id="{8CD5ADB9-1304-42D0-A0DC-1E00DE87EBDF}"/>
              </a:ext>
            </a:extLst>
          </p:cNvPr>
          <p:cNvSpPr>
            <a:spLocks xmlns:a="http://schemas.openxmlformats.org/drawingml/2006/main" noGrp="1"/>
          </p:cNvSpPr>
          <p:nvPr/>
        </p:nvSpPr>
        <p:spPr>
          <a:xfrm xmlns:a="http://schemas.openxmlformats.org/drawingml/2006/main">
            <a:off x="4667250" y="22098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transaction SQL</a:t>
            </a:r>
          </a:p>
        </p:txBody>
      </p:sp>
      <p:sp>
        <p:nvSpPr>
          <p:cNvPr id="13" name="">
            <a:extLst xmlns:a="http://schemas.openxmlformats.org/drawingml/2006/main">
              <a:ext uri="{FF2B5EF4-FFF2-40B4-BE49-F238E27FC236}">
                <a16:creationId xmlns:a16="http://schemas.microsoft.com/office/drawing/2014/main" id="{116F901C-1ACF-48E8-A149-683477E4C631}"/>
              </a:ext>
            </a:extLst>
          </p:cNvPr>
          <p:cNvSpPr>
            <a:spLocks xmlns:a="http://schemas.openxmlformats.org/drawingml/2006/main" noGrp="1"/>
          </p:cNvSpPr>
          <p:nvPr/>
        </p:nvSpPr>
        <p:spPr>
          <a:xfrm xmlns:a="http://schemas.openxmlformats.org/drawingml/2006/main">
            <a:off x="7572375" y="1905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73BBA2D-D3C8-48D5-9853-4BF665B80FA3}"/>
              </a:ext>
            </a:extLst>
          </p:cNvPr>
          <p:cNvSpPr>
            <a:spLocks xmlns:a="http://schemas.openxmlformats.org/drawingml/2006/main" noGrp="1"/>
          </p:cNvSpPr>
          <p:nvPr/>
        </p:nvSpPr>
        <p:spPr>
          <a:xfrm xmlns:a="http://schemas.openxmlformats.org/drawingml/2006/main">
            <a:off x="8477250" y="1714500"/>
            <a:ext cx="2762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1F7E3E-C00B-43FB-B6B0-F077DAFD0B3A}"/>
              </a:ext>
            </a:extLst>
          </p:cNvPr>
          <p:cNvSpPr>
            <a:spLocks xmlns:a="http://schemas.openxmlformats.org/drawingml/2006/main" noGrp="1"/>
          </p:cNvSpPr>
          <p:nvPr/>
        </p:nvSpPr>
        <p:spPr>
          <a:xfrm xmlns:a="http://schemas.openxmlformats.org/drawingml/2006/main">
            <a:off x="8477250" y="17145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867ECF-5638-4688-A535-202C11F9E416}"/>
              </a:ext>
            </a:extLst>
          </p:cNvPr>
          <p:cNvSpPr>
            <a:spLocks xmlns:a="http://schemas.openxmlformats.org/drawingml/2006/main" noGrp="1"/>
          </p:cNvSpPr>
          <p:nvPr/>
        </p:nvSpPr>
        <p:spPr>
          <a:xfrm xmlns:a="http://schemas.openxmlformats.org/drawingml/2006/main">
            <a:off x="8667750" y="182880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MySQL</a:t>
            </a:r>
          </a:p>
        </p:txBody>
      </p:sp>
      <p:sp>
        <p:nvSpPr>
          <p:cNvPr id="17" name="">
            <a:extLst xmlns:a="http://schemas.openxmlformats.org/drawingml/2006/main">
              <a:ext uri="{FF2B5EF4-FFF2-40B4-BE49-F238E27FC236}">
                <a16:creationId xmlns:a16="http://schemas.microsoft.com/office/drawing/2014/main" id="{E3E0F0D1-C37A-4209-9AE0-B4FDEF1CDDBF}"/>
              </a:ext>
            </a:extLst>
          </p:cNvPr>
          <p:cNvSpPr>
            <a:spLocks xmlns:a="http://schemas.openxmlformats.org/drawingml/2006/main" noGrp="1"/>
          </p:cNvSpPr>
          <p:nvPr/>
        </p:nvSpPr>
        <p:spPr>
          <a:xfrm xmlns:a="http://schemas.openxmlformats.org/drawingml/2006/main">
            <a:off x="8667750" y="22098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faits + agrégats</a:t>
            </a:r>
          </a:p>
        </p:txBody>
      </p:sp>
      <p:sp>
        <p:nvSpPr>
          <p:cNvPr id="18" name="">
            <a:extLst xmlns:a="http://schemas.openxmlformats.org/drawingml/2006/main">
              <a:ext uri="{FF2B5EF4-FFF2-40B4-BE49-F238E27FC236}">
                <a16:creationId xmlns:a16="http://schemas.microsoft.com/office/drawing/2014/main" id="{1E39FB07-2AE5-4474-B51E-E77B4EB9D58C}"/>
              </a:ext>
            </a:extLst>
          </p:cNvPr>
          <p:cNvSpPr>
            <a:spLocks xmlns:a="http://schemas.openxmlformats.org/drawingml/2006/main" noGrp="1"/>
          </p:cNvSpPr>
          <p:nvPr/>
        </p:nvSpPr>
        <p:spPr>
          <a:xfrm xmlns:a="http://schemas.openxmlformats.org/drawingml/2006/main">
            <a:off x="762000" y="3429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5CFB1A6E-77FB-4430-8EEF-38B16A875BAF}"/>
              </a:ext>
            </a:extLst>
          </p:cNvPr>
          <p:cNvSpPr>
            <a:spLocks xmlns:a="http://schemas.openxmlformats.org/drawingml/2006/main" noGrp="1"/>
          </p:cNvSpPr>
          <p:nvPr/>
        </p:nvSpPr>
        <p:spPr>
          <a:xfrm xmlns:a="http://schemas.openxmlformats.org/drawingml/2006/main">
            <a:off x="3429000" y="3600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F8C33FA-77F0-441A-9805-D7D3096D8B91}"/>
              </a:ext>
            </a:extLst>
          </p:cNvPr>
          <p:cNvSpPr>
            <a:spLocks xmlns:a="http://schemas.openxmlformats.org/drawingml/2006/main" noGrp="1"/>
          </p:cNvSpPr>
          <p:nvPr/>
        </p:nvSpPr>
        <p:spPr>
          <a:xfrm xmlns:a="http://schemas.openxmlformats.org/drawingml/2006/main">
            <a:off x="4381500" y="3409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Insertion de l’article</a:t>
            </a:r>
          </a:p>
        </p:txBody>
      </p:sp>
      <p:sp>
        <p:nvSpPr>
          <p:cNvPr id="21" name="">
            <a:extLst xmlns:a="http://schemas.openxmlformats.org/drawingml/2006/main">
              <a:ext uri="{FF2B5EF4-FFF2-40B4-BE49-F238E27FC236}">
                <a16:creationId xmlns:a16="http://schemas.microsoft.com/office/drawing/2014/main" id="{6739A75D-4834-4427-BD47-F6190C61A70B}"/>
              </a:ext>
            </a:extLst>
          </p:cNvPr>
          <p:cNvSpPr>
            <a:spLocks xmlns:a="http://schemas.openxmlformats.org/drawingml/2006/main" noGrp="1"/>
          </p:cNvSpPr>
          <p:nvPr/>
        </p:nvSpPr>
        <p:spPr>
          <a:xfrm xmlns:a="http://schemas.openxmlformats.org/drawingml/2006/main">
            <a:off x="762000" y="4238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D1F14D15-D9C5-4962-860D-864FB6CA44B1}"/>
              </a:ext>
            </a:extLst>
          </p:cNvPr>
          <p:cNvSpPr>
            <a:spLocks xmlns:a="http://schemas.openxmlformats.org/drawingml/2006/main" noGrp="1"/>
          </p:cNvSpPr>
          <p:nvPr/>
        </p:nvSpPr>
        <p:spPr>
          <a:xfrm xmlns:a="http://schemas.openxmlformats.org/drawingml/2006/main">
            <a:off x="3429000" y="4410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7B3FD6-9C5F-4C81-9309-0399B85DD51A}"/>
              </a:ext>
            </a:extLst>
          </p:cNvPr>
          <p:cNvSpPr>
            <a:spLocks xmlns:a="http://schemas.openxmlformats.org/drawingml/2006/main" noGrp="1"/>
          </p:cNvSpPr>
          <p:nvPr/>
        </p:nvSpPr>
        <p:spPr>
          <a:xfrm xmlns:a="http://schemas.openxmlformats.org/drawingml/2006/main">
            <a:off x="4381500" y="4219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Mise à jour des agrégats</a:t>
            </a:r>
          </a:p>
        </p:txBody>
      </p:sp>
      <p:sp>
        <p:nvSpPr>
          <p:cNvPr id="24" name="">
            <a:extLst xmlns:a="http://schemas.openxmlformats.org/drawingml/2006/main">
              <a:ext uri="{FF2B5EF4-FFF2-40B4-BE49-F238E27FC236}">
                <a16:creationId xmlns:a16="http://schemas.microsoft.com/office/drawing/2014/main" id="{AC47AC32-A147-4DDE-9BBD-D2FF1ABDAD86}"/>
              </a:ext>
            </a:extLst>
          </p:cNvPr>
          <p:cNvSpPr>
            <a:spLocks xmlns:a="http://schemas.openxmlformats.org/drawingml/2006/main" noGrp="1"/>
          </p:cNvSpPr>
          <p:nvPr/>
        </p:nvSpPr>
        <p:spPr>
          <a:xfrm xmlns:a="http://schemas.openxmlformats.org/drawingml/2006/main">
            <a:off x="762000" y="5048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139AC2BD-4355-47DA-B74E-37EB490778F9}"/>
              </a:ext>
            </a:extLst>
          </p:cNvPr>
          <p:cNvSpPr>
            <a:spLocks xmlns:a="http://schemas.openxmlformats.org/drawingml/2006/main" noGrp="1"/>
          </p:cNvSpPr>
          <p:nvPr/>
        </p:nvSpPr>
        <p:spPr>
          <a:xfrm xmlns:a="http://schemas.openxmlformats.org/drawingml/2006/main">
            <a:off x="3429000" y="5219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AE8864-9D85-4318-B1CE-B4A998DEE8E4}"/>
              </a:ext>
            </a:extLst>
          </p:cNvPr>
          <p:cNvSpPr>
            <a:spLocks xmlns:a="http://schemas.openxmlformats.org/drawingml/2006/main" noGrp="1"/>
          </p:cNvSpPr>
          <p:nvPr/>
        </p:nvSpPr>
        <p:spPr>
          <a:xfrm xmlns:a="http://schemas.openxmlformats.org/drawingml/2006/main">
            <a:off x="4381500" y="5029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Commit puis ACK</a:t>
            </a:r>
          </a:p>
        </p:txBody>
      </p:sp>
    </p:spTree>
    <p:extLst>
      <p:ext uri="{BB962C8B-B14F-4D97-AF65-F5344CB8AC3E}">
        <p14:creationId xmlns:p14="http://schemas.microsoft.com/office/powerpoint/2010/main" val="995282420"/>
      </p:ext>
    </p:extLst>
  </p:cSld>
</p:sld>
</file>

<file path=ppt/slides/slide1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D11AFDD-890C-4EEE-815F-0265706E9EA2}"/>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Agrégations horaires</a:t>
            </a:r>
          </a:p>
        </p:txBody>
      </p:sp>
      <p:sp>
        <p:nvSpPr>
          <p:cNvPr id="2" name="">
            <a:extLst xmlns:a="http://schemas.openxmlformats.org/drawingml/2006/main">
              <a:ext uri="{FF2B5EF4-FFF2-40B4-BE49-F238E27FC236}">
                <a16:creationId xmlns:a16="http://schemas.microsoft.com/office/drawing/2014/main" id="{157F8AF4-1AEC-45B1-A2ED-E01F8097EC0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AD6793A1-946A-4094-A222-A37CFA545B8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297F12-FDAA-4FE1-89BD-5DE1D9667277}"/>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NEWS_ARTICLES</a:t>
            </a:r>
          </a:p>
        </p:txBody>
      </p:sp>
      <p:sp>
        <p:nvSpPr>
          <p:cNvPr id="5" name="">
            <a:extLst xmlns:a="http://schemas.openxmlformats.org/drawingml/2006/main">
              <a:ext uri="{FF2B5EF4-FFF2-40B4-BE49-F238E27FC236}">
                <a16:creationId xmlns:a16="http://schemas.microsoft.com/office/drawing/2014/main" id="{5A701433-21A6-4746-BA51-85911C832FD0}"/>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A13B6A-97F3-44D7-AAB8-7BF2AD19979E}"/>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Détail des articles enrichis</a:t>
            </a:r>
          </a:p>
        </p:txBody>
      </p:sp>
      <p:sp>
        <p:nvSpPr>
          <p:cNvPr id="7" name="">
            <a:extLst xmlns:a="http://schemas.openxmlformats.org/drawingml/2006/main">
              <a:ext uri="{FF2B5EF4-FFF2-40B4-BE49-F238E27FC236}">
                <a16:creationId xmlns:a16="http://schemas.microsoft.com/office/drawing/2014/main" id="{6A4CAD86-E069-407D-B2D4-DA4D6B74CBB0}"/>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ANALYTICS_HOURLY</a:t>
            </a:r>
          </a:p>
        </p:txBody>
      </p:sp>
      <p:sp>
        <p:nvSpPr>
          <p:cNvPr id="8" name="">
            <a:extLst xmlns:a="http://schemas.openxmlformats.org/drawingml/2006/main">
              <a:ext uri="{FF2B5EF4-FFF2-40B4-BE49-F238E27FC236}">
                <a16:creationId xmlns:a16="http://schemas.microsoft.com/office/drawing/2014/main" id="{2AAA5F8B-E590-4EB6-B9AA-EF1DF7940640}"/>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DE1C5C-7DEB-46B6-A674-7F797C97AC5E}"/>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Volumes et sentiments par thème</a:t>
            </a:r>
          </a:p>
        </p:txBody>
      </p:sp>
      <p:sp>
        <p:nvSpPr>
          <p:cNvPr id="10" name="">
            <a:extLst xmlns:a="http://schemas.openxmlformats.org/drawingml/2006/main">
              <a:ext uri="{FF2B5EF4-FFF2-40B4-BE49-F238E27FC236}">
                <a16:creationId xmlns:a16="http://schemas.microsoft.com/office/drawing/2014/main" id="{583C76D0-4BC2-4A19-A7EA-C6891AD27D5D}"/>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PIPELINE_HOURLY</a:t>
            </a:r>
          </a:p>
        </p:txBody>
      </p:sp>
      <p:sp>
        <p:nvSpPr>
          <p:cNvPr id="11" name="">
            <a:extLst xmlns:a="http://schemas.openxmlformats.org/drawingml/2006/main">
              <a:ext uri="{FF2B5EF4-FFF2-40B4-BE49-F238E27FC236}">
                <a16:creationId xmlns:a16="http://schemas.microsoft.com/office/drawing/2014/main" id="{9114B655-555B-4FE2-BDDD-94689164ECC2}"/>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7F0C42-AC48-4A82-AEF0-D42E0E22B3C2}"/>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Débit et latence par source</a:t>
            </a:r>
          </a:p>
        </p:txBody>
      </p:sp>
      <p:sp>
        <p:nvSpPr>
          <p:cNvPr id="13" name="">
            <a:extLst xmlns:a="http://schemas.openxmlformats.org/drawingml/2006/main">
              <a:ext uri="{FF2B5EF4-FFF2-40B4-BE49-F238E27FC236}">
                <a16:creationId xmlns:a16="http://schemas.microsoft.com/office/drawing/2014/main" id="{DFA670E4-EC44-4576-A1EA-7C7204BC498C}"/>
              </a:ext>
            </a:extLst>
          </p:cNvPr>
          <p:cNvSpPr>
            <a:spLocks xmlns:a="http://schemas.openxmlformats.org/drawingml/2006/main" noGrp="1"/>
          </p:cNvSpPr>
          <p:nvPr/>
        </p:nvSpPr>
        <p:spPr>
          <a:xfrm xmlns:a="http://schemas.openxmlformats.org/drawingml/2006/main">
            <a:off x="1381125" y="5381625"/>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EEF6FF"/>
                </a:solidFill>
                <a:latin typeface="Arial"/>
                <a:ea typeface="Arial"/>
                <a:cs typeface="Arial"/>
              </a:defRPr>
            </a:pPr>
            <a:r>
              <a:rPr sz="1800" b="1">
                <a:solidFill>
                  <a:srgbClr val="EEF6FF"/>
                </a:solidFill>
                <a:latin typeface="Arial"/>
                <a:ea typeface="Arial"/>
                <a:cs typeface="Arial"/>
              </a:rPr>
              <a:t>Les tableaux de bord lisent des résultats déjà calculés</a:t>
            </a:r>
          </a:p>
        </p:txBody>
      </p:sp>
    </p:spTree>
    <p:extLst>
      <p:ext uri="{BB962C8B-B14F-4D97-AF65-F5344CB8AC3E}">
        <p14:creationId xmlns:p14="http://schemas.microsoft.com/office/powerpoint/2010/main" val="487693528"/>
      </p:ext>
    </p:extLst>
  </p:cSld>
</p:sld>
</file>

<file path=ppt/slides/slide1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895722-3CD5-4964-89A7-409C8B26DA0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Dashboard Grafana</a:t>
            </a:r>
          </a:p>
        </p:txBody>
      </p:sp>
      <p:sp>
        <p:nvSpPr>
          <p:cNvPr id="2" name="">
            <a:extLst xmlns:a="http://schemas.openxmlformats.org/drawingml/2006/main">
              <a:ext uri="{FF2B5EF4-FFF2-40B4-BE49-F238E27FC236}">
                <a16:creationId xmlns:a16="http://schemas.microsoft.com/office/drawing/2014/main" id="{2BCFA7D6-62B8-42FB-8B36-429421C6BF1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F394EEB4-266B-4049-AC17-1F981234582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C3FC03-7A2B-4BBD-A2E3-932853176F10}"/>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CONTENU</a:t>
            </a:r>
          </a:p>
        </p:txBody>
      </p:sp>
      <p:sp>
        <p:nvSpPr>
          <p:cNvPr id="5" name="">
            <a:extLst xmlns:a="http://schemas.openxmlformats.org/drawingml/2006/main">
              <a:ext uri="{FF2B5EF4-FFF2-40B4-BE49-F238E27FC236}">
                <a16:creationId xmlns:a16="http://schemas.microsoft.com/office/drawing/2014/main" id="{6C37DC53-15E8-4233-AB4F-79D311EE4BFD}"/>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577D82-B238-4FB5-9321-A8D64F1ED1A2}"/>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Volume, sentiment et derniers articles</a:t>
            </a:r>
          </a:p>
        </p:txBody>
      </p:sp>
      <p:sp>
        <p:nvSpPr>
          <p:cNvPr id="7" name="">
            <a:extLst xmlns:a="http://schemas.openxmlformats.org/drawingml/2006/main">
              <a:ext uri="{FF2B5EF4-FFF2-40B4-BE49-F238E27FC236}">
                <a16:creationId xmlns:a16="http://schemas.microsoft.com/office/drawing/2014/main" id="{E9C356CF-AB64-40C5-A7E9-7CC777D7ED63}"/>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TEMPS</a:t>
            </a:r>
          </a:p>
        </p:txBody>
      </p:sp>
      <p:sp>
        <p:nvSpPr>
          <p:cNvPr id="8" name="">
            <a:extLst xmlns:a="http://schemas.openxmlformats.org/drawingml/2006/main">
              <a:ext uri="{FF2B5EF4-FFF2-40B4-BE49-F238E27FC236}">
                <a16:creationId xmlns:a16="http://schemas.microsoft.com/office/drawing/2014/main" id="{F9EA6E18-BDB7-4044-BC5E-46A0C7FACBEF}"/>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47782E-A701-4DF2-904C-4E10B949DBDD}"/>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Filtre temporel et rafraîchissement 30 s</a:t>
            </a:r>
          </a:p>
        </p:txBody>
      </p:sp>
      <p:sp>
        <p:nvSpPr>
          <p:cNvPr id="10" name="">
            <a:extLst xmlns:a="http://schemas.openxmlformats.org/drawingml/2006/main">
              <a:ext uri="{FF2B5EF4-FFF2-40B4-BE49-F238E27FC236}">
                <a16:creationId xmlns:a16="http://schemas.microsoft.com/office/drawing/2014/main" id="{E57EA270-3FF1-49B8-AEBF-08CC40D3AAC6}"/>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PIPELINE</a:t>
            </a:r>
          </a:p>
        </p:txBody>
      </p:sp>
      <p:sp>
        <p:nvSpPr>
          <p:cNvPr id="11" name="">
            <a:extLst xmlns:a="http://schemas.openxmlformats.org/drawingml/2006/main">
              <a:ext uri="{FF2B5EF4-FFF2-40B4-BE49-F238E27FC236}">
                <a16:creationId xmlns:a16="http://schemas.microsoft.com/office/drawing/2014/main" id="{1EE0FF2D-E520-485E-A3AA-2E0915E40C13}"/>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B1B240-A542-4127-8B3E-45B241875794}"/>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Throughput et latence par source</a:t>
            </a:r>
          </a:p>
        </p:txBody>
      </p:sp>
      <p:sp>
        <p:nvSpPr>
          <p:cNvPr id="13" name="">
            <a:extLst xmlns:a="http://schemas.openxmlformats.org/drawingml/2006/main">
              <a:ext uri="{FF2B5EF4-FFF2-40B4-BE49-F238E27FC236}">
                <a16:creationId xmlns:a16="http://schemas.microsoft.com/office/drawing/2014/main" id="{CCD8E5BC-681C-4712-851D-3FEC3B995946}"/>
              </a:ext>
            </a:extLst>
          </p:cNvPr>
          <p:cNvSpPr>
            <a:spLocks xmlns:a="http://schemas.openxmlformats.org/drawingml/2006/main" noGrp="1"/>
          </p:cNvSpPr>
          <p:nvPr/>
        </p:nvSpPr>
        <p:spPr>
          <a:xfrm xmlns:a="http://schemas.openxmlformats.org/drawingml/2006/main">
            <a:off x="1524000" y="495300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950" b="1">
                <a:solidFill>
                  <a:srgbClr val="EEF6FF"/>
                </a:solidFill>
                <a:latin typeface="Arial"/>
                <a:ea typeface="Arial"/>
                <a:cs typeface="Arial"/>
              </a:defRPr>
            </a:pPr>
            <a:r>
              <a:rPr sz="1950" b="1">
                <a:solidFill>
                  <a:srgbClr val="EEF6FF"/>
                </a:solidFill>
                <a:latin typeface="Arial"/>
                <a:ea typeface="Arial"/>
                <a:cs typeface="Arial"/>
              </a:rPr>
              <a:t>Le dashboard et la datasource sont versionnés dans Git</a:t>
            </a:r>
          </a:p>
        </p:txBody>
      </p:sp>
    </p:spTree>
    <p:extLst>
      <p:ext uri="{BB962C8B-B14F-4D97-AF65-F5344CB8AC3E}">
        <p14:creationId xmlns:p14="http://schemas.microsoft.com/office/powerpoint/2010/main" val="422948478"/>
      </p:ext>
    </p:extLst>
  </p:cSld>
</p:sld>
</file>

<file path=ppt/slides/slide16.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90D704-8293-4859-8A80-DCFFCB3F75C4}"/>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Parcours de bout en bout</a:t>
            </a:r>
          </a:p>
        </p:txBody>
      </p:sp>
      <p:sp>
        <p:nvSpPr>
          <p:cNvPr id="2" name="">
            <a:extLst xmlns:a="http://schemas.openxmlformats.org/drawingml/2006/main">
              <a:ext uri="{FF2B5EF4-FFF2-40B4-BE49-F238E27FC236}">
                <a16:creationId xmlns:a16="http://schemas.microsoft.com/office/drawing/2014/main" id="{0DF17E76-CB6F-4B82-8E44-3388C17766A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C08F5C0-38FB-481A-9023-7DB213A223D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3122B9-688F-4057-ABF7-5333B7C4FC03}"/>
              </a:ext>
            </a:extLst>
          </p:cNvPr>
          <p:cNvSpPr>
            <a:spLocks xmlns:a="http://schemas.openxmlformats.org/drawingml/2006/main" noGrp="1"/>
          </p:cNvSpPr>
          <p:nvPr/>
        </p:nvSpPr>
        <p:spPr>
          <a:xfrm xmlns:a="http://schemas.openxmlformats.org/drawingml/2006/main">
            <a:off x="619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2ED3C6"/>
                </a:solidFill>
                <a:latin typeface="Arial"/>
                <a:ea typeface="Arial"/>
                <a:cs typeface="Arial"/>
              </a:defRPr>
            </a:pPr>
            <a:r>
              <a:rPr sz="1875" b="1">
                <a:solidFill>
                  <a:srgbClr val="2ED3C6"/>
                </a:solidFill>
                <a:latin typeface="Arial"/>
                <a:ea typeface="Arial"/>
                <a:cs typeface="Arial"/>
              </a:rPr>
              <a:t>T0</a:t>
            </a:r>
          </a:p>
        </p:txBody>
      </p:sp>
      <p:sp>
        <p:nvSpPr>
          <p:cNvPr id="5" name="">
            <a:extLst xmlns:a="http://schemas.openxmlformats.org/drawingml/2006/main">
              <a:ext uri="{FF2B5EF4-FFF2-40B4-BE49-F238E27FC236}">
                <a16:creationId xmlns:a16="http://schemas.microsoft.com/office/drawing/2014/main" id="{72FA8613-83E7-4DC0-8C57-80E20C6BB5F3}"/>
              </a:ext>
            </a:extLst>
          </p:cNvPr>
          <p:cNvSpPr>
            <a:spLocks xmlns:a="http://schemas.openxmlformats.org/drawingml/2006/main" noGrp="1"/>
          </p:cNvSpPr>
          <p:nvPr/>
        </p:nvSpPr>
        <p:spPr>
          <a:xfrm xmlns:a="http://schemas.openxmlformats.org/drawingml/2006/main">
            <a:off x="619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DC3AF1-6715-4CEA-BA1E-58829FBC892F}"/>
              </a:ext>
            </a:extLst>
          </p:cNvPr>
          <p:cNvSpPr>
            <a:spLocks xmlns:a="http://schemas.openxmlformats.org/drawingml/2006/main" noGrp="1"/>
          </p:cNvSpPr>
          <p:nvPr/>
        </p:nvSpPr>
        <p:spPr>
          <a:xfrm xmlns:a="http://schemas.openxmlformats.org/drawingml/2006/main">
            <a:off x="762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EEF6FF"/>
                </a:solidFill>
                <a:latin typeface="Arial"/>
                <a:ea typeface="Arial"/>
                <a:cs typeface="Arial"/>
              </a:defRPr>
            </a:pPr>
            <a:r>
              <a:rPr sz="1650" b="1">
                <a:solidFill>
                  <a:srgbClr val="EEF6FF"/>
                </a:solidFill>
                <a:latin typeface="Arial"/>
                <a:ea typeface="Arial"/>
                <a:cs typeface="Arial"/>
              </a:rPr>
              <a:t>Publié</a:t>
            </a:r>
          </a:p>
        </p:txBody>
      </p:sp>
      <p:sp>
        <p:nvSpPr>
          <p:cNvPr id="7" name="">
            <a:extLst xmlns:a="http://schemas.openxmlformats.org/drawingml/2006/main">
              <a:ext uri="{FF2B5EF4-FFF2-40B4-BE49-F238E27FC236}">
                <a16:creationId xmlns:a16="http://schemas.microsoft.com/office/drawing/2014/main" id="{E66568E9-20E3-4376-8E42-0E7F4EB16C89}"/>
              </a:ext>
            </a:extLst>
          </p:cNvPr>
          <p:cNvSpPr>
            <a:spLocks xmlns:a="http://schemas.openxmlformats.org/drawingml/2006/main" noGrp="1"/>
          </p:cNvSpPr>
          <p:nvPr/>
        </p:nvSpPr>
        <p:spPr>
          <a:xfrm xmlns:a="http://schemas.openxmlformats.org/drawingml/2006/main">
            <a:off x="2428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2B6EBFF-CB33-4C52-8668-CE333E6A710E}"/>
              </a:ext>
            </a:extLst>
          </p:cNvPr>
          <p:cNvSpPr>
            <a:spLocks xmlns:a="http://schemas.openxmlformats.org/drawingml/2006/main" noGrp="1"/>
          </p:cNvSpPr>
          <p:nvPr/>
        </p:nvSpPr>
        <p:spPr>
          <a:xfrm xmlns:a="http://schemas.openxmlformats.org/drawingml/2006/main">
            <a:off x="2905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FFB454"/>
                </a:solidFill>
                <a:latin typeface="Arial"/>
                <a:ea typeface="Arial"/>
                <a:cs typeface="Arial"/>
              </a:defRPr>
            </a:pPr>
            <a:r>
              <a:rPr sz="1875" b="1">
                <a:solidFill>
                  <a:srgbClr val="FFB454"/>
                </a:solidFill>
                <a:latin typeface="Arial"/>
                <a:ea typeface="Arial"/>
                <a:cs typeface="Arial"/>
              </a:rPr>
              <a:t>T1</a:t>
            </a:r>
          </a:p>
        </p:txBody>
      </p:sp>
      <p:sp>
        <p:nvSpPr>
          <p:cNvPr id="9" name="">
            <a:extLst xmlns:a="http://schemas.openxmlformats.org/drawingml/2006/main">
              <a:ext uri="{FF2B5EF4-FFF2-40B4-BE49-F238E27FC236}">
                <a16:creationId xmlns:a16="http://schemas.microsoft.com/office/drawing/2014/main" id="{92FEE830-26EA-4941-AEDC-32E87F5533A0}"/>
              </a:ext>
            </a:extLst>
          </p:cNvPr>
          <p:cNvSpPr>
            <a:spLocks xmlns:a="http://schemas.openxmlformats.org/drawingml/2006/main" noGrp="1"/>
          </p:cNvSpPr>
          <p:nvPr/>
        </p:nvSpPr>
        <p:spPr>
          <a:xfrm xmlns:a="http://schemas.openxmlformats.org/drawingml/2006/main">
            <a:off x="2905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912CCA-F506-47D6-8BF8-BD6AF3C28F34}"/>
              </a:ext>
            </a:extLst>
          </p:cNvPr>
          <p:cNvSpPr>
            <a:spLocks xmlns:a="http://schemas.openxmlformats.org/drawingml/2006/main" noGrp="1"/>
          </p:cNvSpPr>
          <p:nvPr/>
        </p:nvSpPr>
        <p:spPr>
          <a:xfrm xmlns:a="http://schemas.openxmlformats.org/drawingml/2006/main">
            <a:off x="3048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EEF6FF"/>
                </a:solidFill>
                <a:latin typeface="Arial"/>
                <a:ea typeface="Arial"/>
                <a:cs typeface="Arial"/>
              </a:defRPr>
            </a:pPr>
            <a:r>
              <a:rPr sz="1650" b="1">
                <a:solidFill>
                  <a:srgbClr val="EEF6FF"/>
                </a:solidFill>
                <a:latin typeface="Arial"/>
                <a:ea typeface="Arial"/>
                <a:cs typeface="Arial"/>
              </a:rPr>
              <a:t>Collecté</a:t>
            </a:r>
          </a:p>
        </p:txBody>
      </p:sp>
      <p:sp>
        <p:nvSpPr>
          <p:cNvPr id="11" name="">
            <a:extLst xmlns:a="http://schemas.openxmlformats.org/drawingml/2006/main">
              <a:ext uri="{FF2B5EF4-FFF2-40B4-BE49-F238E27FC236}">
                <a16:creationId xmlns:a16="http://schemas.microsoft.com/office/drawing/2014/main" id="{2CE14E3E-0C79-4849-8296-B77E6E1FE47E}"/>
              </a:ext>
            </a:extLst>
          </p:cNvPr>
          <p:cNvSpPr>
            <a:spLocks xmlns:a="http://schemas.openxmlformats.org/drawingml/2006/main" noGrp="1"/>
          </p:cNvSpPr>
          <p:nvPr/>
        </p:nvSpPr>
        <p:spPr>
          <a:xfrm xmlns:a="http://schemas.openxmlformats.org/drawingml/2006/main">
            <a:off x="4714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C761873-EBE3-414F-8682-C8BDDA3FC3C9}"/>
              </a:ext>
            </a:extLst>
          </p:cNvPr>
          <p:cNvSpPr>
            <a:spLocks xmlns:a="http://schemas.openxmlformats.org/drawingml/2006/main" noGrp="1"/>
          </p:cNvSpPr>
          <p:nvPr/>
        </p:nvSpPr>
        <p:spPr>
          <a:xfrm xmlns:a="http://schemas.openxmlformats.org/drawingml/2006/main">
            <a:off x="5191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2ED3C6"/>
                </a:solidFill>
                <a:latin typeface="Arial"/>
                <a:ea typeface="Arial"/>
                <a:cs typeface="Arial"/>
              </a:defRPr>
            </a:pPr>
            <a:r>
              <a:rPr sz="1875" b="1">
                <a:solidFill>
                  <a:srgbClr val="2ED3C6"/>
                </a:solidFill>
                <a:latin typeface="Arial"/>
                <a:ea typeface="Arial"/>
                <a:cs typeface="Arial"/>
              </a:rPr>
              <a:t>T2</a:t>
            </a:r>
          </a:p>
        </p:txBody>
      </p:sp>
      <p:sp>
        <p:nvSpPr>
          <p:cNvPr id="13" name="">
            <a:extLst xmlns:a="http://schemas.openxmlformats.org/drawingml/2006/main">
              <a:ext uri="{FF2B5EF4-FFF2-40B4-BE49-F238E27FC236}">
                <a16:creationId xmlns:a16="http://schemas.microsoft.com/office/drawing/2014/main" id="{DC8CE234-3953-4F42-86F2-C2E5B24E4A31}"/>
              </a:ext>
            </a:extLst>
          </p:cNvPr>
          <p:cNvSpPr>
            <a:spLocks xmlns:a="http://schemas.openxmlformats.org/drawingml/2006/main" noGrp="1"/>
          </p:cNvSpPr>
          <p:nvPr/>
        </p:nvSpPr>
        <p:spPr>
          <a:xfrm xmlns:a="http://schemas.openxmlformats.org/drawingml/2006/main">
            <a:off x="5191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FEA300-2DBA-4B19-84B7-2BE62566A3FF}"/>
              </a:ext>
            </a:extLst>
          </p:cNvPr>
          <p:cNvSpPr>
            <a:spLocks xmlns:a="http://schemas.openxmlformats.org/drawingml/2006/main" noGrp="1"/>
          </p:cNvSpPr>
          <p:nvPr/>
        </p:nvSpPr>
        <p:spPr>
          <a:xfrm xmlns:a="http://schemas.openxmlformats.org/drawingml/2006/main">
            <a:off x="5334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EEF6FF"/>
                </a:solidFill>
                <a:latin typeface="Arial"/>
                <a:ea typeface="Arial"/>
                <a:cs typeface="Arial"/>
              </a:defRPr>
            </a:pPr>
            <a:r>
              <a:rPr sz="1650" b="1">
                <a:solidFill>
                  <a:srgbClr val="EEF6FF"/>
                </a:solidFill>
                <a:latin typeface="Arial"/>
                <a:ea typeface="Arial"/>
                <a:cs typeface="Arial"/>
              </a:rPr>
              <a:t>Enrichi</a:t>
            </a:r>
          </a:p>
        </p:txBody>
      </p:sp>
      <p:sp>
        <p:nvSpPr>
          <p:cNvPr id="15" name="">
            <a:extLst xmlns:a="http://schemas.openxmlformats.org/drawingml/2006/main">
              <a:ext uri="{FF2B5EF4-FFF2-40B4-BE49-F238E27FC236}">
                <a16:creationId xmlns:a16="http://schemas.microsoft.com/office/drawing/2014/main" id="{7C803EAC-1259-4E97-83AF-87C407B1B791}"/>
              </a:ext>
            </a:extLst>
          </p:cNvPr>
          <p:cNvSpPr>
            <a:spLocks xmlns:a="http://schemas.openxmlformats.org/drawingml/2006/main" noGrp="1"/>
          </p:cNvSpPr>
          <p:nvPr/>
        </p:nvSpPr>
        <p:spPr>
          <a:xfrm xmlns:a="http://schemas.openxmlformats.org/drawingml/2006/main">
            <a:off x="7000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9688932D-0D83-4951-B71D-78AFF46684FC}"/>
              </a:ext>
            </a:extLst>
          </p:cNvPr>
          <p:cNvSpPr>
            <a:spLocks xmlns:a="http://schemas.openxmlformats.org/drawingml/2006/main" noGrp="1"/>
          </p:cNvSpPr>
          <p:nvPr/>
        </p:nvSpPr>
        <p:spPr>
          <a:xfrm xmlns:a="http://schemas.openxmlformats.org/drawingml/2006/main">
            <a:off x="7477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FFB454"/>
                </a:solidFill>
                <a:latin typeface="Arial"/>
                <a:ea typeface="Arial"/>
                <a:cs typeface="Arial"/>
              </a:defRPr>
            </a:pPr>
            <a:r>
              <a:rPr sz="1875" b="1">
                <a:solidFill>
                  <a:srgbClr val="FFB454"/>
                </a:solidFill>
                <a:latin typeface="Arial"/>
                <a:ea typeface="Arial"/>
                <a:cs typeface="Arial"/>
              </a:rPr>
              <a:t>T3</a:t>
            </a:r>
          </a:p>
        </p:txBody>
      </p:sp>
      <p:sp>
        <p:nvSpPr>
          <p:cNvPr id="17" name="">
            <a:extLst xmlns:a="http://schemas.openxmlformats.org/drawingml/2006/main">
              <a:ext uri="{FF2B5EF4-FFF2-40B4-BE49-F238E27FC236}">
                <a16:creationId xmlns:a16="http://schemas.microsoft.com/office/drawing/2014/main" id="{BEE317E3-593A-48F5-A359-D3FBBEBED921}"/>
              </a:ext>
            </a:extLst>
          </p:cNvPr>
          <p:cNvSpPr>
            <a:spLocks xmlns:a="http://schemas.openxmlformats.org/drawingml/2006/main" noGrp="1"/>
          </p:cNvSpPr>
          <p:nvPr/>
        </p:nvSpPr>
        <p:spPr>
          <a:xfrm xmlns:a="http://schemas.openxmlformats.org/drawingml/2006/main">
            <a:off x="7477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5624F9-810E-4182-885E-C1997AB9A116}"/>
              </a:ext>
            </a:extLst>
          </p:cNvPr>
          <p:cNvSpPr>
            <a:spLocks xmlns:a="http://schemas.openxmlformats.org/drawingml/2006/main" noGrp="1"/>
          </p:cNvSpPr>
          <p:nvPr/>
        </p:nvSpPr>
        <p:spPr>
          <a:xfrm xmlns:a="http://schemas.openxmlformats.org/drawingml/2006/main">
            <a:off x="7620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EEF6FF"/>
                </a:solidFill>
                <a:latin typeface="Arial"/>
                <a:ea typeface="Arial"/>
                <a:cs typeface="Arial"/>
              </a:defRPr>
            </a:pPr>
            <a:r>
              <a:rPr sz="1650" b="1">
                <a:solidFill>
                  <a:srgbClr val="EEF6FF"/>
                </a:solidFill>
                <a:latin typeface="Arial"/>
                <a:ea typeface="Arial"/>
                <a:cs typeface="Arial"/>
              </a:rPr>
              <a:t>Stocké</a:t>
            </a:r>
          </a:p>
        </p:txBody>
      </p:sp>
      <p:sp>
        <p:nvSpPr>
          <p:cNvPr id="19" name="">
            <a:extLst xmlns:a="http://schemas.openxmlformats.org/drawingml/2006/main">
              <a:ext uri="{FF2B5EF4-FFF2-40B4-BE49-F238E27FC236}">
                <a16:creationId xmlns:a16="http://schemas.microsoft.com/office/drawing/2014/main" id="{27003B54-C7F8-4D31-B64F-82E01B00CA88}"/>
              </a:ext>
            </a:extLst>
          </p:cNvPr>
          <p:cNvSpPr>
            <a:spLocks xmlns:a="http://schemas.openxmlformats.org/drawingml/2006/main" noGrp="1"/>
          </p:cNvSpPr>
          <p:nvPr/>
        </p:nvSpPr>
        <p:spPr>
          <a:xfrm xmlns:a="http://schemas.openxmlformats.org/drawingml/2006/main">
            <a:off x="9286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2F142F0F-2D66-4662-BACB-8C245C06CDDA}"/>
              </a:ext>
            </a:extLst>
          </p:cNvPr>
          <p:cNvSpPr>
            <a:spLocks xmlns:a="http://schemas.openxmlformats.org/drawingml/2006/main" noGrp="1"/>
          </p:cNvSpPr>
          <p:nvPr/>
        </p:nvSpPr>
        <p:spPr>
          <a:xfrm xmlns:a="http://schemas.openxmlformats.org/drawingml/2006/main">
            <a:off x="9763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2ED3C6"/>
                </a:solidFill>
                <a:latin typeface="Arial"/>
                <a:ea typeface="Arial"/>
                <a:cs typeface="Arial"/>
              </a:defRPr>
            </a:pPr>
            <a:r>
              <a:rPr sz="1875" b="1">
                <a:solidFill>
                  <a:srgbClr val="2ED3C6"/>
                </a:solidFill>
                <a:latin typeface="Arial"/>
                <a:ea typeface="Arial"/>
                <a:cs typeface="Arial"/>
              </a:rPr>
              <a:t>T4</a:t>
            </a:r>
          </a:p>
        </p:txBody>
      </p:sp>
      <p:sp>
        <p:nvSpPr>
          <p:cNvPr id="21" name="">
            <a:extLst xmlns:a="http://schemas.openxmlformats.org/drawingml/2006/main">
              <a:ext uri="{FF2B5EF4-FFF2-40B4-BE49-F238E27FC236}">
                <a16:creationId xmlns:a16="http://schemas.microsoft.com/office/drawing/2014/main" id="{921BFE5B-4570-48C4-8319-B4E52D6C07D5}"/>
              </a:ext>
            </a:extLst>
          </p:cNvPr>
          <p:cNvSpPr>
            <a:spLocks xmlns:a="http://schemas.openxmlformats.org/drawingml/2006/main" noGrp="1"/>
          </p:cNvSpPr>
          <p:nvPr/>
        </p:nvSpPr>
        <p:spPr>
          <a:xfrm xmlns:a="http://schemas.openxmlformats.org/drawingml/2006/main">
            <a:off x="9763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C3BAAD-064F-48CD-AF87-44B08700C024}"/>
              </a:ext>
            </a:extLst>
          </p:cNvPr>
          <p:cNvSpPr>
            <a:spLocks xmlns:a="http://schemas.openxmlformats.org/drawingml/2006/main" noGrp="1"/>
          </p:cNvSpPr>
          <p:nvPr/>
        </p:nvSpPr>
        <p:spPr>
          <a:xfrm xmlns:a="http://schemas.openxmlformats.org/drawingml/2006/main">
            <a:off x="9906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EEF6FF"/>
                </a:solidFill>
                <a:latin typeface="Arial"/>
                <a:ea typeface="Arial"/>
                <a:cs typeface="Arial"/>
              </a:defRPr>
            </a:pPr>
            <a:r>
              <a:rPr sz="1650" b="1">
                <a:solidFill>
                  <a:srgbClr val="EEF6FF"/>
                </a:solidFill>
                <a:latin typeface="Arial"/>
                <a:ea typeface="Arial"/>
                <a:cs typeface="Arial"/>
              </a:rPr>
              <a:t>Visible</a:t>
            </a:r>
          </a:p>
        </p:txBody>
      </p:sp>
      <p:sp>
        <p:nvSpPr>
          <p:cNvPr id="23" name="">
            <a:extLst xmlns:a="http://schemas.openxmlformats.org/drawingml/2006/main">
              <a:ext uri="{FF2B5EF4-FFF2-40B4-BE49-F238E27FC236}">
                <a16:creationId xmlns:a16="http://schemas.microsoft.com/office/drawing/2014/main" id="{1CDF53B1-7D58-43D3-8FD3-FABC50B307EA}"/>
              </a:ext>
            </a:extLst>
          </p:cNvPr>
          <p:cNvSpPr>
            <a:spLocks xmlns:a="http://schemas.openxmlformats.org/drawingml/2006/main" noGrp="1"/>
          </p:cNvSpPr>
          <p:nvPr/>
        </p:nvSpPr>
        <p:spPr>
          <a:xfrm xmlns:a="http://schemas.openxmlformats.org/drawingml/2006/main">
            <a:off x="1714500" y="4238625"/>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025" b="1">
                <a:solidFill>
                  <a:srgbClr val="438BFF"/>
                </a:solidFill>
                <a:latin typeface="Arial"/>
                <a:ea typeface="Arial"/>
                <a:cs typeface="Arial"/>
              </a:defRPr>
            </a:pPr>
            <a:r>
              <a:rPr sz="2025" b="1">
                <a:solidFill>
                  <a:srgbClr val="438BFF"/>
                </a:solidFill>
                <a:latin typeface="Arial"/>
                <a:ea typeface="Arial"/>
                <a:cs typeface="Arial"/>
              </a:rPr>
              <a:t>Latence mesurée : collected_at → écriture Storage</a:t>
            </a:r>
          </a:p>
        </p:txBody>
      </p:sp>
      <p:sp>
        <p:nvSpPr>
          <p:cNvPr id="24" name="">
            <a:extLst xmlns:a="http://schemas.openxmlformats.org/drawingml/2006/main">
              <a:ext uri="{FF2B5EF4-FFF2-40B4-BE49-F238E27FC236}">
                <a16:creationId xmlns:a16="http://schemas.microsoft.com/office/drawing/2014/main" id="{1597821A-D3F8-45B5-8337-56B882335F7A}"/>
              </a:ext>
            </a:extLst>
          </p:cNvPr>
          <p:cNvSpPr>
            <a:spLocks xmlns:a="http://schemas.openxmlformats.org/drawingml/2006/main" noGrp="1"/>
          </p:cNvSpPr>
          <p:nvPr/>
        </p:nvSpPr>
        <p:spPr>
          <a:xfrm xmlns:a="http://schemas.openxmlformats.org/drawingml/2006/main">
            <a:off x="1809750" y="4905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9CB1C5"/>
                </a:solidFill>
                <a:latin typeface="Arial"/>
                <a:ea typeface="Arial"/>
                <a:cs typeface="Arial"/>
              </a:defRPr>
            </a:pPr>
            <a:r>
              <a:rPr sz="1575" b="1">
                <a:solidFill>
                  <a:srgbClr val="9CB1C5"/>
                </a:solidFill>
                <a:latin typeface="Arial"/>
                <a:ea typeface="Arial"/>
                <a:cs typeface="Arial"/>
              </a:rPr>
              <a:t>Le délai de publication chez l’éditeur reste hors mesure</a:t>
            </a:r>
          </a:p>
        </p:txBody>
      </p:sp>
    </p:spTree>
    <p:extLst>
      <p:ext uri="{BB962C8B-B14F-4D97-AF65-F5344CB8AC3E}">
        <p14:creationId xmlns:p14="http://schemas.microsoft.com/office/powerpoint/2010/main" val="230391954"/>
      </p:ext>
    </p:extLst>
  </p:cSld>
</p:sld>
</file>

<file path=ppt/slides/slide17.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9E4553B-862B-4F23-AAE5-473300712A2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Sémantique de livraison</a:t>
            </a:r>
          </a:p>
        </p:txBody>
      </p:sp>
      <p:sp>
        <p:nvSpPr>
          <p:cNvPr id="2" name="">
            <a:extLst xmlns:a="http://schemas.openxmlformats.org/drawingml/2006/main">
              <a:ext uri="{FF2B5EF4-FFF2-40B4-BE49-F238E27FC236}">
                <a16:creationId xmlns:a16="http://schemas.microsoft.com/office/drawing/2014/main" id="{7EB403EF-A723-4D25-A571-EC36EEEB9DA5}"/>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3E449F2-25F5-4375-B58D-E708A02E28D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D6B48A-8EA4-46A3-BF9C-A9C9C94C86FB}"/>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SUCCÈS</a:t>
            </a:r>
          </a:p>
        </p:txBody>
      </p:sp>
      <p:sp>
        <p:nvSpPr>
          <p:cNvPr id="5" name="">
            <a:extLst xmlns:a="http://schemas.openxmlformats.org/drawingml/2006/main">
              <a:ext uri="{FF2B5EF4-FFF2-40B4-BE49-F238E27FC236}">
                <a16:creationId xmlns:a16="http://schemas.microsoft.com/office/drawing/2014/main" id="{513D4FAE-43A0-4EEA-90AA-1636F9C8989A}"/>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16328D-C38C-4A39-9DE6-DBCA0C5304B5}"/>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Traitement terminé</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ACK envoyé</a:t>
            </a:r>
          </a:p>
        </p:txBody>
      </p:sp>
      <p:sp>
        <p:nvSpPr>
          <p:cNvPr id="7" name="">
            <a:extLst xmlns:a="http://schemas.openxmlformats.org/drawingml/2006/main">
              <a:ext uri="{FF2B5EF4-FFF2-40B4-BE49-F238E27FC236}">
                <a16:creationId xmlns:a16="http://schemas.microsoft.com/office/drawing/2014/main" id="{65A31C45-DD97-43D1-BD25-F4F5277EDC4D}"/>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ERREUR TRANSITOIRE</a:t>
            </a:r>
          </a:p>
        </p:txBody>
      </p:sp>
      <p:sp>
        <p:nvSpPr>
          <p:cNvPr id="8" name="">
            <a:extLst xmlns:a="http://schemas.openxmlformats.org/drawingml/2006/main">
              <a:ext uri="{FF2B5EF4-FFF2-40B4-BE49-F238E27FC236}">
                <a16:creationId xmlns:a16="http://schemas.microsoft.com/office/drawing/2014/main" id="{6F172718-8EEC-4F4F-A0D3-3537A20F815C}"/>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8D4BA3-A213-43C9-AB6D-35915D3779F8}"/>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NACK avec requeue</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Nouvelle tentative</a:t>
            </a:r>
          </a:p>
        </p:txBody>
      </p:sp>
      <p:sp>
        <p:nvSpPr>
          <p:cNvPr id="10" name="">
            <a:extLst xmlns:a="http://schemas.openxmlformats.org/drawingml/2006/main">
              <a:ext uri="{FF2B5EF4-FFF2-40B4-BE49-F238E27FC236}">
                <a16:creationId xmlns:a16="http://schemas.microsoft.com/office/drawing/2014/main" id="{8307F438-8743-4B1C-9D1A-9197885CE32E}"/>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6B75"/>
                </a:solidFill>
                <a:latin typeface="Arial"/>
                <a:ea typeface="Arial"/>
                <a:cs typeface="Arial"/>
              </a:defRPr>
            </a:pPr>
            <a:r>
              <a:rPr sz="1125" b="1">
                <a:solidFill>
                  <a:srgbClr val="FF6B75"/>
                </a:solidFill>
                <a:latin typeface="Arial"/>
                <a:ea typeface="Arial"/>
                <a:cs typeface="Arial"/>
              </a:rPr>
              <a:t>MESSAGE INVALIDE</a:t>
            </a:r>
          </a:p>
        </p:txBody>
      </p:sp>
      <p:sp>
        <p:nvSpPr>
          <p:cNvPr id="11" name="">
            <a:extLst xmlns:a="http://schemas.openxmlformats.org/drawingml/2006/main">
              <a:ext uri="{FF2B5EF4-FFF2-40B4-BE49-F238E27FC236}">
                <a16:creationId xmlns:a16="http://schemas.microsoft.com/office/drawing/2014/main" id="{DD5E615F-8278-4BCF-ABA8-EC92D807F77D}"/>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F9D41D-537A-467B-A9C0-2DA7ACEF7D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Reject sans requeue</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Envoi vers la DLQ</a:t>
            </a:r>
          </a:p>
        </p:txBody>
      </p:sp>
      <p:sp>
        <p:nvSpPr>
          <p:cNvPr id="13" name="">
            <a:extLst xmlns:a="http://schemas.openxmlformats.org/drawingml/2006/main">
              <a:ext uri="{FF2B5EF4-FFF2-40B4-BE49-F238E27FC236}">
                <a16:creationId xmlns:a16="http://schemas.microsoft.com/office/drawing/2014/main" id="{A7A94E33-B3A4-4F83-823B-E8D0443DADB5}"/>
              </a:ext>
            </a:extLst>
          </p:cNvPr>
          <p:cNvSpPr>
            <a:spLocks xmlns:a="http://schemas.openxmlformats.org/drawingml/2006/main" noGrp="1"/>
          </p:cNvSpPr>
          <p:nvPr/>
        </p:nvSpPr>
        <p:spPr>
          <a:xfrm xmlns:a="http://schemas.openxmlformats.org/drawingml/2006/main">
            <a:off x="1952625" y="5334000"/>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100" b="1">
                <a:solidFill>
                  <a:srgbClr val="EEF6FF"/>
                </a:solidFill>
                <a:latin typeface="Arial"/>
                <a:ea typeface="Arial"/>
                <a:cs typeface="Arial"/>
              </a:defRPr>
            </a:pPr>
            <a:r>
              <a:rPr sz="2100" b="1">
                <a:solidFill>
                  <a:srgbClr val="EEF6FF"/>
                </a:solidFill>
                <a:latin typeface="Arial"/>
                <a:ea typeface="Arial"/>
                <a:cs typeface="Arial"/>
              </a:rPr>
              <a:t>Garantie visée : au moins une livraison</a:t>
            </a:r>
          </a:p>
        </p:txBody>
      </p:sp>
    </p:spTree>
    <p:extLst>
      <p:ext uri="{BB962C8B-B14F-4D97-AF65-F5344CB8AC3E}">
        <p14:creationId xmlns:p14="http://schemas.microsoft.com/office/powerpoint/2010/main" val="1392211405"/>
      </p:ext>
    </p:extLst>
  </p:cSld>
</p:sld>
</file>

<file path=ppt/slides/slide18.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B6A267-8F6C-45C5-A304-B17124337E3C}"/>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Idempotence après un crash</a:t>
            </a:r>
          </a:p>
        </p:txBody>
      </p:sp>
      <p:sp>
        <p:nvSpPr>
          <p:cNvPr id="2" name="">
            <a:extLst xmlns:a="http://schemas.openxmlformats.org/drawingml/2006/main">
              <a:ext uri="{FF2B5EF4-FFF2-40B4-BE49-F238E27FC236}">
                <a16:creationId xmlns:a16="http://schemas.microsoft.com/office/drawing/2014/main" id="{BBD6DD9D-E581-456C-8533-A2DB9A352A2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A3719286-2F1E-402E-AE59-BFF21FA0B1E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8BECD4-ABB2-4A83-A931-3736FEF701E5}"/>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C4947CCD-43D9-410A-AA16-63B798029C60}"/>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8F2BFD3-0D02-49B8-AE4E-119593C391B0}"/>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Storage insère l’article et les agrégats</a:t>
            </a:r>
          </a:p>
        </p:txBody>
      </p:sp>
      <p:sp>
        <p:nvSpPr>
          <p:cNvPr id="7" name="">
            <a:extLst xmlns:a="http://schemas.openxmlformats.org/drawingml/2006/main">
              <a:ext uri="{FF2B5EF4-FFF2-40B4-BE49-F238E27FC236}">
                <a16:creationId xmlns:a16="http://schemas.microsoft.com/office/drawing/2014/main" id="{1EAD1E14-0817-42B9-8CAA-EA36BD6B7C42}"/>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6B75"/>
                </a:solidFill>
                <a:latin typeface="Arial"/>
                <a:ea typeface="Arial"/>
                <a:cs typeface="Arial"/>
              </a:defRPr>
            </a:pPr>
            <a:r>
              <a:rPr sz="1425" b="1">
                <a:solidFill>
                  <a:srgbClr val="FF6B75"/>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750F74A-B1C8-465F-8750-A3C3B6344031}"/>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EF6C60-5F33-4554-973A-3463E7262790}"/>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Le commit réussit, puis le worker tombe avant l’ACK</a:t>
            </a:r>
          </a:p>
        </p:txBody>
      </p:sp>
      <p:sp>
        <p:nvSpPr>
          <p:cNvPr id="10" name="">
            <a:extLst xmlns:a="http://schemas.openxmlformats.org/drawingml/2006/main">
              <a:ext uri="{FF2B5EF4-FFF2-40B4-BE49-F238E27FC236}">
                <a16:creationId xmlns:a16="http://schemas.microsoft.com/office/drawing/2014/main" id="{F0091974-2655-481E-8715-2E245E73B569}"/>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DAA76141-535E-489D-82A2-C169ADE7D090}"/>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D716F0-8330-41DB-AFF1-13883AECB782}"/>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RabbitMQ redélivre le même article</a:t>
            </a:r>
          </a:p>
        </p:txBody>
      </p:sp>
      <p:sp>
        <p:nvSpPr>
          <p:cNvPr id="13" name="">
            <a:extLst xmlns:a="http://schemas.openxmlformats.org/drawingml/2006/main">
              <a:ext uri="{FF2B5EF4-FFF2-40B4-BE49-F238E27FC236}">
                <a16:creationId xmlns:a16="http://schemas.microsoft.com/office/drawing/2014/main" id="{3DA684C6-17BC-4A7B-B14B-7143AD9675AF}"/>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60A9EF5A-607D-45FE-A2AF-FFC312772884}"/>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E6407D-DC83-4256-9CFE-D4FE05EC949B}"/>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1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La clé primaire bloque le doublon et aucun agrégat ne progresse</a:t>
            </a:r>
          </a:p>
        </p:txBody>
      </p:sp>
      <p:sp>
        <p:nvSpPr>
          <p:cNvPr id="16" name="">
            <a:extLst xmlns:a="http://schemas.openxmlformats.org/drawingml/2006/main">
              <a:ext uri="{FF2B5EF4-FFF2-40B4-BE49-F238E27FC236}">
                <a16:creationId xmlns:a16="http://schemas.microsoft.com/office/drawing/2014/main" id="{A1802C10-289A-4157-A156-E82791BE73DE}"/>
              </a:ext>
            </a:extLst>
          </p:cNvPr>
          <p:cNvSpPr>
            <a:spLocks xmlns:a="http://schemas.openxmlformats.org/drawingml/2006/main" noGrp="1"/>
          </p:cNvSpPr>
          <p:nvPr/>
        </p:nvSpPr>
        <p:spPr>
          <a:xfrm xmlns:a="http://schemas.openxmlformats.org/drawingml/2006/main">
            <a:off x="2000250" y="528637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025" b="1">
                <a:solidFill>
                  <a:srgbClr val="EEF6FF"/>
                </a:solidFill>
                <a:latin typeface="Arial"/>
                <a:ea typeface="Arial"/>
                <a:cs typeface="Arial"/>
              </a:defRPr>
            </a:pPr>
            <a:r>
              <a:rPr sz="2025" b="1">
                <a:solidFill>
                  <a:srgbClr val="EEF6FF"/>
                </a:solidFill>
                <a:latin typeface="Arial"/>
                <a:ea typeface="Arial"/>
                <a:cs typeface="Arial"/>
              </a:rPr>
              <a:t>Même événement rejoué, même état final</a:t>
            </a:r>
          </a:p>
        </p:txBody>
      </p:sp>
    </p:spTree>
    <p:extLst>
      <p:ext uri="{BB962C8B-B14F-4D97-AF65-F5344CB8AC3E}">
        <p14:creationId xmlns:p14="http://schemas.microsoft.com/office/powerpoint/2010/main" val="706032362"/>
      </p:ext>
    </p:extLst>
  </p:cSld>
</p:sld>
</file>

<file path=ppt/slides/slide19.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5BF048-3FBF-456A-AFE5-6A4627F50DB6}"/>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Dead-letter queues</a:t>
            </a:r>
          </a:p>
        </p:txBody>
      </p:sp>
      <p:sp>
        <p:nvSpPr>
          <p:cNvPr id="2" name="">
            <a:extLst xmlns:a="http://schemas.openxmlformats.org/drawingml/2006/main">
              <a:ext uri="{FF2B5EF4-FFF2-40B4-BE49-F238E27FC236}">
                <a16:creationId xmlns:a16="http://schemas.microsoft.com/office/drawing/2014/main" id="{2AFF62C7-60E2-42F1-8CA1-DC4FA6FEB37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EBF12AB-E3ED-4B91-967A-B873ACC2E22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6013D2-0E8A-447C-A391-14733FE0D648}"/>
              </a:ext>
            </a:extLst>
          </p:cNvPr>
          <p:cNvSpPr>
            <a:spLocks xmlns:a="http://schemas.openxmlformats.org/drawingml/2006/main" noGrp="1"/>
          </p:cNvSpPr>
          <p:nvPr/>
        </p:nvSpPr>
        <p:spPr>
          <a:xfrm xmlns:a="http://schemas.openxmlformats.org/drawingml/2006/main">
            <a:off x="714375" y="1905000"/>
            <a:ext cx="2476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C1E3D0-7932-4850-84F5-39B56C48C344}"/>
              </a:ext>
            </a:extLst>
          </p:cNvPr>
          <p:cNvSpPr>
            <a:spLocks xmlns:a="http://schemas.openxmlformats.org/drawingml/2006/main" noGrp="1"/>
          </p:cNvSpPr>
          <p:nvPr/>
        </p:nvSpPr>
        <p:spPr>
          <a:xfrm xmlns:a="http://schemas.openxmlformats.org/drawingml/2006/main">
            <a:off x="714375" y="19050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79B25B-AEA0-4CE5-A047-9550F6322779}"/>
              </a:ext>
            </a:extLst>
          </p:cNvPr>
          <p:cNvSpPr>
            <a:spLocks xmlns:a="http://schemas.openxmlformats.org/drawingml/2006/main" noGrp="1"/>
          </p:cNvSpPr>
          <p:nvPr/>
        </p:nvSpPr>
        <p:spPr>
          <a:xfrm xmlns:a="http://schemas.openxmlformats.org/drawingml/2006/main">
            <a:off x="904875" y="2019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7" name="">
            <a:extLst xmlns:a="http://schemas.openxmlformats.org/drawingml/2006/main">
              <a:ext uri="{FF2B5EF4-FFF2-40B4-BE49-F238E27FC236}">
                <a16:creationId xmlns:a16="http://schemas.microsoft.com/office/drawing/2014/main" id="{FD6EF266-913C-4B35-9868-8A2D07BA4E26}"/>
              </a:ext>
            </a:extLst>
          </p:cNvPr>
          <p:cNvSpPr>
            <a:spLocks xmlns:a="http://schemas.openxmlformats.org/drawingml/2006/main" noGrp="1"/>
          </p:cNvSpPr>
          <p:nvPr/>
        </p:nvSpPr>
        <p:spPr>
          <a:xfrm xmlns:a="http://schemas.openxmlformats.org/drawingml/2006/main">
            <a:off x="904875" y="240030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message invalide</a:t>
            </a:r>
          </a:p>
        </p:txBody>
      </p:sp>
      <p:sp>
        <p:nvSpPr>
          <p:cNvPr id="8" name="">
            <a:extLst xmlns:a="http://schemas.openxmlformats.org/drawingml/2006/main">
              <a:ext uri="{FF2B5EF4-FFF2-40B4-BE49-F238E27FC236}">
                <a16:creationId xmlns:a16="http://schemas.microsoft.com/office/drawing/2014/main" id="{9403AAF5-3D9A-4528-8E7C-031556CDA303}"/>
              </a:ext>
            </a:extLst>
          </p:cNvPr>
          <p:cNvSpPr>
            <a:spLocks xmlns:a="http://schemas.openxmlformats.org/drawingml/2006/main" noGrp="1"/>
          </p:cNvSpPr>
          <p:nvPr/>
        </p:nvSpPr>
        <p:spPr>
          <a:xfrm xmlns:a="http://schemas.openxmlformats.org/drawingml/2006/main">
            <a:off x="3429000"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4894A72-659F-4E44-BC8B-96964F0C3D11}"/>
              </a:ext>
            </a:extLst>
          </p:cNvPr>
          <p:cNvSpPr>
            <a:spLocks xmlns:a="http://schemas.openxmlformats.org/drawingml/2006/main" noGrp="1"/>
          </p:cNvSpPr>
          <p:nvPr/>
        </p:nvSpPr>
        <p:spPr>
          <a:xfrm xmlns:a="http://schemas.openxmlformats.org/drawingml/2006/main">
            <a:off x="4381500" y="19050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1C41AE4-23E9-4BCD-A004-8247FD8ADE74}"/>
              </a:ext>
            </a:extLst>
          </p:cNvPr>
          <p:cNvSpPr>
            <a:spLocks xmlns:a="http://schemas.openxmlformats.org/drawingml/2006/main" noGrp="1"/>
          </p:cNvSpPr>
          <p:nvPr/>
        </p:nvSpPr>
        <p:spPr>
          <a:xfrm xmlns:a="http://schemas.openxmlformats.org/drawingml/2006/main">
            <a:off x="4381500" y="1905000"/>
            <a:ext cx="66675" cy="9525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44586E-CC17-47A0-B8FF-1739A723F422}"/>
              </a:ext>
            </a:extLst>
          </p:cNvPr>
          <p:cNvSpPr>
            <a:spLocks xmlns:a="http://schemas.openxmlformats.org/drawingml/2006/main" noGrp="1"/>
          </p:cNvSpPr>
          <p:nvPr/>
        </p:nvSpPr>
        <p:spPr>
          <a:xfrm xmlns:a="http://schemas.openxmlformats.org/drawingml/2006/main">
            <a:off x="4572000" y="2019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dead_letter</a:t>
            </a:r>
          </a:p>
        </p:txBody>
      </p:sp>
      <p:sp>
        <p:nvSpPr>
          <p:cNvPr id="12" name="">
            <a:extLst xmlns:a="http://schemas.openxmlformats.org/drawingml/2006/main">
              <a:ext uri="{FF2B5EF4-FFF2-40B4-BE49-F238E27FC236}">
                <a16:creationId xmlns:a16="http://schemas.microsoft.com/office/drawing/2014/main" id="{ADC7D550-CF6E-49E9-AEC9-9D94C713D991}"/>
              </a:ext>
            </a:extLst>
          </p:cNvPr>
          <p:cNvSpPr>
            <a:spLocks xmlns:a="http://schemas.openxmlformats.org/drawingml/2006/main" noGrp="1"/>
          </p:cNvSpPr>
          <p:nvPr/>
        </p:nvSpPr>
        <p:spPr>
          <a:xfrm xmlns:a="http://schemas.openxmlformats.org/drawingml/2006/main">
            <a:off x="4572000" y="24003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exchange direct</a:t>
            </a:r>
          </a:p>
        </p:txBody>
      </p:sp>
      <p:sp>
        <p:nvSpPr>
          <p:cNvPr id="13" name="">
            <a:extLst xmlns:a="http://schemas.openxmlformats.org/drawingml/2006/main">
              <a:ext uri="{FF2B5EF4-FFF2-40B4-BE49-F238E27FC236}">
                <a16:creationId xmlns:a16="http://schemas.microsoft.com/office/drawing/2014/main" id="{6934F63A-442C-42AA-A15C-932213FFF641}"/>
              </a:ext>
            </a:extLst>
          </p:cNvPr>
          <p:cNvSpPr>
            <a:spLocks xmlns:a="http://schemas.openxmlformats.org/drawingml/2006/main" noGrp="1"/>
          </p:cNvSpPr>
          <p:nvPr/>
        </p:nvSpPr>
        <p:spPr>
          <a:xfrm xmlns:a="http://schemas.openxmlformats.org/drawingml/2006/main">
            <a:off x="747712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4180A862-5B11-44C3-A848-B669EA50CC39}"/>
              </a:ext>
            </a:extLst>
          </p:cNvPr>
          <p:cNvSpPr>
            <a:spLocks xmlns:a="http://schemas.openxmlformats.org/drawingml/2006/main" noGrp="1"/>
          </p:cNvSpPr>
          <p:nvPr/>
        </p:nvSpPr>
        <p:spPr>
          <a:xfrm xmlns:a="http://schemas.openxmlformats.org/drawingml/2006/main">
            <a:off x="8429625" y="19050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542121-1C2E-402C-9B76-44836C4F2C34}"/>
              </a:ext>
            </a:extLst>
          </p:cNvPr>
          <p:cNvSpPr>
            <a:spLocks xmlns:a="http://schemas.openxmlformats.org/drawingml/2006/main" noGrp="1"/>
          </p:cNvSpPr>
          <p:nvPr/>
        </p:nvSpPr>
        <p:spPr>
          <a:xfrm xmlns:a="http://schemas.openxmlformats.org/drawingml/2006/main">
            <a:off x="8429625" y="1905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06A35C-F973-4F35-8DFC-4E106DA1B36B}"/>
              </a:ext>
            </a:extLst>
          </p:cNvPr>
          <p:cNvSpPr>
            <a:spLocks xmlns:a="http://schemas.openxmlformats.org/drawingml/2006/main" noGrp="1"/>
          </p:cNvSpPr>
          <p:nvPr/>
        </p:nvSpPr>
        <p:spPr>
          <a:xfrm xmlns:a="http://schemas.openxmlformats.org/drawingml/2006/main">
            <a:off x="8620125" y="2019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raw_news.dlq</a:t>
            </a:r>
          </a:p>
        </p:txBody>
      </p:sp>
      <p:sp>
        <p:nvSpPr>
          <p:cNvPr id="17" name="">
            <a:extLst xmlns:a="http://schemas.openxmlformats.org/drawingml/2006/main">
              <a:ext uri="{FF2B5EF4-FFF2-40B4-BE49-F238E27FC236}">
                <a16:creationId xmlns:a16="http://schemas.microsoft.com/office/drawing/2014/main" id="{67953380-9677-46E0-A64A-021701DAEFB4}"/>
              </a:ext>
            </a:extLst>
          </p:cNvPr>
          <p:cNvSpPr>
            <a:spLocks xmlns:a="http://schemas.openxmlformats.org/drawingml/2006/main" noGrp="1"/>
          </p:cNvSpPr>
          <p:nvPr/>
        </p:nvSpPr>
        <p:spPr>
          <a:xfrm xmlns:a="http://schemas.openxmlformats.org/drawingml/2006/main">
            <a:off x="8620125" y="24003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inspection et replay</a:t>
            </a:r>
          </a:p>
        </p:txBody>
      </p:sp>
      <p:sp>
        <p:nvSpPr>
          <p:cNvPr id="18" name="">
            <a:extLst xmlns:a="http://schemas.openxmlformats.org/drawingml/2006/main">
              <a:ext uri="{FF2B5EF4-FFF2-40B4-BE49-F238E27FC236}">
                <a16:creationId xmlns:a16="http://schemas.microsoft.com/office/drawing/2014/main" id="{3222AA8F-91B6-401E-8F50-C920DB17BBF6}"/>
              </a:ext>
            </a:extLst>
          </p:cNvPr>
          <p:cNvSpPr>
            <a:spLocks xmlns:a="http://schemas.openxmlformats.org/drawingml/2006/main" noGrp="1"/>
          </p:cNvSpPr>
          <p:nvPr/>
        </p:nvSpPr>
        <p:spPr>
          <a:xfrm xmlns:a="http://schemas.openxmlformats.org/drawingml/2006/main">
            <a:off x="1809750" y="37147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025" b="1">
                <a:solidFill>
                  <a:srgbClr val="EEF6FF"/>
                </a:solidFill>
                <a:latin typeface="Arial"/>
                <a:ea typeface="Arial"/>
                <a:cs typeface="Arial"/>
              </a:defRPr>
            </a:pPr>
            <a:r>
              <a:rPr sz="2025" b="1">
                <a:solidFill>
                  <a:srgbClr val="EEF6FF"/>
                </a:solidFill>
                <a:latin typeface="Arial"/>
                <a:ea typeface="Arial"/>
                <a:cs typeface="Arial"/>
              </a:rPr>
              <a:t>Le même mécanisme protège enriched_news.dlq</a:t>
            </a:r>
          </a:p>
        </p:txBody>
      </p:sp>
      <p:sp>
        <p:nvSpPr>
          <p:cNvPr id="19" name="">
            <a:extLst xmlns:a="http://schemas.openxmlformats.org/drawingml/2006/main">
              <a:ext uri="{FF2B5EF4-FFF2-40B4-BE49-F238E27FC236}">
                <a16:creationId xmlns:a16="http://schemas.microsoft.com/office/drawing/2014/main" id="{69ABEB52-5D90-4EE8-9BAE-7B29CD6B8E4C}"/>
              </a:ext>
            </a:extLst>
          </p:cNvPr>
          <p:cNvSpPr>
            <a:spLocks xmlns:a="http://schemas.openxmlformats.org/drawingml/2006/main" noGrp="1"/>
          </p:cNvSpPr>
          <p:nvPr/>
        </p:nvSpPr>
        <p:spPr>
          <a:xfrm xmlns:a="http://schemas.openxmlformats.org/drawingml/2006/main">
            <a:off x="762000" y="45243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DIAGNOSTIC</a:t>
            </a:r>
          </a:p>
        </p:txBody>
      </p:sp>
      <p:sp>
        <p:nvSpPr>
          <p:cNvPr id="20" name="">
            <a:extLst xmlns:a="http://schemas.openxmlformats.org/drawingml/2006/main">
              <a:ext uri="{FF2B5EF4-FFF2-40B4-BE49-F238E27FC236}">
                <a16:creationId xmlns:a16="http://schemas.microsoft.com/office/drawing/2014/main" id="{B2F56270-84E1-4A97-A0A5-6FA62164525E}"/>
              </a:ext>
            </a:extLst>
          </p:cNvPr>
          <p:cNvSpPr>
            <a:spLocks xmlns:a="http://schemas.openxmlformats.org/drawingml/2006/main" noGrp="1"/>
          </p:cNvSpPr>
          <p:nvPr/>
        </p:nvSpPr>
        <p:spPr>
          <a:xfrm xmlns:a="http://schemas.openxmlformats.org/drawingml/2006/main">
            <a:off x="3429000" y="469582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47F077B-54D5-4912-A6F4-FC19D3830CFE}"/>
              </a:ext>
            </a:extLst>
          </p:cNvPr>
          <p:cNvSpPr>
            <a:spLocks xmlns:a="http://schemas.openxmlformats.org/drawingml/2006/main" noGrp="1"/>
          </p:cNvSpPr>
          <p:nvPr/>
        </p:nvSpPr>
        <p:spPr>
          <a:xfrm xmlns:a="http://schemas.openxmlformats.org/drawingml/2006/main">
            <a:off x="4381500" y="45053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Le payload fautif reste disponible</a:t>
            </a:r>
          </a:p>
        </p:txBody>
      </p:sp>
      <p:sp>
        <p:nvSpPr>
          <p:cNvPr id="22" name="">
            <a:extLst xmlns:a="http://schemas.openxmlformats.org/drawingml/2006/main">
              <a:ext uri="{FF2B5EF4-FFF2-40B4-BE49-F238E27FC236}">
                <a16:creationId xmlns:a16="http://schemas.microsoft.com/office/drawing/2014/main" id="{860CA027-8F7F-48D2-9B91-ECD1F6DC5086}"/>
              </a:ext>
            </a:extLst>
          </p:cNvPr>
          <p:cNvSpPr>
            <a:spLocks xmlns:a="http://schemas.openxmlformats.org/drawingml/2006/main" noGrp="1"/>
          </p:cNvSpPr>
          <p:nvPr/>
        </p:nvSpPr>
        <p:spPr>
          <a:xfrm xmlns:a="http://schemas.openxmlformats.org/drawingml/2006/main">
            <a:off x="762000" y="533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CONTRÔLE</a:t>
            </a:r>
          </a:p>
        </p:txBody>
      </p:sp>
      <p:sp>
        <p:nvSpPr>
          <p:cNvPr id="23" name="">
            <a:extLst xmlns:a="http://schemas.openxmlformats.org/drawingml/2006/main">
              <a:ext uri="{FF2B5EF4-FFF2-40B4-BE49-F238E27FC236}">
                <a16:creationId xmlns:a16="http://schemas.microsoft.com/office/drawing/2014/main" id="{0057D1DD-BEC4-4CC9-9EBA-71CC77617028}"/>
              </a:ext>
            </a:extLst>
          </p:cNvPr>
          <p:cNvSpPr>
            <a:spLocks xmlns:a="http://schemas.openxmlformats.org/drawingml/2006/main" noGrp="1"/>
          </p:cNvSpPr>
          <p:nvPr/>
        </p:nvSpPr>
        <p:spPr>
          <a:xfrm xmlns:a="http://schemas.openxmlformats.org/drawingml/2006/main">
            <a:off x="3429000" y="550545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18E7BC7-575E-4311-B1B1-2FF055D715A3}"/>
              </a:ext>
            </a:extLst>
          </p:cNvPr>
          <p:cNvSpPr>
            <a:spLocks xmlns:a="http://schemas.openxmlformats.org/drawingml/2006/main" noGrp="1"/>
          </p:cNvSpPr>
          <p:nvPr/>
        </p:nvSpPr>
        <p:spPr>
          <a:xfrm xmlns:a="http://schemas.openxmlformats.org/drawingml/2006/main">
            <a:off x="4381500" y="531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Le rejeu devient une action explicite</a:t>
            </a:r>
          </a:p>
        </p:txBody>
      </p:sp>
    </p:spTree>
    <p:extLst>
      <p:ext uri="{BB962C8B-B14F-4D97-AF65-F5344CB8AC3E}">
        <p14:creationId xmlns:p14="http://schemas.microsoft.com/office/powerpoint/2010/main" val="2105457162"/>
      </p:ext>
    </p:extLst>
  </p:cSld>
</p:sld>
</file>

<file path=ppt/slides/slide20.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B53A283-2A99-4326-A680-A6BC0577CA03}"/>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Scaling horizontal d’Analytics</a:t>
            </a:r>
          </a:p>
        </p:txBody>
      </p:sp>
      <p:sp>
        <p:nvSpPr>
          <p:cNvPr id="2" name="">
            <a:extLst xmlns:a="http://schemas.openxmlformats.org/drawingml/2006/main">
              <a:ext uri="{FF2B5EF4-FFF2-40B4-BE49-F238E27FC236}">
                <a16:creationId xmlns:a16="http://schemas.microsoft.com/office/drawing/2014/main" id="{D390993D-2D39-4C30-B085-E8A12C285B8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59F91F6C-6910-4060-9143-532D1DE5038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B61CF8-19AB-43BB-88A0-3FE69E4E86B8}"/>
              </a:ext>
            </a:extLst>
          </p:cNvPr>
          <p:cNvSpPr>
            <a:spLocks xmlns:a="http://schemas.openxmlformats.org/drawingml/2006/main" noGrp="1"/>
          </p:cNvSpPr>
          <p:nvPr/>
        </p:nvSpPr>
        <p:spPr>
          <a:xfrm xmlns:a="http://schemas.openxmlformats.org/drawingml/2006/main">
            <a:off x="714375" y="2381250"/>
            <a:ext cx="223837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25099-3B79-48D7-BC93-BE2F04042408}"/>
              </a:ext>
            </a:extLst>
          </p:cNvPr>
          <p:cNvSpPr>
            <a:spLocks xmlns:a="http://schemas.openxmlformats.org/drawingml/2006/main" noGrp="1"/>
          </p:cNvSpPr>
          <p:nvPr/>
        </p:nvSpPr>
        <p:spPr>
          <a:xfrm xmlns:a="http://schemas.openxmlformats.org/drawingml/2006/main">
            <a:off x="714375" y="238125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7E03D8-B43C-4849-9006-5CFB901B9805}"/>
              </a:ext>
            </a:extLst>
          </p:cNvPr>
          <p:cNvSpPr>
            <a:spLocks xmlns:a="http://schemas.openxmlformats.org/drawingml/2006/main" noGrp="1"/>
          </p:cNvSpPr>
          <p:nvPr/>
        </p:nvSpPr>
        <p:spPr>
          <a:xfrm xmlns:a="http://schemas.openxmlformats.org/drawingml/2006/main">
            <a:off x="904875" y="2495550"/>
            <a:ext cx="1933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7" name="">
            <a:extLst xmlns:a="http://schemas.openxmlformats.org/drawingml/2006/main">
              <a:ext uri="{FF2B5EF4-FFF2-40B4-BE49-F238E27FC236}">
                <a16:creationId xmlns:a16="http://schemas.microsoft.com/office/drawing/2014/main" id="{6BC72FD4-D805-45E5-9062-FB8B794BEE48}"/>
              </a:ext>
            </a:extLst>
          </p:cNvPr>
          <p:cNvSpPr>
            <a:spLocks xmlns:a="http://schemas.openxmlformats.org/drawingml/2006/main" noGrp="1"/>
          </p:cNvSpPr>
          <p:nvPr/>
        </p:nvSpPr>
        <p:spPr>
          <a:xfrm xmlns:a="http://schemas.openxmlformats.org/drawingml/2006/main">
            <a:off x="904875" y="2876550"/>
            <a:ext cx="1933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backlog</a:t>
            </a:r>
          </a:p>
        </p:txBody>
      </p:sp>
      <p:sp>
        <p:nvSpPr>
          <p:cNvPr id="8" name="">
            <a:extLst xmlns:a="http://schemas.openxmlformats.org/drawingml/2006/main">
              <a:ext uri="{FF2B5EF4-FFF2-40B4-BE49-F238E27FC236}">
                <a16:creationId xmlns:a16="http://schemas.microsoft.com/office/drawing/2014/main" id="{0553EA79-7BF7-44F4-AC51-4CA9B8D74674}"/>
              </a:ext>
            </a:extLst>
          </p:cNvPr>
          <p:cNvSpPr>
            <a:spLocks xmlns:a="http://schemas.openxmlformats.org/drawingml/2006/main" noGrp="1"/>
          </p:cNvSpPr>
          <p:nvPr/>
        </p:nvSpPr>
        <p:spPr>
          <a:xfrm xmlns:a="http://schemas.openxmlformats.org/drawingml/2006/main">
            <a:off x="3143250" y="2571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8489CE8-0254-4DCF-A336-A2C571C983F5}"/>
              </a:ext>
            </a:extLst>
          </p:cNvPr>
          <p:cNvSpPr>
            <a:spLocks xmlns:a="http://schemas.openxmlformats.org/drawingml/2006/main" noGrp="1"/>
          </p:cNvSpPr>
          <p:nvPr/>
        </p:nvSpPr>
        <p:spPr>
          <a:xfrm xmlns:a="http://schemas.openxmlformats.org/drawingml/2006/main">
            <a:off x="4238625" y="1381125"/>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0B256D-4E9D-407A-959D-096A0CFB1580}"/>
              </a:ext>
            </a:extLst>
          </p:cNvPr>
          <p:cNvSpPr>
            <a:spLocks xmlns:a="http://schemas.openxmlformats.org/drawingml/2006/main" noGrp="1"/>
          </p:cNvSpPr>
          <p:nvPr/>
        </p:nvSpPr>
        <p:spPr>
          <a:xfrm xmlns:a="http://schemas.openxmlformats.org/drawingml/2006/main">
            <a:off x="4238625" y="138112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504C6B-091C-4DB4-B69F-04B770B9E533}"/>
              </a:ext>
            </a:extLst>
          </p:cNvPr>
          <p:cNvSpPr>
            <a:spLocks xmlns:a="http://schemas.openxmlformats.org/drawingml/2006/main" noGrp="1"/>
          </p:cNvSpPr>
          <p:nvPr/>
        </p:nvSpPr>
        <p:spPr>
          <a:xfrm xmlns:a="http://schemas.openxmlformats.org/drawingml/2006/main">
            <a:off x="4429125" y="149542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Analytics 1</a:t>
            </a:r>
          </a:p>
        </p:txBody>
      </p:sp>
      <p:sp>
        <p:nvSpPr>
          <p:cNvPr id="12" name="">
            <a:extLst xmlns:a="http://schemas.openxmlformats.org/drawingml/2006/main">
              <a:ext uri="{FF2B5EF4-FFF2-40B4-BE49-F238E27FC236}">
                <a16:creationId xmlns:a16="http://schemas.microsoft.com/office/drawing/2014/main" id="{0546465A-9807-4055-886D-E7868F94DAD7}"/>
              </a:ext>
            </a:extLst>
          </p:cNvPr>
          <p:cNvSpPr>
            <a:spLocks xmlns:a="http://schemas.openxmlformats.org/drawingml/2006/main" noGrp="1"/>
          </p:cNvSpPr>
          <p:nvPr/>
        </p:nvSpPr>
        <p:spPr>
          <a:xfrm xmlns:a="http://schemas.openxmlformats.org/drawingml/2006/main">
            <a:off x="4429125" y="1876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13" name="">
            <a:extLst xmlns:a="http://schemas.openxmlformats.org/drawingml/2006/main">
              <a:ext uri="{FF2B5EF4-FFF2-40B4-BE49-F238E27FC236}">
                <a16:creationId xmlns:a16="http://schemas.microsoft.com/office/drawing/2014/main" id="{29D9A932-5926-451D-B42C-1A7D5A513073}"/>
              </a:ext>
            </a:extLst>
          </p:cNvPr>
          <p:cNvSpPr>
            <a:spLocks xmlns:a="http://schemas.openxmlformats.org/drawingml/2006/main" noGrp="1"/>
          </p:cNvSpPr>
          <p:nvPr/>
        </p:nvSpPr>
        <p:spPr>
          <a:xfrm xmlns:a="http://schemas.openxmlformats.org/drawingml/2006/main">
            <a:off x="4238625" y="2667000"/>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A8BE2D-F17F-4D5B-8BA3-50F910AF8DF7}"/>
              </a:ext>
            </a:extLst>
          </p:cNvPr>
          <p:cNvSpPr>
            <a:spLocks xmlns:a="http://schemas.openxmlformats.org/drawingml/2006/main" noGrp="1"/>
          </p:cNvSpPr>
          <p:nvPr/>
        </p:nvSpPr>
        <p:spPr>
          <a:xfrm xmlns:a="http://schemas.openxmlformats.org/drawingml/2006/main">
            <a:off x="4238625" y="2667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2FDD38-9F2C-4603-8C34-8EA59280869D}"/>
              </a:ext>
            </a:extLst>
          </p:cNvPr>
          <p:cNvSpPr>
            <a:spLocks xmlns:a="http://schemas.openxmlformats.org/drawingml/2006/main" noGrp="1"/>
          </p:cNvSpPr>
          <p:nvPr/>
        </p:nvSpPr>
        <p:spPr>
          <a:xfrm xmlns:a="http://schemas.openxmlformats.org/drawingml/2006/main">
            <a:off x="4429125" y="2781300"/>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Analytics 2</a:t>
            </a:r>
          </a:p>
        </p:txBody>
      </p:sp>
      <p:sp>
        <p:nvSpPr>
          <p:cNvPr id="16" name="">
            <a:extLst xmlns:a="http://schemas.openxmlformats.org/drawingml/2006/main">
              <a:ext uri="{FF2B5EF4-FFF2-40B4-BE49-F238E27FC236}">
                <a16:creationId xmlns:a16="http://schemas.microsoft.com/office/drawing/2014/main" id="{F7833A9B-C2E0-45DE-933F-E23CD86927F5}"/>
              </a:ext>
            </a:extLst>
          </p:cNvPr>
          <p:cNvSpPr>
            <a:spLocks xmlns:a="http://schemas.openxmlformats.org/drawingml/2006/main" noGrp="1"/>
          </p:cNvSpPr>
          <p:nvPr/>
        </p:nvSpPr>
        <p:spPr>
          <a:xfrm xmlns:a="http://schemas.openxmlformats.org/drawingml/2006/main">
            <a:off x="4429125" y="3162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17" name="">
            <a:extLst xmlns:a="http://schemas.openxmlformats.org/drawingml/2006/main">
              <a:ext uri="{FF2B5EF4-FFF2-40B4-BE49-F238E27FC236}">
                <a16:creationId xmlns:a16="http://schemas.microsoft.com/office/drawing/2014/main" id="{97A46300-3D68-40A2-B9EB-5DA011374DCC}"/>
              </a:ext>
            </a:extLst>
          </p:cNvPr>
          <p:cNvSpPr>
            <a:spLocks xmlns:a="http://schemas.openxmlformats.org/drawingml/2006/main" noGrp="1"/>
          </p:cNvSpPr>
          <p:nvPr/>
        </p:nvSpPr>
        <p:spPr>
          <a:xfrm xmlns:a="http://schemas.openxmlformats.org/drawingml/2006/main">
            <a:off x="4238625" y="3952875"/>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CE2813-B5FE-4A59-8AF0-C0D540710EC9}"/>
              </a:ext>
            </a:extLst>
          </p:cNvPr>
          <p:cNvSpPr>
            <a:spLocks xmlns:a="http://schemas.openxmlformats.org/drawingml/2006/main" noGrp="1"/>
          </p:cNvSpPr>
          <p:nvPr/>
        </p:nvSpPr>
        <p:spPr>
          <a:xfrm xmlns:a="http://schemas.openxmlformats.org/drawingml/2006/main">
            <a:off x="4238625" y="39528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10F2FE8-288B-4427-9F3C-782BAD87C785}"/>
              </a:ext>
            </a:extLst>
          </p:cNvPr>
          <p:cNvSpPr>
            <a:spLocks xmlns:a="http://schemas.openxmlformats.org/drawingml/2006/main" noGrp="1"/>
          </p:cNvSpPr>
          <p:nvPr/>
        </p:nvSpPr>
        <p:spPr>
          <a:xfrm xmlns:a="http://schemas.openxmlformats.org/drawingml/2006/main">
            <a:off x="4429125" y="406717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Analytics 3</a:t>
            </a:r>
          </a:p>
        </p:txBody>
      </p:sp>
      <p:sp>
        <p:nvSpPr>
          <p:cNvPr id="20" name="">
            <a:extLst xmlns:a="http://schemas.openxmlformats.org/drawingml/2006/main">
              <a:ext uri="{FF2B5EF4-FFF2-40B4-BE49-F238E27FC236}">
                <a16:creationId xmlns:a16="http://schemas.microsoft.com/office/drawing/2014/main" id="{5C79CE51-A1E7-4D13-8A80-592F4A25C42E}"/>
              </a:ext>
            </a:extLst>
          </p:cNvPr>
          <p:cNvSpPr>
            <a:spLocks xmlns:a="http://schemas.openxmlformats.org/drawingml/2006/main" noGrp="1"/>
          </p:cNvSpPr>
          <p:nvPr/>
        </p:nvSpPr>
        <p:spPr>
          <a:xfrm xmlns:a="http://schemas.openxmlformats.org/drawingml/2006/main">
            <a:off x="4429125" y="44481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21" name="">
            <a:extLst xmlns:a="http://schemas.openxmlformats.org/drawingml/2006/main">
              <a:ext uri="{FF2B5EF4-FFF2-40B4-BE49-F238E27FC236}">
                <a16:creationId xmlns:a16="http://schemas.microsoft.com/office/drawing/2014/main" id="{380BBE10-FC8F-49AB-B88A-85DAFDDFEF19}"/>
              </a:ext>
            </a:extLst>
          </p:cNvPr>
          <p:cNvSpPr>
            <a:spLocks xmlns:a="http://schemas.openxmlformats.org/drawingml/2006/main" noGrp="1"/>
          </p:cNvSpPr>
          <p:nvPr/>
        </p:nvSpPr>
        <p:spPr>
          <a:xfrm xmlns:a="http://schemas.openxmlformats.org/drawingml/2006/main">
            <a:off x="7620000" y="157162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4FD8A38B-B6DB-4CC7-90F3-48D570DA3E9B}"/>
              </a:ext>
            </a:extLst>
          </p:cNvPr>
          <p:cNvSpPr>
            <a:spLocks xmlns:a="http://schemas.openxmlformats.org/drawingml/2006/main" noGrp="1"/>
          </p:cNvSpPr>
          <p:nvPr/>
        </p:nvSpPr>
        <p:spPr>
          <a:xfrm xmlns:a="http://schemas.openxmlformats.org/drawingml/2006/main">
            <a:off x="7620000" y="28575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5FC12982-D671-4EA0-AE77-9650B1E1C2A9}"/>
              </a:ext>
            </a:extLst>
          </p:cNvPr>
          <p:cNvSpPr>
            <a:spLocks xmlns:a="http://schemas.openxmlformats.org/drawingml/2006/main" noGrp="1"/>
          </p:cNvSpPr>
          <p:nvPr/>
        </p:nvSpPr>
        <p:spPr>
          <a:xfrm xmlns:a="http://schemas.openxmlformats.org/drawingml/2006/main">
            <a:off x="7620000" y="414337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buNone/>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5FDDA82-8B07-4A04-AD17-D468FA0C9F32}"/>
              </a:ext>
            </a:extLst>
          </p:cNvPr>
          <p:cNvSpPr>
            <a:spLocks xmlns:a="http://schemas.openxmlformats.org/drawingml/2006/main" noGrp="1"/>
          </p:cNvSpPr>
          <p:nvPr/>
        </p:nvSpPr>
        <p:spPr>
          <a:xfrm xmlns:a="http://schemas.openxmlformats.org/drawingml/2006/main">
            <a:off x="8572500" y="238125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B6360B-D99A-415E-94F1-CE539572B39E}"/>
              </a:ext>
            </a:extLst>
          </p:cNvPr>
          <p:cNvSpPr>
            <a:spLocks xmlns:a="http://schemas.openxmlformats.org/drawingml/2006/main" noGrp="1"/>
          </p:cNvSpPr>
          <p:nvPr/>
        </p:nvSpPr>
        <p:spPr>
          <a:xfrm xmlns:a="http://schemas.openxmlformats.org/drawingml/2006/main">
            <a:off x="8572500" y="238125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D00780D-A2B3-4EE9-95D0-B4526D2B0542}"/>
              </a:ext>
            </a:extLst>
          </p:cNvPr>
          <p:cNvSpPr>
            <a:spLocks xmlns:a="http://schemas.openxmlformats.org/drawingml/2006/main" noGrp="1"/>
          </p:cNvSpPr>
          <p:nvPr/>
        </p:nvSpPr>
        <p:spPr>
          <a:xfrm xmlns:a="http://schemas.openxmlformats.org/drawingml/2006/main">
            <a:off x="8763000" y="249555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27" name="">
            <a:extLst xmlns:a="http://schemas.openxmlformats.org/drawingml/2006/main">
              <a:ext uri="{FF2B5EF4-FFF2-40B4-BE49-F238E27FC236}">
                <a16:creationId xmlns:a16="http://schemas.microsoft.com/office/drawing/2014/main" id="{518D19EE-7414-4BD1-A9F5-072381EA1299}"/>
              </a:ext>
            </a:extLst>
          </p:cNvPr>
          <p:cNvSpPr>
            <a:spLocks xmlns:a="http://schemas.openxmlformats.org/drawingml/2006/main" noGrp="1"/>
          </p:cNvSpPr>
          <p:nvPr/>
        </p:nvSpPr>
        <p:spPr>
          <a:xfrm xmlns:a="http://schemas.openxmlformats.org/drawingml/2006/main">
            <a:off x="8763000" y="28765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9CB1C5"/>
                </a:solidFill>
                <a:latin typeface="Arial"/>
                <a:ea typeface="Arial"/>
                <a:cs typeface="Arial"/>
              </a:defRPr>
            </a:pPr>
            <a:r>
              <a:rPr sz="1125" b="0">
                <a:solidFill>
                  <a:srgbClr val="9CB1C5"/>
                </a:solidFill>
                <a:latin typeface="Arial"/>
                <a:ea typeface="Arial"/>
                <a:cs typeface="Arial"/>
              </a:rPr>
              <a:t>sortie commune</a:t>
            </a:r>
          </a:p>
        </p:txBody>
      </p:sp>
      <p:sp>
        <p:nvSpPr>
          <p:cNvPr id="28" name="">
            <a:extLst xmlns:a="http://schemas.openxmlformats.org/drawingml/2006/main">
              <a:ext uri="{FF2B5EF4-FFF2-40B4-BE49-F238E27FC236}">
                <a16:creationId xmlns:a16="http://schemas.microsoft.com/office/drawing/2014/main" id="{6FB9EBFE-B1D2-450B-B1DA-A8E22F7DB75B}"/>
              </a:ext>
            </a:extLst>
          </p:cNvPr>
          <p:cNvSpPr>
            <a:spLocks xmlns:a="http://schemas.openxmlformats.org/drawingml/2006/main" noGrp="1"/>
          </p:cNvSpPr>
          <p:nvPr/>
        </p:nvSpPr>
        <p:spPr>
          <a:xfrm xmlns:a="http://schemas.openxmlformats.org/drawingml/2006/main">
            <a:off x="3238500" y="55721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EEF6FF"/>
                </a:solidFill>
                <a:latin typeface="Arial"/>
                <a:ea typeface="Arial"/>
                <a:cs typeface="Arial"/>
              </a:defRPr>
            </a:pPr>
            <a:r>
              <a:rPr sz="1800" b="1">
                <a:solidFill>
                  <a:srgbClr val="EEF6FF"/>
                </a:solidFill>
                <a:latin typeface="Arial"/>
                <a:ea typeface="Arial"/>
                <a:cs typeface="Arial"/>
              </a:rPr>
              <a:t>docker compose up --scale analytics=3</a:t>
            </a:r>
          </a:p>
        </p:txBody>
      </p:sp>
    </p:spTree>
    <p:extLst>
      <p:ext uri="{BB962C8B-B14F-4D97-AF65-F5344CB8AC3E}">
        <p14:creationId xmlns:p14="http://schemas.microsoft.com/office/powerpoint/2010/main" val="447893403"/>
      </p:ext>
    </p:extLst>
  </p:cSld>
</p:sld>
</file>

<file path=ppt/slides/slide2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FBC106-E435-4B25-B60F-0F761EBE0DD8}"/>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Observabilité du pipeline</a:t>
            </a:r>
          </a:p>
        </p:txBody>
      </p:sp>
      <p:sp>
        <p:nvSpPr>
          <p:cNvPr id="2" name="">
            <a:extLst xmlns:a="http://schemas.openxmlformats.org/drawingml/2006/main">
              <a:ext uri="{FF2B5EF4-FFF2-40B4-BE49-F238E27FC236}">
                <a16:creationId xmlns:a16="http://schemas.microsoft.com/office/drawing/2014/main" id="{6D40B9B4-BAB2-489B-B9CC-B9270F42233F}"/>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CE05D493-3BD9-4BBD-80B3-B11DAF77B8C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73B8AA-86D7-4194-BFEE-BA807333DC72}"/>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THROUGHPUT</a:t>
            </a:r>
          </a:p>
        </p:txBody>
      </p:sp>
      <p:sp>
        <p:nvSpPr>
          <p:cNvPr id="5" name="">
            <a:extLst xmlns:a="http://schemas.openxmlformats.org/drawingml/2006/main">
              <a:ext uri="{FF2B5EF4-FFF2-40B4-BE49-F238E27FC236}">
                <a16:creationId xmlns:a16="http://schemas.microsoft.com/office/drawing/2014/main" id="{41F5AF5A-51A0-49BC-A66D-D4EDCE4D1CB0}"/>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C3F87D-7F18-48E6-8931-BFF4959D8FC3}"/>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Articles stockés par heure et par source</a:t>
            </a:r>
          </a:p>
        </p:txBody>
      </p:sp>
      <p:sp>
        <p:nvSpPr>
          <p:cNvPr id="7" name="">
            <a:extLst xmlns:a="http://schemas.openxmlformats.org/drawingml/2006/main">
              <a:ext uri="{FF2B5EF4-FFF2-40B4-BE49-F238E27FC236}">
                <a16:creationId xmlns:a16="http://schemas.microsoft.com/office/drawing/2014/main" id="{9923866C-90E6-45D7-A584-BA7672EF7EFC}"/>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LATENCE</a:t>
            </a:r>
          </a:p>
        </p:txBody>
      </p:sp>
      <p:sp>
        <p:nvSpPr>
          <p:cNvPr id="8" name="">
            <a:extLst xmlns:a="http://schemas.openxmlformats.org/drawingml/2006/main">
              <a:ext uri="{FF2B5EF4-FFF2-40B4-BE49-F238E27FC236}">
                <a16:creationId xmlns:a16="http://schemas.microsoft.com/office/drawing/2014/main" id="{15BF448C-6761-4D84-9353-FAD30D2F37FE}"/>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22A157-A5F2-4B11-B412-CD179B6FC617}"/>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Moyenne entre collecte et stockage</a:t>
            </a:r>
          </a:p>
        </p:txBody>
      </p:sp>
      <p:sp>
        <p:nvSpPr>
          <p:cNvPr id="10" name="">
            <a:extLst xmlns:a="http://schemas.openxmlformats.org/drawingml/2006/main">
              <a:ext uri="{FF2B5EF4-FFF2-40B4-BE49-F238E27FC236}">
                <a16:creationId xmlns:a16="http://schemas.microsoft.com/office/drawing/2014/main" id="{FF395B38-0432-4DFD-A054-6E7C9DF282C6}"/>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BACKLOG</a:t>
            </a:r>
          </a:p>
        </p:txBody>
      </p:sp>
      <p:sp>
        <p:nvSpPr>
          <p:cNvPr id="11" name="">
            <a:extLst xmlns:a="http://schemas.openxmlformats.org/drawingml/2006/main">
              <a:ext uri="{FF2B5EF4-FFF2-40B4-BE49-F238E27FC236}">
                <a16:creationId xmlns:a16="http://schemas.microsoft.com/office/drawing/2014/main" id="{4D517212-FC4A-47B5-AA01-57674AB9A92A}"/>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AB40C8-F3FB-41D2-85BD-7B0CE8E4B12D}"/>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Messages prêts et non acquittés dans RabbitMQ</a:t>
            </a:r>
          </a:p>
        </p:txBody>
      </p:sp>
      <p:sp>
        <p:nvSpPr>
          <p:cNvPr id="13" name="">
            <a:extLst xmlns:a="http://schemas.openxmlformats.org/drawingml/2006/main">
              <a:ext uri="{FF2B5EF4-FFF2-40B4-BE49-F238E27FC236}">
                <a16:creationId xmlns:a16="http://schemas.microsoft.com/office/drawing/2014/main" id="{95E9E742-3C6B-45B1-801C-7F92D7E42784}"/>
              </a:ext>
            </a:extLst>
          </p:cNvPr>
          <p:cNvSpPr>
            <a:spLocks xmlns:a="http://schemas.openxmlformats.org/drawingml/2006/main" noGrp="1"/>
          </p:cNvSpPr>
          <p:nvPr/>
        </p:nvSpPr>
        <p:spPr>
          <a:xfrm xmlns:a="http://schemas.openxmlformats.org/drawingml/2006/main">
            <a:off x="2762250" y="53816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175" b="1">
                <a:solidFill>
                  <a:srgbClr val="EEF6FF"/>
                </a:solidFill>
                <a:latin typeface="Arial"/>
                <a:ea typeface="Arial"/>
                <a:cs typeface="Arial"/>
              </a:defRPr>
            </a:pPr>
            <a:r>
              <a:rPr sz="2175" b="1">
                <a:solidFill>
                  <a:srgbClr val="EEF6FF"/>
                </a:solidFill>
                <a:latin typeface="Arial"/>
                <a:ea typeface="Arial"/>
                <a:cs typeface="Arial"/>
              </a:rPr>
              <a:t>Mesurer avant de dimensionner</a:t>
            </a:r>
          </a:p>
        </p:txBody>
      </p:sp>
    </p:spTree>
    <p:extLst>
      <p:ext uri="{BB962C8B-B14F-4D97-AF65-F5344CB8AC3E}">
        <p14:creationId xmlns:p14="http://schemas.microsoft.com/office/powerpoint/2010/main" val="1823538710"/>
      </p:ext>
    </p:extLst>
  </p:cSld>
</p:sld>
</file>

<file path=ppt/slides/slide2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58A3955-C3F5-4F58-ABF7-D43E5BD33B17}"/>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Lecture Big Data</a:t>
            </a:r>
          </a:p>
        </p:txBody>
      </p:sp>
      <p:sp>
        <p:nvSpPr>
          <p:cNvPr id="2" name="">
            <a:extLst xmlns:a="http://schemas.openxmlformats.org/drawingml/2006/main">
              <a:ext uri="{FF2B5EF4-FFF2-40B4-BE49-F238E27FC236}">
                <a16:creationId xmlns:a16="http://schemas.microsoft.com/office/drawing/2014/main" id="{56FE9D6A-BB08-4AB2-9881-C08E0F48CBA5}"/>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6D7964C2-7852-493C-9A71-721E19A1128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0A90A2-D2B8-4BBC-A15A-6A338E991F28}"/>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6B75"/>
                </a:solidFill>
                <a:latin typeface="Arial"/>
                <a:ea typeface="Arial"/>
                <a:cs typeface="Arial"/>
              </a:defRPr>
            </a:pPr>
            <a:r>
              <a:rPr sz="1425" b="1">
                <a:solidFill>
                  <a:srgbClr val="FF6B75"/>
                </a:solidFill>
                <a:latin typeface="Arial"/>
                <a:ea typeface="Arial"/>
                <a:cs typeface="Arial"/>
              </a:rPr>
              <a:t>VOLUME</a:t>
            </a:r>
          </a:p>
        </p:txBody>
      </p:sp>
      <p:sp>
        <p:nvSpPr>
          <p:cNvPr id="5" name="">
            <a:extLst xmlns:a="http://schemas.openxmlformats.org/drawingml/2006/main">
              <a:ext uri="{FF2B5EF4-FFF2-40B4-BE49-F238E27FC236}">
                <a16:creationId xmlns:a16="http://schemas.microsoft.com/office/drawing/2014/main" id="{23CD94A9-0F50-4C14-AC54-1C5A10249ED2}"/>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272C0E-ACB4-4A2D-892F-73E1DC160132}"/>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Faible dans la démonstration</a:t>
            </a:r>
          </a:p>
        </p:txBody>
      </p:sp>
      <p:sp>
        <p:nvSpPr>
          <p:cNvPr id="7" name="">
            <a:extLst xmlns:a="http://schemas.openxmlformats.org/drawingml/2006/main">
              <a:ext uri="{FF2B5EF4-FFF2-40B4-BE49-F238E27FC236}">
                <a16:creationId xmlns:a16="http://schemas.microsoft.com/office/drawing/2014/main" id="{ECE27D03-CA4A-46AB-88FF-77F72B954BB4}"/>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VÉLOCITÉ</a:t>
            </a:r>
          </a:p>
        </p:txBody>
      </p:sp>
      <p:sp>
        <p:nvSpPr>
          <p:cNvPr id="8" name="">
            <a:extLst xmlns:a="http://schemas.openxmlformats.org/drawingml/2006/main">
              <a:ext uri="{FF2B5EF4-FFF2-40B4-BE49-F238E27FC236}">
                <a16:creationId xmlns:a16="http://schemas.microsoft.com/office/drawing/2014/main" id="{7E895AA4-E19B-4FFA-A707-9D516ED0BC2D}"/>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7BB03F-1D52-4307-A321-A38EB2C6D07A}"/>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Flux continu et traitement en ligne</a:t>
            </a:r>
          </a:p>
        </p:txBody>
      </p:sp>
      <p:sp>
        <p:nvSpPr>
          <p:cNvPr id="10" name="">
            <a:extLst xmlns:a="http://schemas.openxmlformats.org/drawingml/2006/main">
              <a:ext uri="{FF2B5EF4-FFF2-40B4-BE49-F238E27FC236}">
                <a16:creationId xmlns:a16="http://schemas.microsoft.com/office/drawing/2014/main" id="{2C2098ED-6A06-4196-BA8B-3007D61596F7}"/>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FFB454"/>
                </a:solidFill>
                <a:latin typeface="Arial"/>
                <a:ea typeface="Arial"/>
                <a:cs typeface="Arial"/>
              </a:defRPr>
            </a:pPr>
            <a:r>
              <a:rPr sz="1425" b="1">
                <a:solidFill>
                  <a:srgbClr val="FFB454"/>
                </a:solidFill>
                <a:latin typeface="Arial"/>
                <a:ea typeface="Arial"/>
                <a:cs typeface="Arial"/>
              </a:rPr>
              <a:t>VARIÉTÉ</a:t>
            </a:r>
          </a:p>
        </p:txBody>
      </p:sp>
      <p:sp>
        <p:nvSpPr>
          <p:cNvPr id="11" name="">
            <a:extLst xmlns:a="http://schemas.openxmlformats.org/drawingml/2006/main">
              <a:ext uri="{FF2B5EF4-FFF2-40B4-BE49-F238E27FC236}">
                <a16:creationId xmlns:a16="http://schemas.microsoft.com/office/drawing/2014/main" id="{B00A709E-39A8-4465-92F1-983DF8EDF98D}"/>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57B2EB-76F2-4D96-841D-346738A23B1D}"/>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Plusieurs sources, format RSS commun</a:t>
            </a:r>
          </a:p>
        </p:txBody>
      </p:sp>
      <p:sp>
        <p:nvSpPr>
          <p:cNvPr id="13" name="">
            <a:extLst xmlns:a="http://schemas.openxmlformats.org/drawingml/2006/main">
              <a:ext uri="{FF2B5EF4-FFF2-40B4-BE49-F238E27FC236}">
                <a16:creationId xmlns:a16="http://schemas.microsoft.com/office/drawing/2014/main" id="{FCBFD04C-34BD-4ED1-9D75-AF19EF01CEBD}"/>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438BFF"/>
                </a:solidFill>
                <a:latin typeface="Arial"/>
                <a:ea typeface="Arial"/>
                <a:cs typeface="Arial"/>
              </a:defRPr>
            </a:pPr>
            <a:r>
              <a:rPr sz="1425" b="1">
                <a:solidFill>
                  <a:srgbClr val="438BFF"/>
                </a:solidFill>
                <a:latin typeface="Arial"/>
                <a:ea typeface="Arial"/>
                <a:cs typeface="Arial"/>
              </a:rPr>
              <a:t>VÉRACITÉ</a:t>
            </a:r>
          </a:p>
        </p:txBody>
      </p:sp>
      <p:sp>
        <p:nvSpPr>
          <p:cNvPr id="14" name="">
            <a:extLst xmlns:a="http://schemas.openxmlformats.org/drawingml/2006/main">
              <a:ext uri="{FF2B5EF4-FFF2-40B4-BE49-F238E27FC236}">
                <a16:creationId xmlns:a16="http://schemas.microsoft.com/office/drawing/2014/main" id="{AC2D6527-A30C-49BF-9A35-BEC6F17BD3CE}"/>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43BA96-14C5-494C-8CF2-443159CE90AC}"/>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Normalisation, déduplication et DLQ</a:t>
            </a:r>
          </a:p>
        </p:txBody>
      </p:sp>
      <p:sp>
        <p:nvSpPr>
          <p:cNvPr id="16" name="">
            <a:extLst xmlns:a="http://schemas.openxmlformats.org/drawingml/2006/main">
              <a:ext uri="{FF2B5EF4-FFF2-40B4-BE49-F238E27FC236}">
                <a16:creationId xmlns:a16="http://schemas.microsoft.com/office/drawing/2014/main" id="{F32C727F-BA3D-4D96-B893-CA9877150058}"/>
              </a:ext>
            </a:extLst>
          </p:cNvPr>
          <p:cNvSpPr>
            <a:spLocks xmlns:a="http://schemas.openxmlformats.org/drawingml/2006/main" noGrp="1"/>
          </p:cNvSpPr>
          <p:nvPr/>
        </p:nvSpPr>
        <p:spPr>
          <a:xfrm xmlns:a="http://schemas.openxmlformats.org/drawingml/2006/main">
            <a:off x="762000" y="47625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2ED3C6"/>
                </a:solidFill>
                <a:latin typeface="Arial"/>
                <a:ea typeface="Arial"/>
                <a:cs typeface="Arial"/>
              </a:defRPr>
            </a:pPr>
            <a:r>
              <a:rPr sz="1425" b="1">
                <a:solidFill>
                  <a:srgbClr val="2ED3C6"/>
                </a:solidFill>
                <a:latin typeface="Arial"/>
                <a:ea typeface="Arial"/>
                <a:cs typeface="Arial"/>
              </a:rPr>
              <a:t>VALEUR</a:t>
            </a:r>
          </a:p>
        </p:txBody>
      </p:sp>
      <p:sp>
        <p:nvSpPr>
          <p:cNvPr id="17" name="">
            <a:extLst xmlns:a="http://schemas.openxmlformats.org/drawingml/2006/main">
              <a:ext uri="{FF2B5EF4-FFF2-40B4-BE49-F238E27FC236}">
                <a16:creationId xmlns:a16="http://schemas.microsoft.com/office/drawing/2014/main" id="{1BA0C939-1D99-41C1-9DBC-ADDB23001239}"/>
              </a:ext>
            </a:extLst>
          </p:cNvPr>
          <p:cNvSpPr>
            <a:spLocks xmlns:a="http://schemas.openxmlformats.org/drawingml/2006/main" noGrp="1"/>
          </p:cNvSpPr>
          <p:nvPr/>
        </p:nvSpPr>
        <p:spPr>
          <a:xfrm xmlns:a="http://schemas.openxmlformats.org/drawingml/2006/main">
            <a:off x="3429000" y="49339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12DA38-AEDE-496F-AE51-BCBBA57B0F69}"/>
              </a:ext>
            </a:extLst>
          </p:cNvPr>
          <p:cNvSpPr>
            <a:spLocks xmlns:a="http://schemas.openxmlformats.org/drawingml/2006/main" noGrp="1"/>
          </p:cNvSpPr>
          <p:nvPr/>
        </p:nvSpPr>
        <p:spPr>
          <a:xfrm xmlns:a="http://schemas.openxmlformats.org/drawingml/2006/main">
            <a:off x="4381500" y="47434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0">
                <a:solidFill>
                  <a:srgbClr val="EEF6FF"/>
                </a:solidFill>
                <a:latin typeface="Arial"/>
                <a:ea typeface="Arial"/>
                <a:cs typeface="Arial"/>
              </a:defRPr>
            </a:pPr>
            <a:r>
              <a:rPr sz="1800" b="0">
                <a:solidFill>
                  <a:srgbClr val="EEF6FF"/>
                </a:solidFill>
                <a:latin typeface="Arial"/>
                <a:ea typeface="Arial"/>
                <a:cs typeface="Arial"/>
              </a:rPr>
              <a:t>Indicateurs temporels exploitables</a:t>
            </a:r>
          </a:p>
        </p:txBody>
      </p:sp>
      <p:sp>
        <p:nvSpPr>
          <p:cNvPr id="19" name="">
            <a:extLst xmlns:a="http://schemas.openxmlformats.org/drawingml/2006/main">
              <a:ext uri="{FF2B5EF4-FFF2-40B4-BE49-F238E27FC236}">
                <a16:creationId xmlns:a16="http://schemas.microsoft.com/office/drawing/2014/main" id="{B8D53260-1676-4F17-A9C1-CE871BCCBADF}"/>
              </a:ext>
            </a:extLst>
          </p:cNvPr>
          <p:cNvSpPr>
            <a:spLocks xmlns:a="http://schemas.openxmlformats.org/drawingml/2006/main" noGrp="1"/>
          </p:cNvSpPr>
          <p:nvPr/>
        </p:nvSpPr>
        <p:spPr>
          <a:xfrm xmlns:a="http://schemas.openxmlformats.org/drawingml/2006/main">
            <a:off x="1619250" y="57626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EEF6FF"/>
                </a:solidFill>
                <a:latin typeface="Arial"/>
                <a:ea typeface="Arial"/>
                <a:cs typeface="Arial"/>
              </a:defRPr>
            </a:pPr>
            <a:r>
              <a:rPr sz="1800" b="1">
                <a:solidFill>
                  <a:srgbClr val="EEF6FF"/>
                </a:solidFill>
                <a:latin typeface="Arial"/>
                <a:ea typeface="Arial"/>
                <a:cs typeface="Arial"/>
              </a:rPr>
              <a:t>Architecture Big Data crédible, échelle encore à prouver</a:t>
            </a:r>
          </a:p>
        </p:txBody>
      </p:sp>
    </p:spTree>
    <p:extLst>
      <p:ext uri="{BB962C8B-B14F-4D97-AF65-F5344CB8AC3E}">
        <p14:creationId xmlns:p14="http://schemas.microsoft.com/office/powerpoint/2010/main" val="1672397866"/>
      </p:ext>
    </p:extLst>
  </p:cSld>
</p:sld>
</file>

<file path=ppt/slides/slide2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A9BFA8-3F4D-4775-87EC-9D01130355DF}"/>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Limites connues</a:t>
            </a:r>
          </a:p>
        </p:txBody>
      </p:sp>
      <p:sp>
        <p:nvSpPr>
          <p:cNvPr id="2" name="">
            <a:extLst xmlns:a="http://schemas.openxmlformats.org/drawingml/2006/main">
              <a:ext uri="{FF2B5EF4-FFF2-40B4-BE49-F238E27FC236}">
                <a16:creationId xmlns:a16="http://schemas.microsoft.com/office/drawing/2014/main" id="{C19FB0CF-6836-44C1-B604-2B2834C5D351}"/>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E5CEAE0F-5073-4C2D-8B34-44DFECD464E8}"/>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F3B077-C5E5-44E5-AFD2-2B1213B57AD1}"/>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6B75"/>
                </a:solidFill>
                <a:latin typeface="Arial"/>
                <a:ea typeface="Arial"/>
                <a:cs typeface="Arial"/>
              </a:defRPr>
            </a:pPr>
            <a:r>
              <a:rPr sz="1125" b="1">
                <a:solidFill>
                  <a:srgbClr val="FF6B75"/>
                </a:solidFill>
                <a:latin typeface="Arial"/>
                <a:ea typeface="Arial"/>
                <a:cs typeface="Arial"/>
              </a:rPr>
              <a:t>INFRASTRUCTURE</a:t>
            </a:r>
          </a:p>
        </p:txBody>
      </p:sp>
      <p:sp>
        <p:nvSpPr>
          <p:cNvPr id="5" name="">
            <a:extLst xmlns:a="http://schemas.openxmlformats.org/drawingml/2006/main">
              <a:ext uri="{FF2B5EF4-FFF2-40B4-BE49-F238E27FC236}">
                <a16:creationId xmlns:a16="http://schemas.microsoft.com/office/drawing/2014/main" id="{4B81DA77-DE6F-4B5C-879A-BD8AA67B117B}"/>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860744-8ABA-4FB8-922D-BA769979042A}"/>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RabbitMQ et MySQL restent des points uniques de panne</a:t>
            </a:r>
          </a:p>
        </p:txBody>
      </p:sp>
      <p:sp>
        <p:nvSpPr>
          <p:cNvPr id="7" name="">
            <a:extLst xmlns:a="http://schemas.openxmlformats.org/drawingml/2006/main">
              <a:ext uri="{FF2B5EF4-FFF2-40B4-BE49-F238E27FC236}">
                <a16:creationId xmlns:a16="http://schemas.microsoft.com/office/drawing/2014/main" id="{91645606-F583-43B7-83F9-DB0737EA75E0}"/>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DONNÉES</a:t>
            </a:r>
          </a:p>
        </p:txBody>
      </p:sp>
      <p:sp>
        <p:nvSpPr>
          <p:cNvPr id="8" name="">
            <a:extLst xmlns:a="http://schemas.openxmlformats.org/drawingml/2006/main">
              <a:ext uri="{FF2B5EF4-FFF2-40B4-BE49-F238E27FC236}">
                <a16:creationId xmlns:a16="http://schemas.microsoft.com/office/drawing/2014/main" id="{0B129145-744F-4DA2-8D93-076C4EAC533E}"/>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C041888-9900-4B1C-ABFE-5EA543F6CC4F}"/>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Deux RSS et un volume de démonstration limité</a:t>
            </a:r>
          </a:p>
        </p:txBody>
      </p:sp>
      <p:sp>
        <p:nvSpPr>
          <p:cNvPr id="10" name="">
            <a:extLst xmlns:a="http://schemas.openxmlformats.org/drawingml/2006/main">
              <a:ext uri="{FF2B5EF4-FFF2-40B4-BE49-F238E27FC236}">
                <a16:creationId xmlns:a16="http://schemas.microsoft.com/office/drawing/2014/main" id="{A1548186-2EA0-44FC-A8E2-14420E1D8A23}"/>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ANALYSE</a:t>
            </a:r>
          </a:p>
        </p:txBody>
      </p:sp>
      <p:sp>
        <p:nvSpPr>
          <p:cNvPr id="11" name="">
            <a:extLst xmlns:a="http://schemas.openxmlformats.org/drawingml/2006/main">
              <a:ext uri="{FF2B5EF4-FFF2-40B4-BE49-F238E27FC236}">
                <a16:creationId xmlns:a16="http://schemas.microsoft.com/office/drawing/2014/main" id="{5F96D955-29B7-43CB-9331-AF544EB26026}"/>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FA1A52-6B36-4567-A42E-4D631D3AE4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Le lexique comprend mal le contexte complexe</a:t>
            </a:r>
          </a:p>
        </p:txBody>
      </p:sp>
      <p:sp>
        <p:nvSpPr>
          <p:cNvPr id="13" name="">
            <a:extLst xmlns:a="http://schemas.openxmlformats.org/drawingml/2006/main">
              <a:ext uri="{FF2B5EF4-FFF2-40B4-BE49-F238E27FC236}">
                <a16:creationId xmlns:a16="http://schemas.microsoft.com/office/drawing/2014/main" id="{6B5938FD-9661-48DB-BCAE-6A788EBBD812}"/>
              </a:ext>
            </a:extLst>
          </p:cNvPr>
          <p:cNvSpPr>
            <a:spLocks xmlns:a="http://schemas.openxmlformats.org/drawingml/2006/main" noGrp="1"/>
          </p:cNvSpPr>
          <p:nvPr/>
        </p:nvSpPr>
        <p:spPr>
          <a:xfrm xmlns:a="http://schemas.openxmlformats.org/drawingml/2006/main">
            <a:off x="1285875" y="538162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9CB1C5"/>
                </a:solidFill>
                <a:latin typeface="Arial"/>
                <a:ea typeface="Arial"/>
                <a:cs typeface="Arial"/>
              </a:defRPr>
            </a:pPr>
            <a:r>
              <a:rPr sz="1725" b="1">
                <a:solidFill>
                  <a:srgbClr val="9CB1C5"/>
                </a:solidFill>
                <a:latin typeface="Arial"/>
                <a:ea typeface="Arial"/>
                <a:cs typeface="Arial"/>
              </a:rPr>
              <a:t>Les limites définissent les prochains tests, pas des promesses</a:t>
            </a:r>
          </a:p>
        </p:txBody>
      </p:sp>
    </p:spTree>
    <p:extLst>
      <p:ext uri="{BB962C8B-B14F-4D97-AF65-F5344CB8AC3E}">
        <p14:creationId xmlns:p14="http://schemas.microsoft.com/office/powerpoint/2010/main" val="1063237984"/>
      </p:ext>
    </p:extLst>
  </p:cSld>
</p:sld>
</file>

<file path=ppt/slides/slide2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84F4498-D4B8-4470-ACB5-A55BD48DDE6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Démonstration et trajectoire</a:t>
            </a:r>
          </a:p>
        </p:txBody>
      </p:sp>
      <p:sp>
        <p:nvSpPr>
          <p:cNvPr id="2" name="">
            <a:extLst xmlns:a="http://schemas.openxmlformats.org/drawingml/2006/main">
              <a:ext uri="{FF2B5EF4-FFF2-40B4-BE49-F238E27FC236}">
                <a16:creationId xmlns:a16="http://schemas.microsoft.com/office/drawing/2014/main" id="{1272CDBA-58CD-4168-B959-0594715381DF}"/>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71F95388-6D36-47E1-9059-67C6D5FEF12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96828E-131C-4A1D-A3CB-4D7896BC283E}"/>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MAINTENANT</a:t>
            </a:r>
          </a:p>
        </p:txBody>
      </p:sp>
      <p:sp>
        <p:nvSpPr>
          <p:cNvPr id="5" name="">
            <a:extLst xmlns:a="http://schemas.openxmlformats.org/drawingml/2006/main">
              <a:ext uri="{FF2B5EF4-FFF2-40B4-BE49-F238E27FC236}">
                <a16:creationId xmlns:a16="http://schemas.microsoft.com/office/drawing/2014/main" id="{B577BE6B-80BF-472D-8699-E7A50740D115}"/>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5E0278-77D8-4CAB-965C-A43D90B5538C}"/>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Services actifs</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Queues et DLQ</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Dashboard Grafana</a:t>
            </a:r>
          </a:p>
        </p:txBody>
      </p:sp>
      <p:sp>
        <p:nvSpPr>
          <p:cNvPr id="7" name="">
            <a:extLst xmlns:a="http://schemas.openxmlformats.org/drawingml/2006/main">
              <a:ext uri="{FF2B5EF4-FFF2-40B4-BE49-F238E27FC236}">
                <a16:creationId xmlns:a16="http://schemas.microsoft.com/office/drawing/2014/main" id="{F600E4E7-E532-48C7-880E-2E2CAB2C1578}"/>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MONTÉE EN CHARGE</a:t>
            </a:r>
          </a:p>
        </p:txBody>
      </p:sp>
      <p:sp>
        <p:nvSpPr>
          <p:cNvPr id="8" name="">
            <a:extLst xmlns:a="http://schemas.openxmlformats.org/drawingml/2006/main">
              <a:ext uri="{FF2B5EF4-FFF2-40B4-BE49-F238E27FC236}">
                <a16:creationId xmlns:a16="http://schemas.microsoft.com/office/drawing/2014/main" id="{360AD11F-87F0-4D22-999C-1622C69E70B6}"/>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D1FF954-E59B-4265-89E3-73D9B035AA7F}"/>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Trois workers Analytics</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Répartition des consumers</a:t>
            </a:r>
          </a:p>
        </p:txBody>
      </p:sp>
      <p:sp>
        <p:nvSpPr>
          <p:cNvPr id="10" name="">
            <a:extLst xmlns:a="http://schemas.openxmlformats.org/drawingml/2006/main">
              <a:ext uri="{FF2B5EF4-FFF2-40B4-BE49-F238E27FC236}">
                <a16:creationId xmlns:a16="http://schemas.microsoft.com/office/drawing/2014/main" id="{3D586A3D-FF89-49A1-8381-BAE662C04C9A}"/>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ÉTAPE SUIVANTE</a:t>
            </a:r>
          </a:p>
        </p:txBody>
      </p:sp>
      <p:sp>
        <p:nvSpPr>
          <p:cNvPr id="11" name="">
            <a:extLst xmlns:a="http://schemas.openxmlformats.org/drawingml/2006/main">
              <a:ext uri="{FF2B5EF4-FFF2-40B4-BE49-F238E27FC236}">
                <a16:creationId xmlns:a16="http://schemas.microsoft.com/office/drawing/2014/main" id="{60159998-BB33-4B8C-9DF5-0972DAF74FB2}"/>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9C3924-F813-4768-8614-3D8B0B52B627}"/>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Générateur de charge</a:t>
            </a:r>
          </a:p>
          <a:p xmlns:a="http://schemas.openxmlformats.org/drawingml/2006/main">
            <a:pPr algn="l">
              <a:buNone/>
              <a:defRPr sz="1650" b="0">
                <a:solidFill>
                  <a:srgbClr val="EEF6FF"/>
                </a:solidFill>
                <a:latin typeface="Arial"/>
                <a:ea typeface="Arial"/>
                <a:cs typeface="Arial"/>
              </a:defRPr>
            </a:pPr>
            <a:r>
              <a:rPr sz="1650" b="0">
                <a:solidFill>
                  <a:srgbClr val="EEF6FF"/>
                </a:solidFill>
                <a:latin typeface="Arial"/>
                <a:ea typeface="Arial"/>
                <a:cs typeface="Arial"/>
              </a:rPr>
              <a:t>Mesures comparatives</a:t>
            </a:r>
          </a:p>
        </p:txBody>
      </p:sp>
      <p:sp>
        <p:nvSpPr>
          <p:cNvPr id="13" name="">
            <a:extLst xmlns:a="http://schemas.openxmlformats.org/drawingml/2006/main">
              <a:ext uri="{FF2B5EF4-FFF2-40B4-BE49-F238E27FC236}">
                <a16:creationId xmlns:a16="http://schemas.microsoft.com/office/drawing/2014/main" id="{825C8F9E-ABEB-4E9C-BE15-6FEF7A8AC647}"/>
              </a:ext>
            </a:extLst>
          </p:cNvPr>
          <p:cNvSpPr>
            <a:spLocks xmlns:a="http://schemas.openxmlformats.org/drawingml/2006/main" noGrp="1"/>
          </p:cNvSpPr>
          <p:nvPr/>
        </p:nvSpPr>
        <p:spPr>
          <a:xfrm xmlns:a="http://schemas.openxmlformats.org/drawingml/2006/main">
            <a:off x="1428750" y="53816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EEF6FF"/>
                </a:solidFill>
                <a:latin typeface="Arial"/>
                <a:ea typeface="Arial"/>
                <a:cs typeface="Arial"/>
              </a:defRPr>
            </a:pPr>
            <a:r>
              <a:rPr sz="1725" b="1">
                <a:solidFill>
                  <a:srgbClr val="EEF6FF"/>
                </a:solidFill>
                <a:latin typeface="Arial"/>
                <a:ea typeface="Arial"/>
                <a:cs typeface="Arial"/>
              </a:rPr>
              <a:t>Plan B : captures RabbitMQ et Grafana disponibles hors ligne</a:t>
            </a:r>
          </a:p>
        </p:txBody>
      </p:sp>
    </p:spTree>
    <p:extLst>
      <p:ext uri="{BB962C8B-B14F-4D97-AF65-F5344CB8AC3E}">
        <p14:creationId xmlns:p14="http://schemas.microsoft.com/office/powerpoint/2010/main" val="2067882318"/>
      </p:ext>
    </p:extLst>
  </p:cSld>
</p:sld>
</file>

<file path=ppt/slides/slide2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0A4EEC-FDD7-4BDF-91B2-B65DF2FE28F3}"/>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550" b="1">
                <a:solidFill>
                  <a:srgbClr val="EEF6FF"/>
                </a:solidFill>
                <a:latin typeface="Arial"/>
                <a:ea typeface="Arial"/>
                <a:cs typeface="Arial"/>
              </a:defRPr>
            </a:pPr>
            <a:r>
              <a:rPr sz="2550" b="1">
                <a:solidFill>
                  <a:srgbClr val="EEF6FF"/>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6DE34DFF-AE22-45D8-A166-1DE2ED5DAEC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buNone/>
              <a:defRPr sz="1200" b="1">
                <a:solidFill>
                  <a:srgbClr val="9CB1C5"/>
                </a:solidFill>
                <a:latin typeface="Arial"/>
                <a:ea typeface="Arial"/>
                <a:cs typeface="Arial"/>
              </a:defRPr>
            </a:pPr>
            <a:r>
              <a:rPr sz="1200" b="1">
                <a:solidFill>
                  <a:srgbClr val="9CB1C5"/>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210E4C04-B81D-4F17-B0FB-E9FE0E124E3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8FB101-4156-4193-B88A-601B96F92733}"/>
              </a:ext>
            </a:extLst>
          </p:cNvPr>
          <p:cNvSpPr>
            <a:spLocks xmlns:a="http://schemas.openxmlformats.org/drawingml/2006/main" noGrp="1"/>
          </p:cNvSpPr>
          <p:nvPr/>
        </p:nvSpPr>
        <p:spPr>
          <a:xfrm xmlns:a="http://schemas.openxmlformats.org/drawingml/2006/main">
            <a:off x="952500" y="14287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850" b="1">
                <a:solidFill>
                  <a:srgbClr val="EEF6FF"/>
                </a:solidFill>
                <a:latin typeface="Arial"/>
                <a:ea typeface="Arial"/>
                <a:cs typeface="Arial"/>
              </a:defRPr>
            </a:pPr>
            <a:r>
              <a:rPr sz="2850" b="1">
                <a:solidFill>
                  <a:srgbClr val="EEF6FF"/>
                </a:solidFill>
                <a:latin typeface="Arial"/>
                <a:ea typeface="Arial"/>
                <a:cs typeface="Arial"/>
              </a:rPr>
              <a:t>Un flux continu devenu observable et maîtrisable</a:t>
            </a:r>
          </a:p>
        </p:txBody>
      </p:sp>
      <p:sp>
        <p:nvSpPr>
          <p:cNvPr id="5" name="">
            <a:extLst xmlns:a="http://schemas.openxmlformats.org/drawingml/2006/main">
              <a:ext uri="{FF2B5EF4-FFF2-40B4-BE49-F238E27FC236}">
                <a16:creationId xmlns:a16="http://schemas.microsoft.com/office/drawing/2014/main" id="{794658B6-883D-4711-9460-552E0CD08F6A}"/>
              </a:ext>
            </a:extLst>
          </p:cNvPr>
          <p:cNvSpPr>
            <a:spLocks xmlns:a="http://schemas.openxmlformats.org/drawingml/2006/main" noGrp="1"/>
          </p:cNvSpPr>
          <p:nvPr/>
        </p:nvSpPr>
        <p:spPr>
          <a:xfrm xmlns:a="http://schemas.openxmlformats.org/drawingml/2006/main">
            <a:off x="6096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2ED3C6"/>
                </a:solidFill>
                <a:latin typeface="Arial"/>
                <a:ea typeface="Arial"/>
                <a:cs typeface="Arial"/>
              </a:defRPr>
            </a:pPr>
            <a:r>
              <a:rPr sz="1125" b="1">
                <a:solidFill>
                  <a:srgbClr val="2ED3C6"/>
                </a:solidFill>
                <a:latin typeface="Arial"/>
                <a:ea typeface="Arial"/>
                <a:cs typeface="Arial"/>
              </a:rPr>
              <a:t>FIABLE</a:t>
            </a:r>
          </a:p>
        </p:txBody>
      </p:sp>
      <p:sp>
        <p:nvSpPr>
          <p:cNvPr id="6" name="">
            <a:extLst xmlns:a="http://schemas.openxmlformats.org/drawingml/2006/main">
              <a:ext uri="{FF2B5EF4-FFF2-40B4-BE49-F238E27FC236}">
                <a16:creationId xmlns:a16="http://schemas.microsoft.com/office/drawing/2014/main" id="{E33BD3AC-A9BE-4B54-BE44-C3AF1F4BDDDE}"/>
              </a:ext>
            </a:extLst>
          </p:cNvPr>
          <p:cNvSpPr>
            <a:spLocks xmlns:a="http://schemas.openxmlformats.org/drawingml/2006/main" noGrp="1"/>
          </p:cNvSpPr>
          <p:nvPr/>
        </p:nvSpPr>
        <p:spPr>
          <a:xfrm xmlns:a="http://schemas.openxmlformats.org/drawingml/2006/main">
            <a:off x="6096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61B55F-BCD2-4C14-93E1-D82FACDEF747}"/>
              </a:ext>
            </a:extLst>
          </p:cNvPr>
          <p:cNvSpPr>
            <a:spLocks xmlns:a="http://schemas.openxmlformats.org/drawingml/2006/main" noGrp="1"/>
          </p:cNvSpPr>
          <p:nvPr/>
        </p:nvSpPr>
        <p:spPr>
          <a:xfrm xmlns:a="http://schemas.openxmlformats.org/drawingml/2006/main">
            <a:off x="8477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ACK, idempotence et dead-letter queues</a:t>
            </a:r>
          </a:p>
        </p:txBody>
      </p:sp>
      <p:sp>
        <p:nvSpPr>
          <p:cNvPr id="8" name="">
            <a:extLst xmlns:a="http://schemas.openxmlformats.org/drawingml/2006/main">
              <a:ext uri="{FF2B5EF4-FFF2-40B4-BE49-F238E27FC236}">
                <a16:creationId xmlns:a16="http://schemas.microsoft.com/office/drawing/2014/main" id="{B73755BB-D4E7-418C-8D46-04B06886EE16}"/>
              </a:ext>
            </a:extLst>
          </p:cNvPr>
          <p:cNvSpPr>
            <a:spLocks xmlns:a="http://schemas.openxmlformats.org/drawingml/2006/main" noGrp="1"/>
          </p:cNvSpPr>
          <p:nvPr/>
        </p:nvSpPr>
        <p:spPr>
          <a:xfrm xmlns:a="http://schemas.openxmlformats.org/drawingml/2006/main">
            <a:off x="43561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438BFF"/>
                </a:solidFill>
                <a:latin typeface="Arial"/>
                <a:ea typeface="Arial"/>
                <a:cs typeface="Arial"/>
              </a:defRPr>
            </a:pPr>
            <a:r>
              <a:rPr sz="1125" b="1">
                <a:solidFill>
                  <a:srgbClr val="438BFF"/>
                </a:solidFill>
                <a:latin typeface="Arial"/>
                <a:ea typeface="Arial"/>
                <a:cs typeface="Arial"/>
              </a:rPr>
              <a:t>EXTENSIBLE</a:t>
            </a:r>
          </a:p>
        </p:txBody>
      </p:sp>
      <p:sp>
        <p:nvSpPr>
          <p:cNvPr id="9" name="">
            <a:extLst xmlns:a="http://schemas.openxmlformats.org/drawingml/2006/main">
              <a:ext uri="{FF2B5EF4-FFF2-40B4-BE49-F238E27FC236}">
                <a16:creationId xmlns:a16="http://schemas.microsoft.com/office/drawing/2014/main" id="{2C7B5C38-98D7-4E0E-B722-0372D3F718B4}"/>
              </a:ext>
            </a:extLst>
          </p:cNvPr>
          <p:cNvSpPr>
            <a:spLocks xmlns:a="http://schemas.openxmlformats.org/drawingml/2006/main" noGrp="1"/>
          </p:cNvSpPr>
          <p:nvPr/>
        </p:nvSpPr>
        <p:spPr>
          <a:xfrm xmlns:a="http://schemas.openxmlformats.org/drawingml/2006/main">
            <a:off x="43561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9FAE13-E017-4F1C-83CA-758CD629DDA7}"/>
              </a:ext>
            </a:extLst>
          </p:cNvPr>
          <p:cNvSpPr>
            <a:spLocks xmlns:a="http://schemas.openxmlformats.org/drawingml/2006/main" noGrp="1"/>
          </p:cNvSpPr>
          <p:nvPr/>
        </p:nvSpPr>
        <p:spPr>
          <a:xfrm xmlns:a="http://schemas.openxmlformats.org/drawingml/2006/main">
            <a:off x="45942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Services découplés et Analytics réplicable</a:t>
            </a:r>
          </a:p>
        </p:txBody>
      </p:sp>
      <p:sp>
        <p:nvSpPr>
          <p:cNvPr id="11" name="">
            <a:extLst xmlns:a="http://schemas.openxmlformats.org/drawingml/2006/main">
              <a:ext uri="{FF2B5EF4-FFF2-40B4-BE49-F238E27FC236}">
                <a16:creationId xmlns:a16="http://schemas.microsoft.com/office/drawing/2014/main" id="{40282003-B124-4788-8C47-F0D8B62D9C3F}"/>
              </a:ext>
            </a:extLst>
          </p:cNvPr>
          <p:cNvSpPr>
            <a:spLocks xmlns:a="http://schemas.openxmlformats.org/drawingml/2006/main" noGrp="1"/>
          </p:cNvSpPr>
          <p:nvPr/>
        </p:nvSpPr>
        <p:spPr>
          <a:xfrm xmlns:a="http://schemas.openxmlformats.org/drawingml/2006/main">
            <a:off x="81026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buNone/>
              <a:defRPr sz="1125" b="1">
                <a:solidFill>
                  <a:srgbClr val="FFB454"/>
                </a:solidFill>
                <a:latin typeface="Arial"/>
                <a:ea typeface="Arial"/>
                <a:cs typeface="Arial"/>
              </a:defRPr>
            </a:pPr>
            <a:r>
              <a:rPr sz="1125" b="1">
                <a:solidFill>
                  <a:srgbClr val="FFB454"/>
                </a:solidFill>
                <a:latin typeface="Arial"/>
                <a:ea typeface="Arial"/>
                <a:cs typeface="Arial"/>
              </a:rPr>
              <a:t>LUCIDE</a:t>
            </a:r>
          </a:p>
        </p:txBody>
      </p:sp>
      <p:sp>
        <p:nvSpPr>
          <p:cNvPr id="12" name="">
            <a:extLst xmlns:a="http://schemas.openxmlformats.org/drawingml/2006/main">
              <a:ext uri="{FF2B5EF4-FFF2-40B4-BE49-F238E27FC236}">
                <a16:creationId xmlns:a16="http://schemas.microsoft.com/office/drawing/2014/main" id="{C850D34C-630C-41EC-B494-76CF2FA4D7D9}"/>
              </a:ext>
            </a:extLst>
          </p:cNvPr>
          <p:cNvSpPr>
            <a:spLocks xmlns:a="http://schemas.openxmlformats.org/drawingml/2006/main" noGrp="1"/>
          </p:cNvSpPr>
          <p:nvPr/>
        </p:nvSpPr>
        <p:spPr>
          <a:xfrm xmlns:a="http://schemas.openxmlformats.org/drawingml/2006/main">
            <a:off x="81026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53A072-CBFB-4CFB-BFA6-65E869DBDA9D}"/>
              </a:ext>
            </a:extLst>
          </p:cNvPr>
          <p:cNvSpPr>
            <a:spLocks xmlns:a="http://schemas.openxmlformats.org/drawingml/2006/main" noGrp="1"/>
          </p:cNvSpPr>
          <p:nvPr/>
        </p:nvSpPr>
        <p:spPr>
          <a:xfrm xmlns:a="http://schemas.openxmlformats.org/drawingml/2006/main">
            <a:off x="83407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a:solidFill>
                  <a:srgbClr val="EEF6FF"/>
                </a:solidFill>
                <a:latin typeface="Arial"/>
                <a:ea typeface="Arial"/>
                <a:cs typeface="Arial"/>
              </a:defRPr>
            </a:pPr>
            <a:r>
              <a:rPr sz="1650" b="1">
                <a:solidFill>
                  <a:srgbClr val="EEF6FF"/>
                </a:solidFill>
                <a:latin typeface="Arial"/>
                <a:ea typeface="Arial"/>
                <a:cs typeface="Arial"/>
              </a:rPr>
              <a:t>Volume limité et seuils à mesurer</a:t>
            </a:r>
          </a:p>
        </p:txBody>
      </p:sp>
      <p:sp>
        <p:nvSpPr>
          <p:cNvPr id="14" name="">
            <a:extLst xmlns:a="http://schemas.openxmlformats.org/drawingml/2006/main">
              <a:ext uri="{FF2B5EF4-FFF2-40B4-BE49-F238E27FC236}">
                <a16:creationId xmlns:a16="http://schemas.microsoft.com/office/drawing/2014/main" id="{B27EB97D-E1B2-41AE-861E-248AB67904AF}"/>
              </a:ext>
            </a:extLst>
          </p:cNvPr>
          <p:cNvSpPr>
            <a:spLocks xmlns:a="http://schemas.openxmlformats.org/drawingml/2006/main" noGrp="1"/>
          </p:cNvSpPr>
          <p:nvPr/>
        </p:nvSpPr>
        <p:spPr>
          <a:xfrm xmlns:a="http://schemas.openxmlformats.org/drawingml/2006/main">
            <a:off x="4333875" y="59531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ctr">
              <a:buNone/>
              <a:defRPr sz="1800" b="1">
                <a:solidFill>
                  <a:srgbClr val="9CB1C5"/>
                </a:solidFill>
                <a:latin typeface="Arial"/>
                <a:ea typeface="Arial"/>
                <a:cs typeface="Arial"/>
              </a:defRPr>
            </a:pPr>
            <a:r>
              <a:rPr sz="1800" b="1">
                <a:solidFill>
                  <a:srgbClr val="9CB1C5"/>
                </a:solidFill>
                <a:latin typeface="Arial"/>
                <a:ea typeface="Arial"/>
                <a:cs typeface="Arial"/>
              </a:rPr>
              <a:t>Questions</a:t>
            </a:r>
          </a:p>
        </p:txBody>
      </p:sp>
    </p:spTree>
    <p:extLst>
      <p:ext uri="{BB962C8B-B14F-4D97-AF65-F5344CB8AC3E}">
        <p14:creationId xmlns:p14="http://schemas.microsoft.com/office/powerpoint/2010/main" val="15185467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2026-09-09T17:12:02.5190000Z</dcterms:created>
  <dcterms:modified xsi:type="dcterms:W3CDTF">2026-09-09T17:12:02.5190000Z</dcterms:modified>
</coreProperties>
</file>